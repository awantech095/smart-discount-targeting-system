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3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340"/>
                </a:solidFill>
                <a:latin typeface="Arial"/>
              </a:rPr>
              <a:t>Silhouette Score by 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E30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0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7E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A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0AE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C8D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4D6E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0DEE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8E6F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  <c:pt idx="7">
                    <c:v>k=9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0.373</c:v>
                </c:pt>
                <c:pt idx="1">
                  <c:v>0.35</c:v>
                </c:pt>
                <c:pt idx="2">
                  <c:v>0.31</c:v>
                </c:pt>
                <c:pt idx="3">
                  <c:v>0.24</c:v>
                </c:pt>
                <c:pt idx="4">
                  <c:v>0.218</c:v>
                </c:pt>
                <c:pt idx="5">
                  <c:v>0.205</c:v>
                </c:pt>
                <c:pt idx="6">
                  <c:v>0.195</c:v>
                </c:pt>
                <c:pt idx="7">
                  <c:v>0.188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18288" cy="5143500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949440" y="5486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560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UNIVERSITY OF COMPUTER AND EMERGING SCIENCES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74320" y="502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CS3005  ·  DATA MINING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74320" y="9601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Discount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274320" y="171907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System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274320" y="2697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Discount Sensitivity Analysis in E-Commerce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3218688"/>
            <a:ext cx="2560320" cy="274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34670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 Awan  ·  23L-2554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Emad Rafique  ·  23L-2604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 Chaudhry  ·  23L-2538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46520" y="169164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Dataset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6520" y="246888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~100,000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46520" y="312724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2724912" cy="585216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41248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targeted discounting matters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63824" y="841248"/>
            <a:ext cx="2724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841248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896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73552" y="1069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73552" y="123444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multi-table e-commerce 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80176" y="841248"/>
            <a:ext cx="2724912" cy="585216"/>
          </a:xfrm>
          <a:prstGeom prst="rect">
            <a:avLst/>
          </a:prstGeom>
          <a:solidFill>
            <a:srgbClr val="EFF5FB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0176" y="841248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896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9904" y="1069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89904" y="123444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merging &amp; integration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1517904"/>
            <a:ext cx="2724912" cy="585216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1517904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5727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1746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19110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customer behavioural features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63824" y="1517904"/>
            <a:ext cx="2724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3824" y="1517904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15727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73552" y="1746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73552" y="19110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&amp; cluster selection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0176" y="1517904"/>
            <a:ext cx="2724912" cy="585216"/>
          </a:xfrm>
          <a:prstGeom prst="rect">
            <a:avLst/>
          </a:prstGeom>
          <a:solidFill>
            <a:srgbClr val="EFF5FB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0176" y="1517904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15727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9904" y="1746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 &amp; Tiers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89904" y="19110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interpretation &amp; mapping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" y="2194560"/>
            <a:ext cx="2724912" cy="585216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2194560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494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2423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Visualisations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2587752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scatter plots &amp; distributions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163824" y="2194560"/>
            <a:ext cx="2724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63824" y="2194560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22494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73552" y="2423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73552" y="2587752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&amp; co-purchase analysis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80176" y="2194560"/>
            <a:ext cx="2724912" cy="585216"/>
          </a:xfrm>
          <a:prstGeom prst="rect">
            <a:avLst/>
          </a:prstGeom>
          <a:solidFill>
            <a:srgbClr val="EFF5FB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0176" y="2194560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9904" y="22494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9904" y="2423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Score Design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89904" y="2587752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behavioural composite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" y="2871216"/>
            <a:ext cx="2724912" cy="585216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" y="2871216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29260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099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Selection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326440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Decision Tree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163824" y="2871216"/>
            <a:ext cx="2724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63824" y="2871216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73552" y="29260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73552" y="3099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273552" y="326440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metrics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80176" y="2871216"/>
            <a:ext cx="2724912" cy="585216"/>
          </a:xfrm>
          <a:prstGeom prst="rect">
            <a:avLst/>
          </a:prstGeom>
          <a:solidFill>
            <a:srgbClr val="EFF5FB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80176" y="2871216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89904" y="29260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89904" y="3099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Business Insights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089904" y="326440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strategies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47472" y="3547872"/>
            <a:ext cx="2724912" cy="585216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" y="3547872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36027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57200" y="3776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57200" y="39410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insights from the analysis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163824" y="3547872"/>
            <a:ext cx="2724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63824" y="3547872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73552" y="36027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273552" y="3776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273552" y="39410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data constraints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980176" y="3547872"/>
            <a:ext cx="2724912" cy="585216"/>
          </a:xfrm>
          <a:prstGeom prst="rect">
            <a:avLst/>
          </a:prstGeom>
          <a:solidFill>
            <a:srgbClr val="EFF5FB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0176" y="3547872"/>
            <a:ext cx="45720" cy="58521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9904" y="36027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089904" y="3776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089904" y="39410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749808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82296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data mining techniques identify customer discount sensitivity and recommend suitable discount tiers based on purchasing behaviour?"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709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29968"/>
            <a:ext cx="45720" cy="4937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939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discounts applied to all customers erode profit margins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596896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96896"/>
            <a:ext cx="45720" cy="4937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6609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Price-insensitive customers buy regardless — no discount needed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63824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163824"/>
            <a:ext cx="45720" cy="4937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278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customers respond strongly — discounts convert them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45720" cy="4937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794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approach: one-size-fits-all. Better: data-driven targeting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17099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Dataset — 5 Tables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029968"/>
          <a:ext cx="4160520" cy="2212848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874520"/>
              </a:tblGrid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8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IDs &amp;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 &amp; timestamps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112,650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Product-level price &amp;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metadata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type &amp; transaction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Integration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8036" y="841248"/>
            <a:ext cx="1508760" cy="1261872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8036" y="841248"/>
            <a:ext cx="1508760" cy="45720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" y="914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" y="11612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" y="14813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 CSV files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schema &amp; nulls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96796" y="1453896"/>
            <a:ext cx="182880" cy="365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2828" y="841248"/>
            <a:ext cx="1508760" cy="1261872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2828" y="841248"/>
            <a:ext cx="1508760" cy="45720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2828" y="914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2828" y="11612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2828" y="14813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customer_id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product_id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1588" y="1453896"/>
            <a:ext cx="182880" cy="365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7620" y="841248"/>
            <a:ext cx="1508760" cy="1261872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17620" y="841248"/>
            <a:ext cx="1508760" cy="45720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17620" y="914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7620" y="11612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17620" y="14813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 only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timestamps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26380" y="1453896"/>
            <a:ext cx="182880" cy="365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82412" y="841248"/>
            <a:ext cx="1508760" cy="1261872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82412" y="841248"/>
            <a:ext cx="1508760" cy="45720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2412" y="914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82412" y="11612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82412" y="14813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nulls with medians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91172" y="1453896"/>
            <a:ext cx="182880" cy="365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7204" y="841248"/>
            <a:ext cx="1508760" cy="1261872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47204" y="841248"/>
            <a:ext cx="1508760" cy="45720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7204" y="914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47204" y="11612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47204" y="148132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downstream use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2267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Steps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0040" y="2596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only delivered orders for complete transaction records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all timestamp columns to datetime format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34381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product category names with placeholder 'unknown'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3858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remaining numerical nulls with column medians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rows and records missing payment data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2267712"/>
            <a:ext cx="1389888" cy="1207008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0" y="2359152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4754880" y="290779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cleaned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2267712"/>
            <a:ext cx="1389888" cy="1207008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09360" y="2359152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6309360" y="290779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merged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63840" y="2267712"/>
            <a:ext cx="1389888" cy="1207008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863840" y="2359152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7863840" y="290779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584448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584448"/>
            <a:ext cx="50292" cy="1572768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864608" y="39319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cleaned, merged dataset is aggregated into one row per customer — a single unified behavioural record ready for feature engineering and modelling.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" y="822960"/>
            <a:ext cx="166420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822960"/>
            <a:ext cx="1664208" cy="475488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8686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/ Frequency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" y="14173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904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 since last order)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" y="2103120"/>
            <a:ext cx="1481328" cy="566928"/>
          </a:xfrm>
          <a:prstGeom prst="rect">
            <a:avLst/>
          </a:prstGeom>
          <a:solidFill>
            <a:srgbClr val="F0F4F9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762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total_orders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4904" y="27889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620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orders_per_month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" y="3474720"/>
            <a:ext cx="1481328" cy="566928"/>
          </a:xfrm>
          <a:prstGeom prst="rect">
            <a:avLst/>
          </a:prstGeom>
          <a:solidFill>
            <a:srgbClr val="F0F4F9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478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avg_days_between_orders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0" y="822960"/>
            <a:ext cx="166420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0" y="822960"/>
            <a:ext cx="1664208" cy="475488"/>
          </a:xfrm>
          <a:prstGeom prst="rect">
            <a:avLst/>
          </a:prstGeom>
          <a:solidFill>
            <a:srgbClr val="2A8060"/>
          </a:solidFill>
          <a:ln w="12700">
            <a:solidFill>
              <a:srgbClr val="2A8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8686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Value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14173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14904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total_spent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03120" y="2103120"/>
            <a:ext cx="1481328" cy="566928"/>
          </a:xfrm>
          <a:prstGeom prst="rect">
            <a:avLst/>
          </a:prstGeom>
          <a:solidFill>
            <a:srgbClr val="F0F4F9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21762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avg_order_value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03120" y="27889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9696" y="28620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avg_item_price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03120" y="3474720"/>
            <a:ext cx="1481328" cy="566928"/>
          </a:xfrm>
          <a:prstGeom prst="rect">
            <a:avLst/>
          </a:prstGeom>
          <a:solidFill>
            <a:srgbClr val="F0F4F9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35478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max_order_value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39896" y="822960"/>
            <a:ext cx="166420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39896" y="822960"/>
            <a:ext cx="1664208" cy="475488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13048" y="8686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31336" y="14173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14904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cheap_order_ratio (bottom 25th %tile)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31336" y="2103120"/>
            <a:ext cx="1481328" cy="566928"/>
          </a:xfrm>
          <a:prstGeom prst="rect">
            <a:avLst/>
          </a:prstGeom>
          <a:solidFill>
            <a:srgbClr val="F0F4F9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7912" y="21762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high_installment_ratio (≥6 installments)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31336" y="27889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67912" y="28620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avg_installments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68112" y="822960"/>
            <a:ext cx="166420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822960"/>
            <a:ext cx="1664208" cy="475488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8686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Behaviour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59552" y="14173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14904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promo_month_order_ratio (Nov/Dec orders)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59552" y="2103120"/>
            <a:ext cx="1481328" cy="566928"/>
          </a:xfrm>
          <a:prstGeom prst="rect">
            <a:avLst/>
          </a:prstGeom>
          <a:solidFill>
            <a:srgbClr val="F0F4F9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21762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seasonal_purchase_flag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96328" y="822960"/>
            <a:ext cx="166420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196328" y="822960"/>
            <a:ext cx="1664208" cy="475488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8686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87768" y="14173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24344" y="14904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preferred_payment_type (one-hot)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87768" y="2103120"/>
            <a:ext cx="1481328" cy="566928"/>
          </a:xfrm>
          <a:prstGeom prst="rect">
            <a:avLst/>
          </a:prstGeom>
          <a:solidFill>
            <a:srgbClr val="F0F4F9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24344" y="21762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credit_card_ratio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87768" y="2788920"/>
            <a:ext cx="1481328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4344" y="28620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boleto_ratio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87768" y="3474720"/>
            <a:ext cx="1481328" cy="566928"/>
          </a:xfrm>
          <a:prstGeom prst="rect">
            <a:avLst/>
          </a:prstGeom>
          <a:solidFill>
            <a:srgbClr val="F0F4F9"/>
          </a:solidFill>
          <a:ln w="6350">
            <a:solidFill>
              <a:srgbClr val="C4D6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24344" y="3547872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voucher_ratio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4498848"/>
            <a:ext cx="8503920" cy="384048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4988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clustering  ·  MinMaxScaler for sensitivity scoring  ·  One-Hot Encoding for payment type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Selecting Optimal 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34340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96112"/>
            <a:ext cx="421538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877056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Elbow Method — Inertia vs. k  (inflection at k=3)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846320" y="841248"/>
          <a:ext cx="3977640" cy="3035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846320" y="387705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Silhouette scores — k=3 selected for business interpretability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0040" y="4160520"/>
            <a:ext cx="8503920" cy="713232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75488" y="416052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k=3?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(silhouette 0.373) is statistically optimal but yields only 2 tiers — insufficient for actionable discount strategy. k=3 (silhouette 0.350) provides three distinct, interpretable segments aligned to High / Medium / Low discount tiers. Scores decline sharply beyond k=3, confirming additional clusters add noise.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 &amp; Discount Tier Mapping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279806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41248"/>
            <a:ext cx="2798064" cy="960120"/>
          </a:xfrm>
          <a:prstGeom prst="rect">
            <a:avLst/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" y="1499616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74,308 customers  ·  79.5%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109728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385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avg order value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32888"/>
            <a:ext cx="109728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871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cheap_order_ratio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81528"/>
            <a:ext cx="109728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358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promo_month_order_ratio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109728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5844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installment 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78808"/>
            <a:ext cx="109728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1330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purchase cadence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841248"/>
            <a:ext cx="279806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841248"/>
            <a:ext cx="2798064" cy="960120"/>
          </a:xfrm>
          <a:prstGeom prst="rect">
            <a:avLst/>
          </a:prstGeom>
          <a:solidFill>
            <a:srgbClr val="FFF3DC"/>
          </a:solidFill>
          <a:ln w="12700">
            <a:solidFill>
              <a:srgbClr val="FFF3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9326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117043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Discount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310128" y="1499616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16,172 customers  ·  17.3%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109728" cy="109728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9385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spending levels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2532888"/>
            <a:ext cx="109728" cy="109728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4871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payment behaviour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3081528"/>
            <a:ext cx="109728" cy="109728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0358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promotional activity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630168"/>
            <a:ext cx="109728" cy="109728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5844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recency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10128" y="4178808"/>
            <a:ext cx="109728" cy="109728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41330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installment dependency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841248"/>
            <a:ext cx="279806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841248"/>
            <a:ext cx="2798064" cy="960120"/>
          </a:xfrm>
          <a:prstGeom prst="rect">
            <a:avLst/>
          </a:prstGeom>
          <a:solidFill>
            <a:srgbClr val="FCEAEA"/>
          </a:solidFill>
          <a:ln w="12700">
            <a:solidFill>
              <a:srgbClr val="FCEA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9326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54496" y="117043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Discount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254496" y="1499616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2,855 customers  ·  3.1%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54496" y="1984248"/>
            <a:ext cx="109728" cy="109728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19385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total_spent &amp; avg_order_value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54496" y="2532888"/>
            <a:ext cx="109728" cy="109728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24871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cheap_order_ratio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54496" y="3081528"/>
            <a:ext cx="109728" cy="109728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30358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promo dependency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54496" y="3630168"/>
            <a:ext cx="109728" cy="109728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35844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purchase activity (low recency)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4178808"/>
            <a:ext cx="109728" cy="109728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41330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buyer profile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Visualisations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41605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877824"/>
            <a:ext cx="4050792" cy="1975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95351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 Customer distribution across clusters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36008" y="822960"/>
            <a:ext cx="41605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877824"/>
            <a:ext cx="4050792" cy="19751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295351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 Spending behaviour by cluster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47472" y="3383280"/>
            <a:ext cx="41605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438144"/>
            <a:ext cx="4050792" cy="19751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" y="551383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5. Orders vs. Total Spending (scatter)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636008" y="3383280"/>
            <a:ext cx="41605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438144"/>
            <a:ext cx="4050792" cy="19751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36008" y="551383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 PCA — 2D cluster separation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— Apriori Algorithm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548640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 </a:t>
            </a:r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Order-category basket matrix (one row per order) · min_support = 0.01 · Product categories translated to English via Olist translation table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4572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517904"/>
            <a:ext cx="4443984" cy="2852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482803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7. Top 10 Product Categories by Order Volume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07492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74920" y="1828800"/>
            <a:ext cx="3749040" cy="685800"/>
          </a:xfrm>
          <a:prstGeom prst="rect">
            <a:avLst/>
          </a:prstGeom>
          <a:solidFill>
            <a:srgbClr val="FFF3DC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74920" y="1828800"/>
            <a:ext cx="50292" cy="685800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93792" y="190195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Baskets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93792" y="213969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&gt;98% of orders contain items from a single product category only, resulting in highly sparse basket data.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74920" y="2596896"/>
            <a:ext cx="3749040" cy="685800"/>
          </a:xfrm>
          <a:prstGeom prst="rect">
            <a:avLst/>
          </a:prstGeom>
          <a:solidFill>
            <a:srgbClr val="FCEAE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74920" y="2596896"/>
            <a:ext cx="50292" cy="68580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93792" y="26700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Multi-Category Rules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93792" y="290779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single-item frequent itemsets generated. No meaningful cross-category association rules emerged at any support level.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74920" y="3364992"/>
            <a:ext cx="3749040" cy="685800"/>
          </a:xfrm>
          <a:prstGeom prst="rect">
            <a:avLst/>
          </a:prstGeom>
          <a:solidFill>
            <a:srgbClr val="E3F5EC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74920" y="3364992"/>
            <a:ext cx="50292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93792" y="343814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93792" y="367588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bed_bath_table, health_beauty, and sports_leisure dominate all transaction volume across the dataset.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74920" y="4133088"/>
            <a:ext cx="3749040" cy="685800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74920" y="4133088"/>
            <a:ext cx="50292" cy="685800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93792" y="420624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93792" y="44439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bundling is not viable. Discount campaigns should target high-demand individual categories.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Behaviour-Based Sensitivity Score Design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658368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predicting cluster labels directly, a novel behaviour-based discount sensitivity score was engineered as a more meaningful, continuous target variable. This score is a weighted composite of five normalised behavioural indicators, then quantile-binned into Low / Medium / High Discount tiers for classification.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960120" cy="548640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020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9888" y="1673352"/>
            <a:ext cx="7360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Month Order Ratio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9888" y="1892808"/>
            <a:ext cx="7360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direct signal of price responsiveness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8503920" cy="548640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21992"/>
            <a:ext cx="868680" cy="548640"/>
          </a:xfrm>
          <a:prstGeom prst="rect">
            <a:avLst/>
          </a:prstGeom>
          <a:solidFill>
            <a:srgbClr val="3A8BBF"/>
          </a:solidFill>
          <a:ln w="12700">
            <a:solidFill>
              <a:srgbClr val="3A8B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21992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98448" y="2295144"/>
            <a:ext cx="745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Installment Ratio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251460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financial caution &amp; price sensitivity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43784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43784"/>
            <a:ext cx="868680" cy="548640"/>
          </a:xfrm>
          <a:prstGeom prst="rect">
            <a:avLst/>
          </a:prstGeom>
          <a:solidFill>
            <a:srgbClr val="4A9BBF"/>
          </a:solidFill>
          <a:ln w="12700">
            <a:solidFill>
              <a:srgbClr val="4A9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43784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98448" y="2916936"/>
            <a:ext cx="745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Installments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3136392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depth of payment deferral behaviour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465576"/>
            <a:ext cx="8503920" cy="548640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65576"/>
            <a:ext cx="868680" cy="548640"/>
          </a:xfrm>
          <a:prstGeom prst="rect">
            <a:avLst/>
          </a:prstGeom>
          <a:solidFill>
            <a:srgbClr val="5AAABF"/>
          </a:solidFill>
          <a:ln w="12700">
            <a:solidFill>
              <a:srgbClr val="5AAA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6557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98448" y="3538728"/>
            <a:ext cx="745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(inverted)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98448" y="3758184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customers more likely to need incentives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08736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087368"/>
            <a:ext cx="868680" cy="548640"/>
          </a:xfrm>
          <a:prstGeom prst="rect">
            <a:avLst/>
          </a:prstGeom>
          <a:solidFill>
            <a:srgbClr val="6ABCBF"/>
          </a:solidFill>
          <a:ln w="12700">
            <a:solidFill>
              <a:srgbClr val="6ABC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08736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98448" y="4160520"/>
            <a:ext cx="745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(inv.)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98448" y="4379976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AOV correlates with price-conscious behaviour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548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binned into 3 equal tiers using pd.qcut — producing a balanced Low / Medium / High Discount class distribution for classification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Model Training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2245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261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weighted composite score for each customer from 5 normalised 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4224528" cy="640080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57400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57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1993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Labelling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pd.qcut discretizes score into 3 equal-size tiers: Low / Medium / High Discount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42245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88920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27249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on all features; feature_importances_ ranks predictors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383280"/>
            <a:ext cx="4224528" cy="640080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20440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520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3456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Selected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important features selected to reduce noise and improve interpretability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42245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251960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4187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trained with max_depth=5 on an 80/20 stratified train-test split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822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170432"/>
            <a:ext cx="40690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225296"/>
            <a:ext cx="3922776" cy="239572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4754880" y="400507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 Top features — recency &amp; installment behaviour dominate model importance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54880" y="4315968"/>
            <a:ext cx="4069080" cy="804672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0" y="4315968"/>
            <a:ext cx="50292" cy="80467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64608" y="4370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864608" y="45902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Decision Tree Classifier  ·  max_depth = 5  ·  Split: 80% train / 20% test  ·  Stratified by tier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448056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41148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42569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 Confusion matrix — Decision Tree Classifier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0" y="8229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Tier Distribution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1152144"/>
            <a:ext cx="3794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07008"/>
            <a:ext cx="3611880" cy="1417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29260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0" y="3291840"/>
            <a:ext cx="3794760" cy="493776"/>
          </a:xfrm>
          <a:prstGeom prst="rect">
            <a:avLst/>
          </a:prstGeom>
          <a:solidFill>
            <a:srgbClr val="FCEAE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0" y="3291840"/>
            <a:ext cx="50292" cy="493776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38928" y="33467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Discount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138928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precision, near-zero misclassification rate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29200" y="3858768"/>
            <a:ext cx="3794760" cy="493776"/>
          </a:xfrm>
          <a:prstGeom prst="rect">
            <a:avLst/>
          </a:prstGeom>
          <a:solidFill>
            <a:srgbClr val="E3F5EC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0" y="3858768"/>
            <a:ext cx="50292" cy="49377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38928" y="3913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138928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accuracy; minor overlap with Medium tier only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029200" y="4425696"/>
            <a:ext cx="3794760" cy="493776"/>
          </a:xfrm>
          <a:prstGeom prst="rect">
            <a:avLst/>
          </a:prstGeom>
          <a:solidFill>
            <a:srgbClr val="FFF3DC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29200" y="4425696"/>
            <a:ext cx="50292" cy="493776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38928" y="4480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Discount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138928" y="4681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boundary confusion with adjacent tiers (continuous sensitivity)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Business Insights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98064" cy="1170432"/>
          </a:xfrm>
          <a:prstGeom prst="rect">
            <a:avLst/>
          </a:prstGeom>
          <a:solidFill>
            <a:srgbClr val="E3F5EC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68680"/>
            <a:ext cx="2798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682496"/>
            <a:ext cx="2798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customer base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5264" y="822960"/>
            <a:ext cx="2798064" cy="1170432"/>
          </a:xfrm>
          <a:prstGeom prst="rect">
            <a:avLst/>
          </a:prstGeom>
          <a:solidFill>
            <a:srgbClr val="FFF3DC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55264" y="868680"/>
            <a:ext cx="2798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8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55264" y="1463040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Discount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55264" y="1682496"/>
            <a:ext cx="2798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buyers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822960"/>
            <a:ext cx="2798064" cy="1170432"/>
          </a:xfrm>
          <a:prstGeom prst="rect">
            <a:avLst/>
          </a:prstGeom>
          <a:solidFill>
            <a:srgbClr val="FCEAEA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868680"/>
            <a:ext cx="2798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236208" y="1463040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Discount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1682496"/>
            <a:ext cx="2798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premium buyers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44622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57984"/>
            <a:ext cx="4315968" cy="24231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74320" y="4919472"/>
            <a:ext cx="4462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 Cluster Feature Comparison — avg feature values per segment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919472" y="210312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Discount Strategy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19472" y="2450592"/>
          <a:ext cx="3913632" cy="2450592"/>
        </p:xfrm>
        <a:graphic>
          <a:graphicData uri="http://schemas.openxmlformats.org/drawingml/2006/table">
            <a:tbl>
              <a:tblPr/>
              <a:tblGrid>
                <a:gridCol w="1298448"/>
                <a:gridCol w="2615184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82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(79.5%)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promotions, loyalty rewards during Nov/Dec peaks, re-engagement campaigns for lapsed buyers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(17.3%)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moderate discounts, targeted email campaigns to nudge purchase 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0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0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(3.1%)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margins — offer premium perks, early product access, exclusive memberships instead of blanket discounts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1D2E"/>
          </a:solidFill>
          <a:ln w="12700">
            <a:solidFill>
              <a:srgbClr val="15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Limitations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261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Price-Sensitive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481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 of customers show high discount sensitivity — targeted discounting essential to avoid margin loss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4206240" cy="658368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75688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75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011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is #1 Predictor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2311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 is the single strongest predictor of discount sensitivity above all other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8833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25496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25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 = Sensitivity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29809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installment usage is a reliable proxy for financial price sensitivity — second only to recency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38144"/>
            <a:ext cx="4206240" cy="658368"/>
          </a:xfrm>
          <a:prstGeom prst="rect">
            <a:avLst/>
          </a:prstGeom>
          <a:solidFill>
            <a:srgbClr val="EBF2FA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75304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575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511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Signal Confirmed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7307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Nov/Dec purchase concentration confirms seasonal discount behaviour as a meaningful segmentation signal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18795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325112"/>
            <a:ext cx="347472" cy="347472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325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4261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Cross-Category Bundling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480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 single-category baskets — association mining confirms bundling is not viable for this dataset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822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754880" y="118872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188720"/>
            <a:ext cx="50292" cy="777240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1280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Labels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64608" y="1536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tiers derived from behavioural proxies — no actual coupon redemption or click-through data used for ground truth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084832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084832"/>
            <a:ext cx="50292" cy="77724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176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Geography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64608" y="24323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data covers Brazil 2016-2018 only, limiting generalisability to other markets or more recent periods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980944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980944"/>
            <a:ext cx="50292" cy="777240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072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Sparsity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64608" y="3328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Single-category basket structure prevents extraction of meaningful cross-category association rules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877056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877056"/>
            <a:ext cx="50292" cy="777240"/>
          </a:xfrm>
          <a:prstGeom prst="rect">
            <a:avLst/>
          </a:prstGeom>
          <a:solidFill>
            <a:srgbClr val="2B4A82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9684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64608" y="4224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 High Discount dominance may affect model generalization; cost-sensitive learning not yet explored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377440" cy="36576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8613648" cy="868680"/>
          </a:xfrm>
          <a:prstGeom prst="rect">
            <a:avLst/>
          </a:prstGeom>
          <a:solidFill>
            <a:srgbClr val="1E3054"/>
          </a:solidFill>
          <a:ln w="12700">
            <a:solidFill>
              <a:srgbClr val="1E30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68680"/>
            <a:ext cx="8394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data mining pipeline was built — from raw relational Olist e-commerce data to a deployable Smart Discount Targeting System. K-Means clustering, behaviour-based scoring, Apriori association mining, and a Decision Tree classifier work in combination to enable precision-targeted promotional strategies. The system directs offers to genuinely price-sensitive customers while protecting margins for loyal, high-value buyers.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" y="2212848"/>
            <a:ext cx="1920240" cy="566928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2677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25054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9424" y="2212848"/>
            <a:ext cx="1920240" cy="566928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22677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49424" y="25054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42816" y="2212848"/>
            <a:ext cx="1920240" cy="566928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2816" y="22677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Mining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42816" y="25054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 Apriori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852928"/>
            <a:ext cx="1920240" cy="566928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9077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" y="31455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49424" y="2852928"/>
            <a:ext cx="1920240" cy="566928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9424" y="29077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9424" y="31455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42816" y="2852928"/>
            <a:ext cx="1920240" cy="566928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29077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42816" y="31455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(Kaggle)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53328" y="18745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53328" y="2212848"/>
            <a:ext cx="2798064" cy="530352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2212848"/>
            <a:ext cx="50292" cy="53035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30428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with real coupon/click-through data for ground-truth model training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53328" y="2834640"/>
            <a:ext cx="2798064" cy="530352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53328" y="2834640"/>
            <a:ext cx="50292" cy="53035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2608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data ingestion pipeline for real-time discount recommendations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53328" y="3456432"/>
            <a:ext cx="2798064" cy="530352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53328" y="3456432"/>
            <a:ext cx="50292" cy="53035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5478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embeddings via deep learning to capture latent behaviour patterns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53328" y="4078224"/>
            <a:ext cx="2798064" cy="530352"/>
          </a:xfrm>
          <a:prstGeom prst="rect">
            <a:avLst/>
          </a:prstGeom>
          <a:solidFill>
            <a:srgbClr val="1E3054"/>
          </a:solidFill>
          <a:ln w="12700">
            <a:solidFill>
              <a:srgbClr val="2B4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53328" y="4078224"/>
            <a:ext cx="50292" cy="530352"/>
          </a:xfrm>
          <a:prstGeom prst="rect">
            <a:avLst/>
          </a:prstGeom>
          <a:solidFill>
            <a:srgbClr val="3D7EBF"/>
          </a:solidFill>
          <a:ln w="12700">
            <a:solidFill>
              <a:srgbClr val="3D7E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416966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 of how sensitivity evolves across customer lifecycle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" y="4864608"/>
            <a:ext cx="8613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NUCES  ·  CS3005 Data Mining  ·  Rabbi Awan · Emad Rafique · Usaid Chaudhry  · 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Discount Targeting System</dc:title>
  <dc:subject>PptxGenJS Presentation</dc:subject>
  <dc:creator>PptxGenJS</dc:creator>
  <cp:lastModifiedBy>PptxGenJS</cp:lastModifiedBy>
  <cp:revision>1</cp:revision>
  <dcterms:created xsi:type="dcterms:W3CDTF">2026-05-02T12:10:00Z</dcterms:created>
  <dcterms:modified xsi:type="dcterms:W3CDTF">2026-05-02T12:10:00Z</dcterms:modified>
</cp:coreProperties>
</file>