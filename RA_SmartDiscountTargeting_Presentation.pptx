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rts/chart1.xml" ContentType="application/vnd.openxmlformats-officedocument.drawingml.chart+xml"/>
  <Override PartName="/ppt/notesSlides/notesSlide10.xml" ContentType="application/vnd.openxmlformats-officedocument.presentationml.notesSlide+xml"/>
  <Override PartName="/ppt/charts/chart2.xml" ContentType="application/vnd.openxmlformats-officedocument.drawingml.chart+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rts/chart3.xml" ContentType="application/vnd.openxmlformats-officedocument.drawingml.chart+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rts/chart4.xml" ContentType="application/vnd.openxmlformats-officedocument.drawingml.chart+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4" d="100"/>
          <a:sy n="84" d="100"/>
        </p:scale>
        <p:origin x="780"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800" b="0" i="0" u="none" strike="noStrike">
                <a:solidFill>
                  <a:srgbClr val="000000"/>
                </a:solidFill>
                <a:latin typeface="Arial"/>
              </a:defRPr>
            </a:pPr>
            <a:r>
              <a:rPr lang="en-US" sz="1800" b="0" i="0" u="none" strike="noStrike">
                <a:solidFill>
                  <a:srgbClr val="000000"/>
                </a:solidFill>
                <a:latin typeface="Arial"/>
              </a:rPr>
              <a:t>Silhouette Scores vs. k</a:t>
            </a:r>
          </a:p>
        </c:rich>
      </c:tx>
      <c:overlay val="0"/>
    </c:title>
    <c:autoTitleDeleted val="0"/>
    <c:plotArea>
      <c:layout/>
      <c:barChart>
        <c:barDir val="col"/>
        <c:grouping val="clustered"/>
        <c:varyColors val="0"/>
        <c:ser>
          <c:idx val="0"/>
          <c:order val="0"/>
          <c:tx>
            <c:strRef>
              <c:f>Sheet1!$B$1</c:f>
              <c:strCache>
                <c:ptCount val="1"/>
                <c:pt idx="0">
                  <c:v>Silhouette Score</c:v>
                </c:pt>
              </c:strCache>
            </c:strRef>
          </c:tx>
          <c:spPr>
            <a:solidFill>
              <a:srgbClr val="1E2761"/>
            </a:solidFill>
            <a:effectLst/>
          </c:spPr>
          <c:invertIfNegative val="0"/>
          <c:dPt>
            <c:idx val="0"/>
            <c:invertIfNegative val="0"/>
            <c:bubble3D val="0"/>
            <c:spPr>
              <a:solidFill>
                <a:srgbClr val="1E2761"/>
              </a:solidFill>
              <a:effectLst/>
            </c:spPr>
            <c:extLst>
              <c:ext xmlns:c16="http://schemas.microsoft.com/office/drawing/2014/chart" uri="{C3380CC4-5D6E-409C-BE32-E72D297353CC}">
                <c16:uniqueId val="{00000001-B55D-4C86-A5CB-A958B25A5B8D}"/>
              </c:ext>
            </c:extLst>
          </c:dPt>
          <c:dPt>
            <c:idx val="1"/>
            <c:invertIfNegative val="0"/>
            <c:bubble3D val="0"/>
            <c:spPr>
              <a:solidFill>
                <a:srgbClr val="028090"/>
              </a:solidFill>
              <a:effectLst/>
            </c:spPr>
            <c:extLst>
              <c:ext xmlns:c16="http://schemas.microsoft.com/office/drawing/2014/chart" uri="{C3380CC4-5D6E-409C-BE32-E72D297353CC}">
                <c16:uniqueId val="{00000003-B55D-4C86-A5CB-A958B25A5B8D}"/>
              </c:ext>
            </c:extLst>
          </c:dPt>
          <c:dPt>
            <c:idx val="2"/>
            <c:invertIfNegative val="0"/>
            <c:bubble3D val="0"/>
            <c:spPr>
              <a:solidFill>
                <a:srgbClr val="028090"/>
              </a:solidFill>
              <a:effectLst/>
            </c:spPr>
            <c:extLst>
              <c:ext xmlns:c16="http://schemas.microsoft.com/office/drawing/2014/chart" uri="{C3380CC4-5D6E-409C-BE32-E72D297353CC}">
                <c16:uniqueId val="{00000005-B55D-4C86-A5CB-A958B25A5B8D}"/>
              </c:ext>
            </c:extLst>
          </c:dPt>
          <c:dPt>
            <c:idx val="3"/>
            <c:invertIfNegative val="0"/>
            <c:bubble3D val="0"/>
            <c:spPr>
              <a:solidFill>
                <a:srgbClr val="64748B"/>
              </a:solidFill>
              <a:effectLst/>
            </c:spPr>
            <c:extLst>
              <c:ext xmlns:c16="http://schemas.microsoft.com/office/drawing/2014/chart" uri="{C3380CC4-5D6E-409C-BE32-E72D297353CC}">
                <c16:uniqueId val="{00000007-B55D-4C86-A5CB-A958B25A5B8D}"/>
              </c:ext>
            </c:extLst>
          </c:dPt>
          <c:dPt>
            <c:idx val="4"/>
            <c:invertIfNegative val="0"/>
            <c:bubble3D val="0"/>
            <c:spPr>
              <a:solidFill>
                <a:srgbClr val="64748B"/>
              </a:solidFill>
              <a:effectLst/>
            </c:spPr>
            <c:extLst>
              <c:ext xmlns:c16="http://schemas.microsoft.com/office/drawing/2014/chart" uri="{C3380CC4-5D6E-409C-BE32-E72D297353CC}">
                <c16:uniqueId val="{00000009-B55D-4C86-A5CB-A958B25A5B8D}"/>
              </c:ext>
            </c:extLst>
          </c:dPt>
          <c:dPt>
            <c:idx val="5"/>
            <c:invertIfNegative val="0"/>
            <c:bubble3D val="0"/>
            <c:spPr>
              <a:solidFill>
                <a:srgbClr val="64748B"/>
              </a:solidFill>
              <a:effectLst/>
            </c:spPr>
            <c:extLst>
              <c:ext xmlns:c16="http://schemas.microsoft.com/office/drawing/2014/chart" uri="{C3380CC4-5D6E-409C-BE32-E72D297353CC}">
                <c16:uniqueId val="{0000000B-B55D-4C86-A5CB-A958B25A5B8D}"/>
              </c:ext>
            </c:extLst>
          </c:dPt>
          <c:dLbls>
            <c:numFmt formatCode="#,##0" sourceLinked="0"/>
            <c:spPr>
              <a:noFill/>
              <a:ln>
                <a:noFill/>
              </a:ln>
              <a:effectLst/>
            </c:spPr>
            <c:txPr>
              <a:bodyPr/>
              <a:lstStyle/>
              <a:p>
                <a:pPr>
                  <a:defRPr sz="1200" b="0" i="0" u="none" strike="noStrike">
                    <a:solidFill>
                      <a:srgbClr val="1E293B"/>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k=2</c:v>
                </c:pt>
                <c:pt idx="1">
                  <c:v>k=3</c:v>
                </c:pt>
                <c:pt idx="2">
                  <c:v>k=4</c:v>
                </c:pt>
                <c:pt idx="3">
                  <c:v>k=5</c:v>
                </c:pt>
                <c:pt idx="4">
                  <c:v>k=6</c:v>
                </c:pt>
                <c:pt idx="5">
                  <c:v>k=7</c:v>
                </c:pt>
              </c:strCache>
            </c:strRef>
          </c:cat>
          <c:val>
            <c:numRef>
              <c:f>Sheet1!$B$2:$B$7</c:f>
              <c:numCache>
                <c:formatCode>General</c:formatCode>
                <c:ptCount val="6"/>
                <c:pt idx="0">
                  <c:v>0.373</c:v>
                </c:pt>
                <c:pt idx="1">
                  <c:v>0.35</c:v>
                </c:pt>
                <c:pt idx="2">
                  <c:v>0.31</c:v>
                </c:pt>
                <c:pt idx="3">
                  <c:v>0.24</c:v>
                </c:pt>
                <c:pt idx="4">
                  <c:v>0.22</c:v>
                </c:pt>
                <c:pt idx="5">
                  <c:v>0.21</c:v>
                </c:pt>
              </c:numCache>
            </c:numRef>
          </c:val>
          <c:extLst>
            <c:ext xmlns:c16="http://schemas.microsoft.com/office/drawing/2014/chart" uri="{C3380CC4-5D6E-409C-BE32-E72D297353CC}">
              <c16:uniqueId val="{0000000C-B55D-4C86-A5CB-A958B25A5B8D}"/>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2"/>
        <c:crosses val="autoZero"/>
        <c:auto val="1"/>
        <c:lblAlgn val="ctr"/>
        <c:lblOffset val="100"/>
        <c:noMultiLvlLbl val="1"/>
      </c:catAx>
      <c:valAx>
        <c:axId val="2094734552"/>
        <c:scaling>
          <c:orientation val="minMax"/>
          <c:max val="0.45"/>
          <c:min val="0"/>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pieChart>
        <c:varyColors val="1"/>
        <c:ser>
          <c:idx val="0"/>
          <c:order val="0"/>
          <c:tx>
            <c:strRef>
              <c:f>Sheet1!$B$1</c:f>
              <c:strCache>
                <c:ptCount val="1"/>
                <c:pt idx="0">
                  <c:v>Distribution</c:v>
                </c:pt>
              </c:strCache>
            </c:strRef>
          </c:tx>
          <c:spPr>
            <a:solidFill>
              <a:schemeClr val="accent1"/>
            </a:solidFill>
            <a:ln w="9525" cap="flat">
              <a:solidFill>
                <a:srgbClr val="F9F9F9"/>
              </a:solidFill>
              <a:prstDash val="solid"/>
              <a:round/>
            </a:ln>
            <a:effectLst/>
          </c:spPr>
          <c:dPt>
            <c:idx val="0"/>
            <c:bubble3D val="0"/>
            <c:spPr>
              <a:solidFill>
                <a:srgbClr val="028090"/>
              </a:solidFill>
              <a:effectLst/>
            </c:spPr>
            <c:extLst>
              <c:ext xmlns:c16="http://schemas.microsoft.com/office/drawing/2014/chart" uri="{C3380CC4-5D6E-409C-BE32-E72D297353CC}">
                <c16:uniqueId val="{00000001-6F50-4997-B637-C61BF5995B33}"/>
              </c:ext>
            </c:extLst>
          </c:dPt>
          <c:dPt>
            <c:idx val="1"/>
            <c:bubble3D val="0"/>
            <c:spPr>
              <a:solidFill>
                <a:srgbClr val="1E2761"/>
              </a:solidFill>
              <a:effectLst/>
            </c:spPr>
            <c:extLst>
              <c:ext xmlns:c16="http://schemas.microsoft.com/office/drawing/2014/chart" uri="{C3380CC4-5D6E-409C-BE32-E72D297353CC}">
                <c16:uniqueId val="{00000003-6F50-4997-B637-C61BF5995B33}"/>
              </c:ext>
            </c:extLst>
          </c:dPt>
          <c:dPt>
            <c:idx val="2"/>
            <c:bubble3D val="0"/>
            <c:spPr>
              <a:solidFill>
                <a:srgbClr val="02C39A"/>
              </a:solidFill>
              <a:effectLst/>
            </c:spPr>
            <c:extLst>
              <c:ext xmlns:c16="http://schemas.microsoft.com/office/drawing/2014/chart" uri="{C3380CC4-5D6E-409C-BE32-E72D297353CC}">
                <c16:uniqueId val="{00000005-6F50-4997-B637-C61BF5995B33}"/>
              </c:ext>
            </c:extLst>
          </c:dPt>
          <c:dLbls>
            <c:dLbl>
              <c:idx val="0"/>
              <c:numFmt formatCode="0%" sourceLinked="0"/>
              <c:spPr/>
              <c:txPr>
                <a:bodyPr/>
                <a:lstStyle/>
                <a:p>
                  <a:pPr>
                    <a:defRPr sz="1300" b="0" i="0" u="none" strike="noStrike">
                      <a:solidFill>
                        <a:srgbClr val="FFFFFF"/>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1-6F50-4997-B637-C61BF5995B33}"/>
                </c:ext>
              </c:extLst>
            </c:dLbl>
            <c:dLbl>
              <c:idx val="1"/>
              <c:numFmt formatCode="0%" sourceLinked="0"/>
              <c:spPr/>
              <c:txPr>
                <a:bodyPr/>
                <a:lstStyle/>
                <a:p>
                  <a:pPr>
                    <a:defRPr sz="1300" b="0" i="0" u="none" strike="noStrike">
                      <a:solidFill>
                        <a:srgbClr val="FFFFFF"/>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3-6F50-4997-B637-C61BF5995B33}"/>
                </c:ext>
              </c:extLst>
            </c:dLbl>
            <c:dLbl>
              <c:idx val="2"/>
              <c:layout>
                <c:manualLayout>
                  <c:x val="1.3054103925739163E-2"/>
                  <c:y val="3.1658496732026135E-2"/>
                </c:manualLayout>
              </c:layout>
              <c:numFmt formatCode="0%" sourceLinked="0"/>
              <c:spPr/>
              <c:txPr>
                <a:bodyPr/>
                <a:lstStyle/>
                <a:p>
                  <a:pPr>
                    <a:defRPr sz="1300" b="0" i="0" u="none" strike="noStrike">
                      <a:solidFill>
                        <a:srgbClr val="FFFFFF"/>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15:layout>
                    <c:manualLayout>
                      <c:w val="7.661717821944887E-2"/>
                      <c:h val="8.5580065359477112E-2"/>
                    </c:manualLayout>
                  </c15:layout>
                </c:ext>
                <c:ext xmlns:c16="http://schemas.microsoft.com/office/drawing/2014/chart" uri="{C3380CC4-5D6E-409C-BE32-E72D297353CC}">
                  <c16:uniqueId val="{00000005-6F50-4997-B637-C61BF5995B33}"/>
                </c:ext>
              </c:extLst>
            </c:dLbl>
            <c:numFmt formatCode="0%" sourceLinked="0"/>
            <c:spPr>
              <a:noFill/>
              <a:ln>
                <a:noFill/>
              </a:ln>
              <a:effectLst/>
            </c:spPr>
            <c:txPr>
              <a:bodyPr/>
              <a:lstStyle/>
              <a:p>
                <a:pPr>
                  <a:defRPr sz="1800" b="0" i="0" u="none" strike="noStrike">
                    <a:solidFill>
                      <a:srgbClr val="000000"/>
                    </a:solidFill>
                    <a:latin typeface="Arial"/>
                  </a:defRPr>
                </a:pPr>
                <a:endParaRPr lang="en-US"/>
              </a:p>
            </c:txPr>
            <c:dLblPos val="ctr"/>
            <c:showLegendKey val="0"/>
            <c:showVal val="0"/>
            <c:showCatName val="1"/>
            <c:showSerName val="0"/>
            <c:showPercent val="1"/>
            <c:showBubbleSize val="0"/>
            <c:showLeaderLines val="0"/>
            <c:extLst>
              <c:ext xmlns:c15="http://schemas.microsoft.com/office/drawing/2012/chart" uri="{CE6537A1-D6FC-4f65-9D91-7224C49458BB}"/>
            </c:extLst>
          </c:dLbls>
          <c:cat>
            <c:strRef>
              <c:f>Sheet1!$A$2:$A$4</c:f>
              <c:strCache>
                <c:ptCount val="3"/>
                <c:pt idx="0">
                  <c:v>High Discount (Cluster 1)</c:v>
                </c:pt>
                <c:pt idx="1">
                  <c:v>Medium Discount (Cluster 0)</c:v>
                </c:pt>
                <c:pt idx="2">
                  <c:v>Low Discount (Cluster 2)</c:v>
                </c:pt>
              </c:strCache>
            </c:strRef>
          </c:cat>
          <c:val>
            <c:numRef>
              <c:f>Sheet1!$B$2:$B$4</c:f>
              <c:numCache>
                <c:formatCode>General</c:formatCode>
                <c:ptCount val="3"/>
                <c:pt idx="0">
                  <c:v>74308</c:v>
                </c:pt>
                <c:pt idx="1">
                  <c:v>16172</c:v>
                </c:pt>
                <c:pt idx="2">
                  <c:v>2855</c:v>
                </c:pt>
              </c:numCache>
            </c:numRef>
          </c:val>
          <c:extLst>
            <c:ext xmlns:c16="http://schemas.microsoft.com/office/drawing/2014/chart" uri="{C3380CC4-5D6E-409C-BE32-E72D297353CC}">
              <c16:uniqueId val="{00000006-6F50-4997-B637-C61BF5995B33}"/>
            </c:ext>
          </c:extLst>
        </c:ser>
        <c:dLbls>
          <c:showLegendKey val="0"/>
          <c:showVal val="0"/>
          <c:showCatName val="0"/>
          <c:showSerName val="0"/>
          <c:showPercent val="0"/>
          <c:showBubbleSize val="0"/>
          <c:showLeaderLines val="0"/>
        </c:dLbls>
        <c:firstSliceAng val="0"/>
      </c:pieChart>
      <c:spPr>
        <a:noFill/>
        <a:ln>
          <a:noFill/>
        </a:ln>
        <a:effectLst/>
      </c:spPr>
    </c:plotArea>
    <c:legend>
      <c:legendPos val="b"/>
      <c:overlay val="0"/>
    </c:legend>
    <c:plotVisOnly val="1"/>
    <c:dispBlanksAs val="span"/>
    <c:showDLblsOverMax val="1"/>
  </c:chart>
  <c:spPr>
    <a:solidFill>
      <a:srgbClr val="FFFFFF"/>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a:pPr>
            <a:r>
              <a:rPr lang="en-US"/>
              <a:t>Top 10 Product Categories by Volume</a:t>
            </a:r>
          </a:p>
        </c:rich>
      </c:tx>
      <c:overlay val="0"/>
    </c:title>
    <c:autoTitleDeleted val="0"/>
    <c:plotArea>
      <c:layout/>
      <c:barChart>
        <c:barDir val="bar"/>
        <c:grouping val="clustered"/>
        <c:varyColors val="0"/>
        <c:ser>
          <c:idx val="0"/>
          <c:order val="0"/>
          <c:tx>
            <c:strRef>
              <c:f>Sheet1!$B$1</c:f>
              <c:strCache>
                <c:ptCount val="1"/>
                <c:pt idx="0">
                  <c:v>Order Count</c:v>
                </c:pt>
              </c:strCache>
            </c:strRef>
          </c:tx>
          <c:spPr>
            <a:solidFill>
              <a:srgbClr val="028090"/>
            </a:solidFill>
            <a:effectLst/>
          </c:spPr>
          <c:invertIfNegative val="0"/>
          <c:cat>
            <c:strRef>
              <c:f>Sheet1!$A$2:$A$11</c:f>
              <c:strCache>
                <c:ptCount val="10"/>
                <c:pt idx="0">
                  <c:v>bed_bath_table</c:v>
                </c:pt>
                <c:pt idx="1">
                  <c:v>health_beauty</c:v>
                </c:pt>
                <c:pt idx="2">
                  <c:v>sports_leisure</c:v>
                </c:pt>
                <c:pt idx="3">
                  <c:v>furniture_decor</c:v>
                </c:pt>
                <c:pt idx="4">
                  <c:v>computers_accessories</c:v>
                </c:pt>
                <c:pt idx="5">
                  <c:v>housewares</c:v>
                </c:pt>
                <c:pt idx="6">
                  <c:v>watches_gifts</c:v>
                </c:pt>
                <c:pt idx="7">
                  <c:v>telephony</c:v>
                </c:pt>
                <c:pt idx="8">
                  <c:v>garden_tools</c:v>
                </c:pt>
                <c:pt idx="9">
                  <c:v>toys</c:v>
                </c:pt>
              </c:strCache>
            </c:strRef>
          </c:cat>
          <c:val>
            <c:numRef>
              <c:f>Sheet1!$B$2:$B$11</c:f>
              <c:numCache>
                <c:formatCode>General</c:formatCode>
                <c:ptCount val="10"/>
                <c:pt idx="0">
                  <c:v>11115</c:v>
                </c:pt>
                <c:pt idx="1">
                  <c:v>9672</c:v>
                </c:pt>
                <c:pt idx="2">
                  <c:v>8641</c:v>
                </c:pt>
                <c:pt idx="3">
                  <c:v>8334</c:v>
                </c:pt>
                <c:pt idx="4">
                  <c:v>7827</c:v>
                </c:pt>
                <c:pt idx="5">
                  <c:v>6964</c:v>
                </c:pt>
                <c:pt idx="6">
                  <c:v>5991</c:v>
                </c:pt>
                <c:pt idx="7">
                  <c:v>4545</c:v>
                </c:pt>
                <c:pt idx="8">
                  <c:v>4347</c:v>
                </c:pt>
                <c:pt idx="9">
                  <c:v>3974</c:v>
                </c:pt>
              </c:numCache>
            </c:numRef>
          </c:val>
          <c:extLst>
            <c:ext xmlns:c16="http://schemas.microsoft.com/office/drawing/2014/chart" uri="{C3380CC4-5D6E-409C-BE32-E72D297353CC}">
              <c16:uniqueId val="{00000000-11D9-4D64-AABE-766ACB11687A}"/>
            </c:ext>
          </c:extLst>
        </c:ser>
        <c:dLbls>
          <c:showLegendKey val="0"/>
          <c:showVal val="0"/>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a:solidFill>
                  <a:schemeClr val="tx1"/>
                </a:solidFill>
              </a:defRPr>
            </a:pPr>
            <a:endParaRPr lang="en-US"/>
          </a:p>
        </c:txPr>
        <c:crossAx val="2094734552"/>
        <c:crosses val="autoZero"/>
        <c:auto val="1"/>
        <c:lblAlgn val="ctr"/>
        <c:lblOffset val="100"/>
        <c:noMultiLvlLbl val="1"/>
      </c:catAx>
      <c:valAx>
        <c:axId val="2094734552"/>
        <c:scaling>
          <c:orientation val="minMax"/>
        </c:scaling>
        <c:delete val="0"/>
        <c:axPos val="b"/>
        <c:majorGridlines>
          <c:spPr>
            <a:ln w="6350" cap="flat">
              <a:solidFill>
                <a:srgbClr val="E2E8F0"/>
              </a:solidFill>
              <a:prstDash val="solid"/>
              <a:round/>
            </a:ln>
          </c:spPr>
        </c:majorGridlines>
        <c:numFmt formatCode="General" sourceLinked="0"/>
        <c:majorTickMark val="out"/>
        <c:minorTickMark val="none"/>
        <c:tickLblPos val="low"/>
        <c:spPr>
          <a:ln w="12700" cap="flat">
            <a:solidFill>
              <a:srgbClr val="888888"/>
            </a:solidFill>
            <a:prstDash val="solid"/>
            <a:round/>
          </a:ln>
        </c:sp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txPr>
    <a:bodyPr/>
    <a:lstStyle/>
    <a:p>
      <a:pPr>
        <a:defRPr>
          <a:solidFill>
            <a:schemeClr val="tx1">
              <a:alpha val="96000"/>
            </a:schemeClr>
          </a:solidFill>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Importance</c:v>
                </c:pt>
              </c:strCache>
            </c:strRef>
          </c:tx>
          <c:spPr>
            <a:solidFill>
              <a:srgbClr val="028090"/>
            </a:solidFill>
            <a:effectLst/>
          </c:spPr>
          <c:invertIfNegative val="0"/>
          <c:dPt>
            <c:idx val="0"/>
            <c:invertIfNegative val="0"/>
            <c:bubble3D val="0"/>
            <c:spPr>
              <a:solidFill>
                <a:srgbClr val="028090"/>
              </a:solidFill>
              <a:effectLst/>
            </c:spPr>
            <c:extLst>
              <c:ext xmlns:c16="http://schemas.microsoft.com/office/drawing/2014/chart" uri="{C3380CC4-5D6E-409C-BE32-E72D297353CC}">
                <c16:uniqueId val="{00000001-BBB7-4670-9C29-74A4AFED5217}"/>
              </c:ext>
            </c:extLst>
          </c:dPt>
          <c:dPt>
            <c:idx val="1"/>
            <c:invertIfNegative val="0"/>
            <c:bubble3D val="0"/>
            <c:spPr>
              <a:solidFill>
                <a:srgbClr val="1E2761"/>
              </a:solidFill>
              <a:effectLst/>
            </c:spPr>
            <c:extLst>
              <c:ext xmlns:c16="http://schemas.microsoft.com/office/drawing/2014/chart" uri="{C3380CC4-5D6E-409C-BE32-E72D297353CC}">
                <c16:uniqueId val="{00000003-BBB7-4670-9C29-74A4AFED5217}"/>
              </c:ext>
            </c:extLst>
          </c:dPt>
          <c:dPt>
            <c:idx val="2"/>
            <c:invertIfNegative val="0"/>
            <c:bubble3D val="0"/>
            <c:spPr>
              <a:solidFill>
                <a:srgbClr val="1E2761"/>
              </a:solidFill>
              <a:effectLst/>
            </c:spPr>
            <c:extLst>
              <c:ext xmlns:c16="http://schemas.microsoft.com/office/drawing/2014/chart" uri="{C3380CC4-5D6E-409C-BE32-E72D297353CC}">
                <c16:uniqueId val="{00000005-BBB7-4670-9C29-74A4AFED5217}"/>
              </c:ext>
            </c:extLst>
          </c:dPt>
          <c:dPt>
            <c:idx val="3"/>
            <c:invertIfNegative val="0"/>
            <c:bubble3D val="0"/>
            <c:spPr>
              <a:solidFill>
                <a:srgbClr val="64748B"/>
              </a:solidFill>
              <a:effectLst/>
            </c:spPr>
            <c:extLst>
              <c:ext xmlns:c16="http://schemas.microsoft.com/office/drawing/2014/chart" uri="{C3380CC4-5D6E-409C-BE32-E72D297353CC}">
                <c16:uniqueId val="{00000007-BBB7-4670-9C29-74A4AFED5217}"/>
              </c:ext>
            </c:extLst>
          </c:dPt>
          <c:dPt>
            <c:idx val="4"/>
            <c:invertIfNegative val="0"/>
            <c:bubble3D val="0"/>
            <c:spPr>
              <a:solidFill>
                <a:srgbClr val="64748B"/>
              </a:solidFill>
              <a:effectLst/>
            </c:spPr>
            <c:extLst>
              <c:ext xmlns:c16="http://schemas.microsoft.com/office/drawing/2014/chart" uri="{C3380CC4-5D6E-409C-BE32-E72D297353CC}">
                <c16:uniqueId val="{00000009-BBB7-4670-9C29-74A4AFED5217}"/>
              </c:ext>
            </c:extLst>
          </c:dPt>
          <c:dLbls>
            <c:numFmt formatCode="#,##0" sourceLinked="0"/>
            <c:spPr>
              <a:noFill/>
              <a:ln>
                <a:noFill/>
              </a:ln>
              <a:effectLst/>
            </c:spPr>
            <c:txPr>
              <a:bodyPr/>
              <a:lstStyle/>
              <a:p>
                <a:pPr>
                  <a:defRPr sz="1200" b="0" i="0" u="none" strike="noStrike">
                    <a:solidFill>
                      <a:srgbClr val="334155"/>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Recency</c:v>
                </c:pt>
                <c:pt idx="1">
                  <c:v>High Installment Ratio</c:v>
                </c:pt>
                <c:pt idx="2">
                  <c:v>Promo Month Ratio</c:v>
                </c:pt>
                <c:pt idx="3">
                  <c:v>Avg Installments</c:v>
                </c:pt>
                <c:pt idx="4">
                  <c:v>Avg Order Value</c:v>
                </c:pt>
              </c:strCache>
            </c:strRef>
          </c:cat>
          <c:val>
            <c:numRef>
              <c:f>Sheet1!$B$2:$B$6</c:f>
              <c:numCache>
                <c:formatCode>General</c:formatCode>
                <c:ptCount val="5"/>
                <c:pt idx="0">
                  <c:v>0.42</c:v>
                </c:pt>
                <c:pt idx="1">
                  <c:v>0.28000000000000003</c:v>
                </c:pt>
                <c:pt idx="2">
                  <c:v>0.16</c:v>
                </c:pt>
                <c:pt idx="3">
                  <c:v>0.09</c:v>
                </c:pt>
                <c:pt idx="4">
                  <c:v>0.05</c:v>
                </c:pt>
              </c:numCache>
            </c:numRef>
          </c:val>
          <c:extLst>
            <c:ext xmlns:c16="http://schemas.microsoft.com/office/drawing/2014/chart" uri="{C3380CC4-5D6E-409C-BE32-E72D297353CC}">
              <c16:uniqueId val="{0000000A-BBB7-4670-9C29-74A4AFED5217}"/>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334155"/>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b"/>
        <c:majorGridlines>
          <c:spPr>
            <a:ln w="6350" cap="flat">
              <a:solidFill>
                <a:srgbClr val="E2E8F0"/>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800125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2C39A"/>
          </a:solidFill>
          <a:ln w="12700">
            <a:solidFill>
              <a:srgbClr val="02C39A"/>
            </a:solidFill>
            <a:prstDash val="solid"/>
          </a:ln>
        </p:spPr>
        <p:txBody>
          <a:bodyPr/>
          <a:lstStyle/>
          <a:p>
            <a:endParaRPr lang="en-US"/>
          </a:p>
        </p:txBody>
      </p:sp>
      <p:sp>
        <p:nvSpPr>
          <p:cNvPr id="3" name="Shape 1"/>
          <p:cNvSpPr/>
          <p:nvPr/>
        </p:nvSpPr>
        <p:spPr>
          <a:xfrm>
            <a:off x="0" y="73152"/>
            <a:ext cx="502920" cy="5070348"/>
          </a:xfrm>
          <a:prstGeom prst="rect">
            <a:avLst/>
          </a:prstGeom>
          <a:solidFill>
            <a:srgbClr val="028090"/>
          </a:solidFill>
          <a:ln w="12700">
            <a:solidFill>
              <a:srgbClr val="028090"/>
            </a:solidFill>
            <a:prstDash val="solid"/>
          </a:ln>
        </p:spPr>
        <p:txBody>
          <a:bodyPr/>
          <a:lstStyle/>
          <a:p>
            <a:endParaRPr lang="en-US"/>
          </a:p>
        </p:txBody>
      </p:sp>
      <p:sp>
        <p:nvSpPr>
          <p:cNvPr id="4" name="Text 2"/>
          <p:cNvSpPr/>
          <p:nvPr/>
        </p:nvSpPr>
        <p:spPr>
          <a:xfrm>
            <a:off x="685800" y="274320"/>
            <a:ext cx="8046720" cy="320040"/>
          </a:xfrm>
          <a:prstGeom prst="rect">
            <a:avLst/>
          </a:prstGeom>
          <a:noFill/>
          <a:ln/>
        </p:spPr>
        <p:txBody>
          <a:bodyPr wrap="square" rtlCol="0" anchor="ctr"/>
          <a:lstStyle/>
          <a:p>
            <a:pPr marL="0" indent="0" algn="l">
              <a:buNone/>
            </a:pPr>
            <a:r>
              <a:rPr lang="en-US" sz="1000" b="1" kern="0" spc="200" dirty="0">
                <a:solidFill>
                  <a:srgbClr val="CADCFC"/>
                </a:solidFill>
              </a:rPr>
              <a:t>NATIONAL UNIVERSITY OF COMPUTER AND EMERGING SCIENCES</a:t>
            </a:r>
            <a:endParaRPr lang="en-US" sz="1000" dirty="0"/>
          </a:p>
        </p:txBody>
      </p:sp>
      <p:sp>
        <p:nvSpPr>
          <p:cNvPr id="5" name="Shape 3"/>
          <p:cNvSpPr/>
          <p:nvPr/>
        </p:nvSpPr>
        <p:spPr>
          <a:xfrm>
            <a:off x="685800" y="685800"/>
            <a:ext cx="1463040" cy="384048"/>
          </a:xfrm>
          <a:prstGeom prst="roundRect">
            <a:avLst>
              <a:gd name="adj" fmla="val 14286"/>
            </a:avLst>
          </a:prstGeom>
          <a:solidFill>
            <a:srgbClr val="02C39A"/>
          </a:solidFill>
          <a:ln w="12700">
            <a:solidFill>
              <a:srgbClr val="02C39A"/>
            </a:solidFill>
            <a:prstDash val="solid"/>
          </a:ln>
        </p:spPr>
        <p:txBody>
          <a:bodyPr/>
          <a:lstStyle/>
          <a:p>
            <a:endParaRPr lang="en-US"/>
          </a:p>
        </p:txBody>
      </p:sp>
      <p:sp>
        <p:nvSpPr>
          <p:cNvPr id="6" name="Text 4"/>
          <p:cNvSpPr/>
          <p:nvPr/>
        </p:nvSpPr>
        <p:spPr>
          <a:xfrm>
            <a:off x="685800" y="685800"/>
            <a:ext cx="1463040" cy="384048"/>
          </a:xfrm>
          <a:prstGeom prst="rect">
            <a:avLst/>
          </a:prstGeom>
          <a:noFill/>
          <a:ln/>
        </p:spPr>
        <p:txBody>
          <a:bodyPr wrap="square" lIns="0" tIns="0" rIns="0" bIns="0" rtlCol="0" anchor="ctr"/>
          <a:lstStyle/>
          <a:p>
            <a:pPr marL="0" indent="0" algn="ctr">
              <a:buNone/>
            </a:pPr>
            <a:r>
              <a:rPr lang="en-US" sz="1000" b="1" dirty="0">
                <a:solidFill>
                  <a:srgbClr val="1E2761"/>
                </a:solidFill>
              </a:rPr>
              <a:t>CS3005 — Data Mining</a:t>
            </a:r>
            <a:endParaRPr lang="en-US" sz="1000" dirty="0"/>
          </a:p>
        </p:txBody>
      </p:sp>
      <p:sp>
        <p:nvSpPr>
          <p:cNvPr id="7" name="Text 5"/>
          <p:cNvSpPr/>
          <p:nvPr/>
        </p:nvSpPr>
        <p:spPr>
          <a:xfrm>
            <a:off x="685800" y="1188720"/>
            <a:ext cx="8229600" cy="868680"/>
          </a:xfrm>
          <a:prstGeom prst="rect">
            <a:avLst/>
          </a:prstGeom>
          <a:noFill/>
          <a:ln/>
        </p:spPr>
        <p:txBody>
          <a:bodyPr wrap="square" rtlCol="0" anchor="ctr"/>
          <a:lstStyle/>
          <a:p>
            <a:pPr marL="0" indent="0" algn="l">
              <a:buNone/>
            </a:pPr>
            <a:r>
              <a:rPr lang="en-US" sz="5400" b="1" dirty="0">
                <a:solidFill>
                  <a:srgbClr val="FFFFFF"/>
                </a:solidFill>
              </a:rPr>
              <a:t>Smart Discount</a:t>
            </a:r>
            <a:endParaRPr lang="en-US" sz="5400" dirty="0"/>
          </a:p>
        </p:txBody>
      </p:sp>
      <p:sp>
        <p:nvSpPr>
          <p:cNvPr id="8" name="Text 6"/>
          <p:cNvSpPr/>
          <p:nvPr/>
        </p:nvSpPr>
        <p:spPr>
          <a:xfrm>
            <a:off x="685800" y="1920240"/>
            <a:ext cx="8229600" cy="868680"/>
          </a:xfrm>
          <a:prstGeom prst="rect">
            <a:avLst/>
          </a:prstGeom>
          <a:noFill/>
          <a:ln/>
        </p:spPr>
        <p:txBody>
          <a:bodyPr wrap="square" rtlCol="0" anchor="ctr"/>
          <a:lstStyle/>
          <a:p>
            <a:pPr marL="0" indent="0" algn="l">
              <a:buNone/>
            </a:pPr>
            <a:r>
              <a:rPr lang="en-US" sz="5400" b="1" dirty="0">
                <a:solidFill>
                  <a:srgbClr val="02C39A"/>
                </a:solidFill>
              </a:rPr>
              <a:t>Targeting System</a:t>
            </a:r>
            <a:endParaRPr lang="en-US" sz="5400" dirty="0"/>
          </a:p>
        </p:txBody>
      </p:sp>
      <p:sp>
        <p:nvSpPr>
          <p:cNvPr id="9" name="Text 7"/>
          <p:cNvSpPr/>
          <p:nvPr/>
        </p:nvSpPr>
        <p:spPr>
          <a:xfrm>
            <a:off x="685800" y="2834640"/>
            <a:ext cx="6858000" cy="502920"/>
          </a:xfrm>
          <a:prstGeom prst="rect">
            <a:avLst/>
          </a:prstGeom>
          <a:noFill/>
          <a:ln/>
        </p:spPr>
        <p:txBody>
          <a:bodyPr wrap="square" rtlCol="0" anchor="ctr"/>
          <a:lstStyle/>
          <a:p>
            <a:pPr marL="0" indent="0" algn="l">
              <a:buNone/>
            </a:pPr>
            <a:r>
              <a:rPr lang="en-US" sz="1400" i="1" dirty="0">
                <a:solidFill>
                  <a:srgbClr val="CADCFC"/>
                </a:solidFill>
              </a:rPr>
              <a:t>A Data Mining Project for Customer Discount Sensitivity Analysis in E-Commerce</a:t>
            </a:r>
            <a:endParaRPr lang="en-US" sz="1400" dirty="0"/>
          </a:p>
        </p:txBody>
      </p:sp>
      <p:sp>
        <p:nvSpPr>
          <p:cNvPr id="10" name="Shape 8"/>
          <p:cNvSpPr/>
          <p:nvPr/>
        </p:nvSpPr>
        <p:spPr>
          <a:xfrm>
            <a:off x="685800" y="3401568"/>
            <a:ext cx="5943600" cy="36576"/>
          </a:xfrm>
          <a:prstGeom prst="rect">
            <a:avLst/>
          </a:prstGeom>
          <a:solidFill>
            <a:srgbClr val="028090"/>
          </a:solidFill>
          <a:ln w="12700">
            <a:solidFill>
              <a:srgbClr val="028090"/>
            </a:solidFill>
            <a:prstDash val="solid"/>
          </a:ln>
        </p:spPr>
        <p:txBody>
          <a:bodyPr/>
          <a:lstStyle/>
          <a:p>
            <a:endParaRPr lang="en-US"/>
          </a:p>
        </p:txBody>
      </p:sp>
      <p:sp>
        <p:nvSpPr>
          <p:cNvPr id="11" name="Text 9"/>
          <p:cNvSpPr/>
          <p:nvPr/>
        </p:nvSpPr>
        <p:spPr>
          <a:xfrm>
            <a:off x="685800" y="3520440"/>
            <a:ext cx="8229600" cy="411480"/>
          </a:xfrm>
          <a:prstGeom prst="rect">
            <a:avLst/>
          </a:prstGeom>
          <a:noFill/>
          <a:ln/>
        </p:spPr>
        <p:txBody>
          <a:bodyPr wrap="square" rtlCol="0" anchor="ctr"/>
          <a:lstStyle/>
          <a:p>
            <a:pPr marL="0" indent="0" algn="l">
              <a:buNone/>
            </a:pPr>
            <a:r>
              <a:rPr lang="en-US" sz="1300" b="1" dirty="0">
                <a:solidFill>
                  <a:srgbClr val="FFFFFF"/>
                </a:solidFill>
              </a:rPr>
              <a:t>Rabbi Awan</a:t>
            </a:r>
            <a:r>
              <a:rPr lang="en-US" sz="1300" dirty="0">
                <a:solidFill>
                  <a:srgbClr val="CADCFC"/>
                </a:solidFill>
              </a:rPr>
              <a:t>  23L-2554     </a:t>
            </a:r>
            <a:r>
              <a:rPr lang="en-US" sz="1300" b="1" dirty="0">
                <a:solidFill>
                  <a:srgbClr val="FFFFFF"/>
                </a:solidFill>
              </a:rPr>
              <a:t>Emad Rafique</a:t>
            </a:r>
            <a:r>
              <a:rPr lang="en-US" sz="1300" dirty="0">
                <a:solidFill>
                  <a:srgbClr val="CADCFC"/>
                </a:solidFill>
              </a:rPr>
              <a:t>  23L-2604     </a:t>
            </a:r>
            <a:r>
              <a:rPr lang="en-US" sz="1300" b="1" dirty="0">
                <a:solidFill>
                  <a:srgbClr val="FFFFFF"/>
                </a:solidFill>
              </a:rPr>
              <a:t>Usaid Chaudhry</a:t>
            </a:r>
            <a:r>
              <a:rPr lang="en-US" sz="1300" dirty="0">
                <a:solidFill>
                  <a:srgbClr val="CADCFC"/>
                </a:solidFill>
              </a:rPr>
              <a:t>  23L-2538</a:t>
            </a:r>
            <a:endParaRPr lang="en-US" sz="1300" dirty="0"/>
          </a:p>
        </p:txBody>
      </p:sp>
      <p:sp>
        <p:nvSpPr>
          <p:cNvPr id="12" name="Text 10"/>
          <p:cNvSpPr/>
          <p:nvPr/>
        </p:nvSpPr>
        <p:spPr>
          <a:xfrm>
            <a:off x="685800" y="4114800"/>
            <a:ext cx="2743200" cy="274320"/>
          </a:xfrm>
          <a:prstGeom prst="rect">
            <a:avLst/>
          </a:prstGeom>
          <a:noFill/>
          <a:ln/>
        </p:spPr>
        <p:txBody>
          <a:bodyPr wrap="square" rtlCol="0" anchor="ctr"/>
          <a:lstStyle/>
          <a:p>
            <a:pPr marL="0" indent="0" algn="l">
              <a:buNone/>
            </a:pPr>
            <a:r>
              <a:rPr lang="en-US" sz="1200" dirty="0">
                <a:solidFill>
                  <a:srgbClr val="64748B"/>
                </a:solidFill>
              </a:rPr>
              <a:t>April 2026</a:t>
            </a:r>
            <a:endParaRPr lang="en-US" sz="1200" dirty="0"/>
          </a:p>
        </p:txBody>
      </p:sp>
      <p:sp>
        <p:nvSpPr>
          <p:cNvPr id="13" name="Shape 11"/>
          <p:cNvSpPr/>
          <p:nvPr/>
        </p:nvSpPr>
        <p:spPr>
          <a:xfrm>
            <a:off x="0" y="4869180"/>
            <a:ext cx="9144000" cy="274320"/>
          </a:xfrm>
          <a:prstGeom prst="rect">
            <a:avLst/>
          </a:prstGeom>
          <a:solidFill>
            <a:srgbClr val="243380"/>
          </a:solidFill>
          <a:ln w="12700">
            <a:solidFill>
              <a:srgbClr val="243380"/>
            </a:solidFill>
            <a:prstDash val="solid"/>
          </a:ln>
        </p:spPr>
        <p:txBody>
          <a:bodyPr/>
          <a:lstStyle/>
          <a:p>
            <a:endParaRPr lang="en-US"/>
          </a:p>
        </p:txBody>
      </p:sp>
      <p:sp>
        <p:nvSpPr>
          <p:cNvPr id="14" name="Text 12"/>
          <p:cNvSpPr/>
          <p:nvPr/>
        </p:nvSpPr>
        <p:spPr>
          <a:xfrm>
            <a:off x="0" y="4869180"/>
            <a:ext cx="9144000" cy="274320"/>
          </a:xfrm>
          <a:prstGeom prst="rect">
            <a:avLst/>
          </a:prstGeom>
          <a:noFill/>
          <a:ln/>
        </p:spPr>
        <p:txBody>
          <a:bodyPr wrap="square" lIns="0" tIns="0" rIns="0" bIns="0" rtlCol="0" anchor="ctr"/>
          <a:lstStyle/>
          <a:p>
            <a:pPr marL="0" indent="0" algn="ctr">
              <a:buNone/>
            </a:pPr>
            <a:r>
              <a:rPr lang="en-US" sz="900" dirty="0">
                <a:solidFill>
                  <a:srgbClr val="CADCFC"/>
                </a:solidFill>
              </a:rPr>
              <a:t>Confidential — NUCES Data Mining Project  •  April 2026</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28090"/>
          </a:solidFill>
          <a:ln w="12700">
            <a:solidFill>
              <a:srgbClr val="028090"/>
            </a:solidFill>
            <a:prstDash val="solid"/>
          </a:ln>
        </p:spPr>
        <p:txBody>
          <a:bodyPr/>
          <a:lstStyle/>
          <a:p>
            <a:endParaRPr lang="en-US"/>
          </a:p>
        </p:txBody>
      </p:sp>
      <p:sp>
        <p:nvSpPr>
          <p:cNvPr id="3" name="Text 1"/>
          <p:cNvSpPr/>
          <p:nvPr/>
        </p:nvSpPr>
        <p:spPr>
          <a:xfrm>
            <a:off x="457200" y="228600"/>
            <a:ext cx="8229600" cy="594360"/>
          </a:xfrm>
          <a:prstGeom prst="rect">
            <a:avLst/>
          </a:prstGeom>
          <a:noFill/>
          <a:ln/>
        </p:spPr>
        <p:txBody>
          <a:bodyPr wrap="square" rtlCol="0" anchor="ctr"/>
          <a:lstStyle/>
          <a:p>
            <a:pPr marL="0" indent="0" algn="l">
              <a:buNone/>
            </a:pPr>
            <a:r>
              <a:rPr lang="en-US" sz="3200" b="1" dirty="0">
                <a:solidFill>
                  <a:srgbClr val="1E2761"/>
                </a:solidFill>
              </a:rPr>
              <a:t>Table of Contents</a:t>
            </a:r>
            <a:endParaRPr lang="en-US" sz="3200" dirty="0"/>
          </a:p>
        </p:txBody>
      </p:sp>
      <p:sp>
        <p:nvSpPr>
          <p:cNvPr id="4" name="Shape 2"/>
          <p:cNvSpPr/>
          <p:nvPr/>
        </p:nvSpPr>
        <p:spPr>
          <a:xfrm>
            <a:off x="457200" y="1005840"/>
            <a:ext cx="502920" cy="347472"/>
          </a:xfrm>
          <a:prstGeom prst="rect">
            <a:avLst/>
          </a:prstGeom>
          <a:solidFill>
            <a:srgbClr val="028090"/>
          </a:solidFill>
          <a:ln w="12700">
            <a:solidFill>
              <a:srgbClr val="028090"/>
            </a:solidFill>
            <a:prstDash val="solid"/>
          </a:ln>
          <a:effectLst>
            <a:outerShdw blurRad="101600" dist="38100" dir="8100000" algn="bl" rotWithShape="0">
              <a:srgbClr val="1E2761">
                <a:alpha val="15000"/>
              </a:srgbClr>
            </a:outerShdw>
          </a:effectLst>
        </p:spPr>
        <p:txBody>
          <a:bodyPr/>
          <a:lstStyle/>
          <a:p>
            <a:endParaRPr lang="en-US"/>
          </a:p>
        </p:txBody>
      </p:sp>
      <p:sp>
        <p:nvSpPr>
          <p:cNvPr id="5" name="Text 3"/>
          <p:cNvSpPr/>
          <p:nvPr/>
        </p:nvSpPr>
        <p:spPr>
          <a:xfrm>
            <a:off x="457200" y="1005840"/>
            <a:ext cx="502920" cy="347472"/>
          </a:xfrm>
          <a:prstGeom prst="rect">
            <a:avLst/>
          </a:prstGeom>
          <a:noFill/>
          <a:ln/>
        </p:spPr>
        <p:txBody>
          <a:bodyPr wrap="square" lIns="0" tIns="0" rIns="0" bIns="0" rtlCol="0" anchor="ctr"/>
          <a:lstStyle/>
          <a:p>
            <a:pPr marL="0" indent="0" algn="ctr">
              <a:buNone/>
            </a:pPr>
            <a:r>
              <a:rPr lang="en-US" sz="1300" b="1" dirty="0">
                <a:solidFill>
                  <a:srgbClr val="FFFFFF"/>
                </a:solidFill>
              </a:rPr>
              <a:t>01</a:t>
            </a:r>
            <a:endParaRPr lang="en-US" sz="1300" dirty="0"/>
          </a:p>
        </p:txBody>
      </p:sp>
      <p:sp>
        <p:nvSpPr>
          <p:cNvPr id="6" name="Text 4"/>
          <p:cNvSpPr/>
          <p:nvPr/>
        </p:nvSpPr>
        <p:spPr>
          <a:xfrm>
            <a:off x="1051560" y="1024128"/>
            <a:ext cx="3383280" cy="310896"/>
          </a:xfrm>
          <a:prstGeom prst="rect">
            <a:avLst/>
          </a:prstGeom>
          <a:noFill/>
          <a:ln/>
        </p:spPr>
        <p:txBody>
          <a:bodyPr wrap="square" lIns="0" tIns="0" rIns="0" bIns="0" rtlCol="0" anchor="ctr"/>
          <a:lstStyle/>
          <a:p>
            <a:pPr marL="0" indent="0" algn="l">
              <a:buNone/>
            </a:pPr>
            <a:r>
              <a:rPr lang="en-US" sz="1300" dirty="0">
                <a:solidFill>
                  <a:srgbClr val="334155"/>
                </a:solidFill>
              </a:rPr>
              <a:t>Introduction &amp; Project Overview</a:t>
            </a:r>
            <a:endParaRPr lang="en-US" sz="1300" dirty="0"/>
          </a:p>
        </p:txBody>
      </p:sp>
      <p:sp>
        <p:nvSpPr>
          <p:cNvPr id="7" name="Shape 5"/>
          <p:cNvSpPr/>
          <p:nvPr/>
        </p:nvSpPr>
        <p:spPr>
          <a:xfrm>
            <a:off x="457200" y="1490472"/>
            <a:ext cx="502920" cy="347472"/>
          </a:xfrm>
          <a:prstGeom prst="rect">
            <a:avLst/>
          </a:prstGeom>
          <a:solidFill>
            <a:srgbClr val="028090"/>
          </a:solidFill>
          <a:ln w="12700">
            <a:solidFill>
              <a:srgbClr val="028090"/>
            </a:solidFill>
            <a:prstDash val="solid"/>
          </a:ln>
          <a:effectLst>
            <a:outerShdw blurRad="101600" dist="38100" dir="8100000" algn="bl" rotWithShape="0">
              <a:srgbClr val="1E2761">
                <a:alpha val="15000"/>
              </a:srgbClr>
            </a:outerShdw>
          </a:effectLst>
        </p:spPr>
        <p:txBody>
          <a:bodyPr/>
          <a:lstStyle/>
          <a:p>
            <a:endParaRPr lang="en-US"/>
          </a:p>
        </p:txBody>
      </p:sp>
      <p:sp>
        <p:nvSpPr>
          <p:cNvPr id="8" name="Text 6"/>
          <p:cNvSpPr/>
          <p:nvPr/>
        </p:nvSpPr>
        <p:spPr>
          <a:xfrm>
            <a:off x="457200" y="1490472"/>
            <a:ext cx="502920" cy="347472"/>
          </a:xfrm>
          <a:prstGeom prst="rect">
            <a:avLst/>
          </a:prstGeom>
          <a:noFill/>
          <a:ln/>
        </p:spPr>
        <p:txBody>
          <a:bodyPr wrap="square" lIns="0" tIns="0" rIns="0" bIns="0" rtlCol="0" anchor="ctr"/>
          <a:lstStyle/>
          <a:p>
            <a:pPr marL="0" indent="0" algn="ctr">
              <a:buNone/>
            </a:pPr>
            <a:r>
              <a:rPr lang="en-US" sz="1300" b="1" dirty="0">
                <a:solidFill>
                  <a:srgbClr val="FFFFFF"/>
                </a:solidFill>
              </a:rPr>
              <a:t>02</a:t>
            </a:r>
            <a:endParaRPr lang="en-US" sz="1300" dirty="0"/>
          </a:p>
        </p:txBody>
      </p:sp>
      <p:sp>
        <p:nvSpPr>
          <p:cNvPr id="9" name="Text 7"/>
          <p:cNvSpPr/>
          <p:nvPr/>
        </p:nvSpPr>
        <p:spPr>
          <a:xfrm>
            <a:off x="1051560" y="1508760"/>
            <a:ext cx="3383280" cy="310896"/>
          </a:xfrm>
          <a:prstGeom prst="rect">
            <a:avLst/>
          </a:prstGeom>
          <a:noFill/>
          <a:ln/>
        </p:spPr>
        <p:txBody>
          <a:bodyPr wrap="square" lIns="0" tIns="0" rIns="0" bIns="0" rtlCol="0" anchor="ctr"/>
          <a:lstStyle/>
          <a:p>
            <a:pPr marL="0" indent="0" algn="l">
              <a:buNone/>
            </a:pPr>
            <a:r>
              <a:rPr lang="en-US" sz="1300" dirty="0">
                <a:solidFill>
                  <a:srgbClr val="334155"/>
                </a:solidFill>
              </a:rPr>
              <a:t>Dataset — Olist E-Commerce</a:t>
            </a:r>
            <a:endParaRPr lang="en-US" sz="1300" dirty="0"/>
          </a:p>
        </p:txBody>
      </p:sp>
      <p:sp>
        <p:nvSpPr>
          <p:cNvPr id="10" name="Shape 8"/>
          <p:cNvSpPr/>
          <p:nvPr/>
        </p:nvSpPr>
        <p:spPr>
          <a:xfrm>
            <a:off x="457200" y="1975104"/>
            <a:ext cx="502920" cy="347472"/>
          </a:xfrm>
          <a:prstGeom prst="rect">
            <a:avLst/>
          </a:prstGeom>
          <a:solidFill>
            <a:srgbClr val="028090"/>
          </a:solidFill>
          <a:ln w="12700">
            <a:solidFill>
              <a:srgbClr val="028090"/>
            </a:solidFill>
            <a:prstDash val="solid"/>
          </a:ln>
          <a:effectLst>
            <a:outerShdw blurRad="101600" dist="38100" dir="8100000" algn="bl" rotWithShape="0">
              <a:srgbClr val="1E2761">
                <a:alpha val="15000"/>
              </a:srgbClr>
            </a:outerShdw>
          </a:effectLst>
        </p:spPr>
        <p:txBody>
          <a:bodyPr/>
          <a:lstStyle/>
          <a:p>
            <a:endParaRPr lang="en-US"/>
          </a:p>
        </p:txBody>
      </p:sp>
      <p:sp>
        <p:nvSpPr>
          <p:cNvPr id="11" name="Text 9"/>
          <p:cNvSpPr/>
          <p:nvPr/>
        </p:nvSpPr>
        <p:spPr>
          <a:xfrm>
            <a:off x="457200" y="1975104"/>
            <a:ext cx="502920" cy="347472"/>
          </a:xfrm>
          <a:prstGeom prst="rect">
            <a:avLst/>
          </a:prstGeom>
          <a:noFill/>
          <a:ln/>
        </p:spPr>
        <p:txBody>
          <a:bodyPr wrap="square" lIns="0" tIns="0" rIns="0" bIns="0" rtlCol="0" anchor="ctr"/>
          <a:lstStyle/>
          <a:p>
            <a:pPr marL="0" indent="0" algn="ctr">
              <a:buNone/>
            </a:pPr>
            <a:r>
              <a:rPr lang="en-US" sz="1300" b="1" dirty="0">
                <a:solidFill>
                  <a:srgbClr val="FFFFFF"/>
                </a:solidFill>
              </a:rPr>
              <a:t>03</a:t>
            </a:r>
            <a:endParaRPr lang="en-US" sz="1300" dirty="0"/>
          </a:p>
        </p:txBody>
      </p:sp>
      <p:sp>
        <p:nvSpPr>
          <p:cNvPr id="12" name="Text 10"/>
          <p:cNvSpPr/>
          <p:nvPr/>
        </p:nvSpPr>
        <p:spPr>
          <a:xfrm>
            <a:off x="1051560" y="1993392"/>
            <a:ext cx="3383280" cy="310896"/>
          </a:xfrm>
          <a:prstGeom prst="rect">
            <a:avLst/>
          </a:prstGeom>
          <a:noFill/>
          <a:ln/>
        </p:spPr>
        <p:txBody>
          <a:bodyPr wrap="square" lIns="0" tIns="0" rIns="0" bIns="0" rtlCol="0" anchor="ctr"/>
          <a:lstStyle/>
          <a:p>
            <a:pPr marL="0" indent="0" algn="l">
              <a:buNone/>
            </a:pPr>
            <a:r>
              <a:rPr lang="en-US" sz="1300" dirty="0">
                <a:solidFill>
                  <a:srgbClr val="334155"/>
                </a:solidFill>
              </a:rPr>
              <a:t>Data Mining Pipeline &amp; Methodology</a:t>
            </a:r>
            <a:endParaRPr lang="en-US" sz="1300" dirty="0"/>
          </a:p>
        </p:txBody>
      </p:sp>
      <p:sp>
        <p:nvSpPr>
          <p:cNvPr id="13" name="Shape 11"/>
          <p:cNvSpPr/>
          <p:nvPr/>
        </p:nvSpPr>
        <p:spPr>
          <a:xfrm>
            <a:off x="457200" y="2459736"/>
            <a:ext cx="502920" cy="347472"/>
          </a:xfrm>
          <a:prstGeom prst="rect">
            <a:avLst/>
          </a:prstGeom>
          <a:solidFill>
            <a:srgbClr val="028090"/>
          </a:solidFill>
          <a:ln w="12700">
            <a:solidFill>
              <a:srgbClr val="028090"/>
            </a:solidFill>
            <a:prstDash val="solid"/>
          </a:ln>
          <a:effectLst>
            <a:outerShdw blurRad="101600" dist="38100" dir="8100000" algn="bl" rotWithShape="0">
              <a:srgbClr val="1E2761">
                <a:alpha val="15000"/>
              </a:srgbClr>
            </a:outerShdw>
          </a:effectLst>
        </p:spPr>
        <p:txBody>
          <a:bodyPr/>
          <a:lstStyle/>
          <a:p>
            <a:endParaRPr lang="en-US"/>
          </a:p>
        </p:txBody>
      </p:sp>
      <p:sp>
        <p:nvSpPr>
          <p:cNvPr id="14" name="Text 12"/>
          <p:cNvSpPr/>
          <p:nvPr/>
        </p:nvSpPr>
        <p:spPr>
          <a:xfrm>
            <a:off x="457200" y="2459736"/>
            <a:ext cx="502920" cy="347472"/>
          </a:xfrm>
          <a:prstGeom prst="rect">
            <a:avLst/>
          </a:prstGeom>
          <a:noFill/>
          <a:ln/>
        </p:spPr>
        <p:txBody>
          <a:bodyPr wrap="square" lIns="0" tIns="0" rIns="0" bIns="0" rtlCol="0" anchor="ctr"/>
          <a:lstStyle/>
          <a:p>
            <a:pPr marL="0" indent="0" algn="ctr">
              <a:buNone/>
            </a:pPr>
            <a:r>
              <a:rPr lang="en-US" sz="1300" b="1" dirty="0">
                <a:solidFill>
                  <a:srgbClr val="FFFFFF"/>
                </a:solidFill>
              </a:rPr>
              <a:t>04</a:t>
            </a:r>
            <a:endParaRPr lang="en-US" sz="1300" dirty="0"/>
          </a:p>
        </p:txBody>
      </p:sp>
      <p:sp>
        <p:nvSpPr>
          <p:cNvPr id="15" name="Text 13"/>
          <p:cNvSpPr/>
          <p:nvPr/>
        </p:nvSpPr>
        <p:spPr>
          <a:xfrm>
            <a:off x="1051560" y="2478024"/>
            <a:ext cx="3383280" cy="310896"/>
          </a:xfrm>
          <a:prstGeom prst="rect">
            <a:avLst/>
          </a:prstGeom>
          <a:noFill/>
          <a:ln/>
        </p:spPr>
        <p:txBody>
          <a:bodyPr wrap="square" lIns="0" tIns="0" rIns="0" bIns="0" rtlCol="0" anchor="ctr"/>
          <a:lstStyle/>
          <a:p>
            <a:pPr marL="0" indent="0" algn="l">
              <a:buNone/>
            </a:pPr>
            <a:r>
              <a:rPr lang="en-US" sz="1300" dirty="0">
                <a:solidFill>
                  <a:srgbClr val="334155"/>
                </a:solidFill>
              </a:rPr>
              <a:t>Data Preprocessing &amp; Feature Engineering</a:t>
            </a:r>
            <a:endParaRPr lang="en-US" sz="1300" dirty="0"/>
          </a:p>
        </p:txBody>
      </p:sp>
      <p:sp>
        <p:nvSpPr>
          <p:cNvPr id="16" name="Shape 14"/>
          <p:cNvSpPr/>
          <p:nvPr/>
        </p:nvSpPr>
        <p:spPr>
          <a:xfrm>
            <a:off x="457200" y="2944368"/>
            <a:ext cx="502920" cy="347472"/>
          </a:xfrm>
          <a:prstGeom prst="rect">
            <a:avLst/>
          </a:prstGeom>
          <a:solidFill>
            <a:srgbClr val="028090"/>
          </a:solidFill>
          <a:ln w="12700">
            <a:solidFill>
              <a:srgbClr val="028090"/>
            </a:solidFill>
            <a:prstDash val="solid"/>
          </a:ln>
          <a:effectLst>
            <a:outerShdw blurRad="101600" dist="38100" dir="8100000" algn="bl" rotWithShape="0">
              <a:srgbClr val="1E2761">
                <a:alpha val="15000"/>
              </a:srgbClr>
            </a:outerShdw>
          </a:effectLst>
        </p:spPr>
        <p:txBody>
          <a:bodyPr/>
          <a:lstStyle/>
          <a:p>
            <a:endParaRPr lang="en-US"/>
          </a:p>
        </p:txBody>
      </p:sp>
      <p:sp>
        <p:nvSpPr>
          <p:cNvPr id="17" name="Text 15"/>
          <p:cNvSpPr/>
          <p:nvPr/>
        </p:nvSpPr>
        <p:spPr>
          <a:xfrm>
            <a:off x="457200" y="2944368"/>
            <a:ext cx="502920" cy="347472"/>
          </a:xfrm>
          <a:prstGeom prst="rect">
            <a:avLst/>
          </a:prstGeom>
          <a:noFill/>
          <a:ln/>
        </p:spPr>
        <p:txBody>
          <a:bodyPr wrap="square" lIns="0" tIns="0" rIns="0" bIns="0" rtlCol="0" anchor="ctr"/>
          <a:lstStyle/>
          <a:p>
            <a:pPr marL="0" indent="0" algn="ctr">
              <a:buNone/>
            </a:pPr>
            <a:r>
              <a:rPr lang="en-US" sz="1300" b="1" dirty="0">
                <a:solidFill>
                  <a:srgbClr val="FFFFFF"/>
                </a:solidFill>
              </a:rPr>
              <a:t>05</a:t>
            </a:r>
            <a:endParaRPr lang="en-US" sz="1300" dirty="0"/>
          </a:p>
        </p:txBody>
      </p:sp>
      <p:sp>
        <p:nvSpPr>
          <p:cNvPr id="18" name="Text 16"/>
          <p:cNvSpPr/>
          <p:nvPr/>
        </p:nvSpPr>
        <p:spPr>
          <a:xfrm>
            <a:off x="1051560" y="2962656"/>
            <a:ext cx="3383280" cy="310896"/>
          </a:xfrm>
          <a:prstGeom prst="rect">
            <a:avLst/>
          </a:prstGeom>
          <a:noFill/>
          <a:ln/>
        </p:spPr>
        <p:txBody>
          <a:bodyPr wrap="square" lIns="0" tIns="0" rIns="0" bIns="0" rtlCol="0" anchor="ctr"/>
          <a:lstStyle/>
          <a:p>
            <a:pPr marL="0" indent="0" algn="l">
              <a:buNone/>
            </a:pPr>
            <a:r>
              <a:rPr lang="en-US" sz="1300" dirty="0">
                <a:solidFill>
                  <a:srgbClr val="334155"/>
                </a:solidFill>
              </a:rPr>
              <a:t>Customer Segmentation — K-Means Clustering</a:t>
            </a:r>
            <a:endParaRPr lang="en-US" sz="1300" dirty="0"/>
          </a:p>
        </p:txBody>
      </p:sp>
      <p:sp>
        <p:nvSpPr>
          <p:cNvPr id="19" name="Shape 17"/>
          <p:cNvSpPr/>
          <p:nvPr/>
        </p:nvSpPr>
        <p:spPr>
          <a:xfrm>
            <a:off x="457200" y="3429000"/>
            <a:ext cx="502920" cy="347472"/>
          </a:xfrm>
          <a:prstGeom prst="rect">
            <a:avLst/>
          </a:prstGeom>
          <a:solidFill>
            <a:srgbClr val="028090"/>
          </a:solidFill>
          <a:ln w="12700">
            <a:solidFill>
              <a:srgbClr val="028090"/>
            </a:solidFill>
            <a:prstDash val="solid"/>
          </a:ln>
          <a:effectLst>
            <a:outerShdw blurRad="101600" dist="38100" dir="8100000" algn="bl" rotWithShape="0">
              <a:srgbClr val="1E2761">
                <a:alpha val="15000"/>
              </a:srgbClr>
            </a:outerShdw>
          </a:effectLst>
        </p:spPr>
        <p:txBody>
          <a:bodyPr/>
          <a:lstStyle/>
          <a:p>
            <a:endParaRPr lang="en-US"/>
          </a:p>
        </p:txBody>
      </p:sp>
      <p:sp>
        <p:nvSpPr>
          <p:cNvPr id="20" name="Text 18"/>
          <p:cNvSpPr/>
          <p:nvPr/>
        </p:nvSpPr>
        <p:spPr>
          <a:xfrm>
            <a:off x="457200" y="3429000"/>
            <a:ext cx="502920" cy="347472"/>
          </a:xfrm>
          <a:prstGeom prst="rect">
            <a:avLst/>
          </a:prstGeom>
          <a:noFill/>
          <a:ln/>
        </p:spPr>
        <p:txBody>
          <a:bodyPr wrap="square" lIns="0" tIns="0" rIns="0" bIns="0" rtlCol="0" anchor="ctr"/>
          <a:lstStyle/>
          <a:p>
            <a:pPr marL="0" indent="0" algn="ctr">
              <a:buNone/>
            </a:pPr>
            <a:r>
              <a:rPr lang="en-US" sz="1300" b="1" dirty="0">
                <a:solidFill>
                  <a:srgbClr val="FFFFFF"/>
                </a:solidFill>
              </a:rPr>
              <a:t>06</a:t>
            </a:r>
            <a:endParaRPr lang="en-US" sz="1300" dirty="0"/>
          </a:p>
        </p:txBody>
      </p:sp>
      <p:sp>
        <p:nvSpPr>
          <p:cNvPr id="21" name="Text 19"/>
          <p:cNvSpPr/>
          <p:nvPr/>
        </p:nvSpPr>
        <p:spPr>
          <a:xfrm>
            <a:off x="1051560" y="3447288"/>
            <a:ext cx="3383280" cy="310896"/>
          </a:xfrm>
          <a:prstGeom prst="rect">
            <a:avLst/>
          </a:prstGeom>
          <a:noFill/>
          <a:ln/>
        </p:spPr>
        <p:txBody>
          <a:bodyPr wrap="square" lIns="0" tIns="0" rIns="0" bIns="0" rtlCol="0" anchor="ctr"/>
          <a:lstStyle/>
          <a:p>
            <a:pPr marL="0" indent="0" algn="l">
              <a:buNone/>
            </a:pPr>
            <a:r>
              <a:rPr lang="en-US" sz="1300" dirty="0">
                <a:solidFill>
                  <a:srgbClr val="334155"/>
                </a:solidFill>
              </a:rPr>
              <a:t>Cluster Interpretation &amp; Discount Tier Mapping</a:t>
            </a:r>
            <a:endParaRPr lang="en-US" sz="1300" dirty="0"/>
          </a:p>
        </p:txBody>
      </p:sp>
      <p:sp>
        <p:nvSpPr>
          <p:cNvPr id="22" name="Shape 20"/>
          <p:cNvSpPr/>
          <p:nvPr/>
        </p:nvSpPr>
        <p:spPr>
          <a:xfrm>
            <a:off x="457200" y="3913632"/>
            <a:ext cx="502920" cy="347472"/>
          </a:xfrm>
          <a:prstGeom prst="rect">
            <a:avLst/>
          </a:prstGeom>
          <a:solidFill>
            <a:srgbClr val="028090"/>
          </a:solidFill>
          <a:ln w="12700">
            <a:solidFill>
              <a:srgbClr val="028090"/>
            </a:solidFill>
            <a:prstDash val="solid"/>
          </a:ln>
          <a:effectLst>
            <a:outerShdw blurRad="101600" dist="38100" dir="8100000" algn="bl" rotWithShape="0">
              <a:srgbClr val="1E2761">
                <a:alpha val="15000"/>
              </a:srgbClr>
            </a:outerShdw>
          </a:effectLst>
        </p:spPr>
        <p:txBody>
          <a:bodyPr/>
          <a:lstStyle/>
          <a:p>
            <a:endParaRPr lang="en-US"/>
          </a:p>
        </p:txBody>
      </p:sp>
      <p:sp>
        <p:nvSpPr>
          <p:cNvPr id="23" name="Text 21"/>
          <p:cNvSpPr/>
          <p:nvPr/>
        </p:nvSpPr>
        <p:spPr>
          <a:xfrm>
            <a:off x="457200" y="3913632"/>
            <a:ext cx="502920" cy="347472"/>
          </a:xfrm>
          <a:prstGeom prst="rect">
            <a:avLst/>
          </a:prstGeom>
          <a:noFill/>
          <a:ln/>
        </p:spPr>
        <p:txBody>
          <a:bodyPr wrap="square" lIns="0" tIns="0" rIns="0" bIns="0" rtlCol="0" anchor="ctr"/>
          <a:lstStyle/>
          <a:p>
            <a:pPr marL="0" indent="0" algn="ctr">
              <a:buNone/>
            </a:pPr>
            <a:r>
              <a:rPr lang="en-US" sz="1300" b="1" dirty="0">
                <a:solidFill>
                  <a:srgbClr val="FFFFFF"/>
                </a:solidFill>
              </a:rPr>
              <a:t>07</a:t>
            </a:r>
            <a:endParaRPr lang="en-US" sz="1300" dirty="0"/>
          </a:p>
        </p:txBody>
      </p:sp>
      <p:sp>
        <p:nvSpPr>
          <p:cNvPr id="24" name="Text 22"/>
          <p:cNvSpPr/>
          <p:nvPr/>
        </p:nvSpPr>
        <p:spPr>
          <a:xfrm>
            <a:off x="1051560" y="3931920"/>
            <a:ext cx="3383280" cy="310896"/>
          </a:xfrm>
          <a:prstGeom prst="rect">
            <a:avLst/>
          </a:prstGeom>
          <a:noFill/>
          <a:ln/>
        </p:spPr>
        <p:txBody>
          <a:bodyPr wrap="square" lIns="0" tIns="0" rIns="0" bIns="0" rtlCol="0" anchor="ctr"/>
          <a:lstStyle/>
          <a:p>
            <a:pPr marL="0" indent="0" algn="l">
              <a:buNone/>
            </a:pPr>
            <a:r>
              <a:rPr lang="en-US" sz="1300" dirty="0">
                <a:solidFill>
                  <a:srgbClr val="334155"/>
                </a:solidFill>
              </a:rPr>
              <a:t>PCA Visualization</a:t>
            </a:r>
            <a:endParaRPr lang="en-US" sz="1300" dirty="0"/>
          </a:p>
        </p:txBody>
      </p:sp>
      <p:sp>
        <p:nvSpPr>
          <p:cNvPr id="25" name="Shape 23"/>
          <p:cNvSpPr/>
          <p:nvPr/>
        </p:nvSpPr>
        <p:spPr>
          <a:xfrm>
            <a:off x="457200" y="4398264"/>
            <a:ext cx="502920" cy="347472"/>
          </a:xfrm>
          <a:prstGeom prst="rect">
            <a:avLst/>
          </a:prstGeom>
          <a:solidFill>
            <a:srgbClr val="028090"/>
          </a:solidFill>
          <a:ln w="12700">
            <a:solidFill>
              <a:srgbClr val="028090"/>
            </a:solidFill>
            <a:prstDash val="solid"/>
          </a:ln>
          <a:effectLst>
            <a:outerShdw blurRad="101600" dist="38100" dir="8100000" algn="bl" rotWithShape="0">
              <a:srgbClr val="1E2761">
                <a:alpha val="15000"/>
              </a:srgbClr>
            </a:outerShdw>
          </a:effectLst>
        </p:spPr>
        <p:txBody>
          <a:bodyPr/>
          <a:lstStyle/>
          <a:p>
            <a:endParaRPr lang="en-US"/>
          </a:p>
        </p:txBody>
      </p:sp>
      <p:sp>
        <p:nvSpPr>
          <p:cNvPr id="26" name="Text 24"/>
          <p:cNvSpPr/>
          <p:nvPr/>
        </p:nvSpPr>
        <p:spPr>
          <a:xfrm>
            <a:off x="457200" y="4398264"/>
            <a:ext cx="502920" cy="347472"/>
          </a:xfrm>
          <a:prstGeom prst="rect">
            <a:avLst/>
          </a:prstGeom>
          <a:noFill/>
          <a:ln/>
        </p:spPr>
        <p:txBody>
          <a:bodyPr wrap="square" lIns="0" tIns="0" rIns="0" bIns="0" rtlCol="0" anchor="ctr"/>
          <a:lstStyle/>
          <a:p>
            <a:pPr marL="0" indent="0" algn="ctr">
              <a:buNone/>
            </a:pPr>
            <a:r>
              <a:rPr lang="en-US" sz="1300" b="1" dirty="0">
                <a:solidFill>
                  <a:srgbClr val="FFFFFF"/>
                </a:solidFill>
              </a:rPr>
              <a:t>08</a:t>
            </a:r>
            <a:endParaRPr lang="en-US" sz="1300" dirty="0"/>
          </a:p>
        </p:txBody>
      </p:sp>
      <p:sp>
        <p:nvSpPr>
          <p:cNvPr id="27" name="Text 25"/>
          <p:cNvSpPr/>
          <p:nvPr/>
        </p:nvSpPr>
        <p:spPr>
          <a:xfrm>
            <a:off x="1051560" y="4416552"/>
            <a:ext cx="3383280" cy="310896"/>
          </a:xfrm>
          <a:prstGeom prst="rect">
            <a:avLst/>
          </a:prstGeom>
          <a:noFill/>
          <a:ln/>
        </p:spPr>
        <p:txBody>
          <a:bodyPr wrap="square" lIns="0" tIns="0" rIns="0" bIns="0" rtlCol="0" anchor="ctr"/>
          <a:lstStyle/>
          <a:p>
            <a:pPr marL="0" indent="0" algn="l">
              <a:buNone/>
            </a:pPr>
            <a:r>
              <a:rPr lang="en-US" sz="1300" dirty="0">
                <a:solidFill>
                  <a:srgbClr val="334155"/>
                </a:solidFill>
              </a:rPr>
              <a:t>Association Rule Mining</a:t>
            </a:r>
            <a:endParaRPr lang="en-US" sz="1300" dirty="0"/>
          </a:p>
        </p:txBody>
      </p:sp>
      <p:sp>
        <p:nvSpPr>
          <p:cNvPr id="28" name="Shape 26"/>
          <p:cNvSpPr/>
          <p:nvPr/>
        </p:nvSpPr>
        <p:spPr>
          <a:xfrm>
            <a:off x="4846320" y="1005840"/>
            <a:ext cx="502920" cy="347472"/>
          </a:xfrm>
          <a:prstGeom prst="rect">
            <a:avLst/>
          </a:prstGeom>
          <a:solidFill>
            <a:srgbClr val="1E2761"/>
          </a:solidFill>
          <a:ln w="12700">
            <a:solidFill>
              <a:srgbClr val="1E2761"/>
            </a:solidFill>
            <a:prstDash val="solid"/>
          </a:ln>
          <a:effectLst>
            <a:outerShdw blurRad="101600" dist="38100" dir="8100000" algn="bl" rotWithShape="0">
              <a:srgbClr val="1E2761">
                <a:alpha val="15000"/>
              </a:srgbClr>
            </a:outerShdw>
          </a:effectLst>
        </p:spPr>
        <p:txBody>
          <a:bodyPr/>
          <a:lstStyle/>
          <a:p>
            <a:endParaRPr lang="en-US"/>
          </a:p>
        </p:txBody>
      </p:sp>
      <p:sp>
        <p:nvSpPr>
          <p:cNvPr id="29" name="Text 27"/>
          <p:cNvSpPr/>
          <p:nvPr/>
        </p:nvSpPr>
        <p:spPr>
          <a:xfrm>
            <a:off x="4846320" y="1005840"/>
            <a:ext cx="502920" cy="347472"/>
          </a:xfrm>
          <a:prstGeom prst="rect">
            <a:avLst/>
          </a:prstGeom>
          <a:noFill/>
          <a:ln/>
        </p:spPr>
        <p:txBody>
          <a:bodyPr wrap="square" lIns="0" tIns="0" rIns="0" bIns="0" rtlCol="0" anchor="ctr"/>
          <a:lstStyle/>
          <a:p>
            <a:pPr marL="0" indent="0" algn="ctr">
              <a:buNone/>
            </a:pPr>
            <a:r>
              <a:rPr lang="en-US" sz="1300" b="1" dirty="0">
                <a:solidFill>
                  <a:srgbClr val="FFFFFF"/>
                </a:solidFill>
              </a:rPr>
              <a:t>09</a:t>
            </a:r>
            <a:endParaRPr lang="en-US" sz="1300" dirty="0"/>
          </a:p>
        </p:txBody>
      </p:sp>
      <p:sp>
        <p:nvSpPr>
          <p:cNvPr id="30" name="Text 28"/>
          <p:cNvSpPr/>
          <p:nvPr/>
        </p:nvSpPr>
        <p:spPr>
          <a:xfrm>
            <a:off x="5440680" y="1024128"/>
            <a:ext cx="3383280" cy="310896"/>
          </a:xfrm>
          <a:prstGeom prst="rect">
            <a:avLst/>
          </a:prstGeom>
          <a:noFill/>
          <a:ln/>
        </p:spPr>
        <p:txBody>
          <a:bodyPr wrap="square" lIns="0" tIns="0" rIns="0" bIns="0" rtlCol="0" anchor="ctr"/>
          <a:lstStyle/>
          <a:p>
            <a:pPr marL="0" indent="0" algn="l">
              <a:buNone/>
            </a:pPr>
            <a:r>
              <a:rPr lang="en-US" sz="1300" dirty="0">
                <a:solidFill>
                  <a:srgbClr val="334155"/>
                </a:solidFill>
              </a:rPr>
              <a:t>Predictive Modelling</a:t>
            </a:r>
            <a:endParaRPr lang="en-US" sz="1300" dirty="0"/>
          </a:p>
        </p:txBody>
      </p:sp>
      <p:sp>
        <p:nvSpPr>
          <p:cNvPr id="31" name="Shape 29"/>
          <p:cNvSpPr/>
          <p:nvPr/>
        </p:nvSpPr>
        <p:spPr>
          <a:xfrm>
            <a:off x="4846320" y="1490472"/>
            <a:ext cx="502920" cy="347472"/>
          </a:xfrm>
          <a:prstGeom prst="rect">
            <a:avLst/>
          </a:prstGeom>
          <a:solidFill>
            <a:srgbClr val="1E2761"/>
          </a:solidFill>
          <a:ln w="12700">
            <a:solidFill>
              <a:srgbClr val="1E2761"/>
            </a:solidFill>
            <a:prstDash val="solid"/>
          </a:ln>
          <a:effectLst>
            <a:outerShdw blurRad="101600" dist="38100" dir="8100000" algn="bl" rotWithShape="0">
              <a:srgbClr val="1E2761">
                <a:alpha val="15000"/>
              </a:srgbClr>
            </a:outerShdw>
          </a:effectLst>
        </p:spPr>
        <p:txBody>
          <a:bodyPr/>
          <a:lstStyle/>
          <a:p>
            <a:endParaRPr lang="en-US"/>
          </a:p>
        </p:txBody>
      </p:sp>
      <p:sp>
        <p:nvSpPr>
          <p:cNvPr id="32" name="Text 30"/>
          <p:cNvSpPr/>
          <p:nvPr/>
        </p:nvSpPr>
        <p:spPr>
          <a:xfrm>
            <a:off x="4846320" y="1490472"/>
            <a:ext cx="502920" cy="347472"/>
          </a:xfrm>
          <a:prstGeom prst="rect">
            <a:avLst/>
          </a:prstGeom>
          <a:noFill/>
          <a:ln/>
        </p:spPr>
        <p:txBody>
          <a:bodyPr wrap="square" lIns="0" tIns="0" rIns="0" bIns="0" rtlCol="0" anchor="ctr"/>
          <a:lstStyle/>
          <a:p>
            <a:pPr marL="0" indent="0" algn="ctr">
              <a:buNone/>
            </a:pPr>
            <a:r>
              <a:rPr lang="en-US" sz="1300" b="1" dirty="0">
                <a:solidFill>
                  <a:srgbClr val="FFFFFF"/>
                </a:solidFill>
              </a:rPr>
              <a:t>10</a:t>
            </a:r>
            <a:endParaRPr lang="en-US" sz="1300" dirty="0"/>
          </a:p>
        </p:txBody>
      </p:sp>
      <p:sp>
        <p:nvSpPr>
          <p:cNvPr id="33" name="Text 31"/>
          <p:cNvSpPr/>
          <p:nvPr/>
        </p:nvSpPr>
        <p:spPr>
          <a:xfrm>
            <a:off x="5440680" y="1508760"/>
            <a:ext cx="3383280" cy="310896"/>
          </a:xfrm>
          <a:prstGeom prst="rect">
            <a:avLst/>
          </a:prstGeom>
          <a:noFill/>
          <a:ln/>
        </p:spPr>
        <p:txBody>
          <a:bodyPr wrap="square" lIns="0" tIns="0" rIns="0" bIns="0" rtlCol="0" anchor="ctr"/>
          <a:lstStyle/>
          <a:p>
            <a:pPr marL="0" indent="0" algn="l">
              <a:buNone/>
            </a:pPr>
            <a:r>
              <a:rPr lang="en-US" sz="1300" dirty="0">
                <a:solidFill>
                  <a:srgbClr val="334155"/>
                </a:solidFill>
              </a:rPr>
              <a:t>Model Performance &amp; Results</a:t>
            </a:r>
            <a:endParaRPr lang="en-US" sz="1300" dirty="0"/>
          </a:p>
        </p:txBody>
      </p:sp>
      <p:sp>
        <p:nvSpPr>
          <p:cNvPr id="34" name="Shape 32"/>
          <p:cNvSpPr/>
          <p:nvPr/>
        </p:nvSpPr>
        <p:spPr>
          <a:xfrm>
            <a:off x="4846320" y="1975104"/>
            <a:ext cx="502920" cy="347472"/>
          </a:xfrm>
          <a:prstGeom prst="rect">
            <a:avLst/>
          </a:prstGeom>
          <a:solidFill>
            <a:srgbClr val="1E2761"/>
          </a:solidFill>
          <a:ln w="12700">
            <a:solidFill>
              <a:srgbClr val="1E2761"/>
            </a:solidFill>
            <a:prstDash val="solid"/>
          </a:ln>
          <a:effectLst>
            <a:outerShdw blurRad="101600" dist="38100" dir="8100000" algn="bl" rotWithShape="0">
              <a:srgbClr val="1E2761">
                <a:alpha val="15000"/>
              </a:srgbClr>
            </a:outerShdw>
          </a:effectLst>
        </p:spPr>
        <p:txBody>
          <a:bodyPr/>
          <a:lstStyle/>
          <a:p>
            <a:endParaRPr lang="en-US"/>
          </a:p>
        </p:txBody>
      </p:sp>
      <p:sp>
        <p:nvSpPr>
          <p:cNvPr id="35" name="Text 33"/>
          <p:cNvSpPr/>
          <p:nvPr/>
        </p:nvSpPr>
        <p:spPr>
          <a:xfrm>
            <a:off x="4846320" y="1975104"/>
            <a:ext cx="502920" cy="347472"/>
          </a:xfrm>
          <a:prstGeom prst="rect">
            <a:avLst/>
          </a:prstGeom>
          <a:noFill/>
          <a:ln/>
        </p:spPr>
        <p:txBody>
          <a:bodyPr wrap="square" lIns="0" tIns="0" rIns="0" bIns="0" rtlCol="0" anchor="ctr"/>
          <a:lstStyle/>
          <a:p>
            <a:pPr marL="0" indent="0" algn="ctr">
              <a:buNone/>
            </a:pPr>
            <a:r>
              <a:rPr lang="en-US" sz="1300" b="1" dirty="0">
                <a:solidFill>
                  <a:srgbClr val="FFFFFF"/>
                </a:solidFill>
              </a:rPr>
              <a:t>11</a:t>
            </a:r>
            <a:endParaRPr lang="en-US" sz="1300" dirty="0"/>
          </a:p>
        </p:txBody>
      </p:sp>
      <p:sp>
        <p:nvSpPr>
          <p:cNvPr id="36" name="Text 34"/>
          <p:cNvSpPr/>
          <p:nvPr/>
        </p:nvSpPr>
        <p:spPr>
          <a:xfrm>
            <a:off x="5440680" y="1993392"/>
            <a:ext cx="3383280" cy="310896"/>
          </a:xfrm>
          <a:prstGeom prst="rect">
            <a:avLst/>
          </a:prstGeom>
          <a:noFill/>
          <a:ln/>
        </p:spPr>
        <p:txBody>
          <a:bodyPr wrap="square" lIns="0" tIns="0" rIns="0" bIns="0" rtlCol="0" anchor="ctr"/>
          <a:lstStyle/>
          <a:p>
            <a:pPr marL="0" indent="0" algn="l">
              <a:buNone/>
            </a:pPr>
            <a:r>
              <a:rPr lang="en-US" sz="1300" dirty="0">
                <a:solidFill>
                  <a:srgbClr val="334155"/>
                </a:solidFill>
              </a:rPr>
              <a:t>Key Findings</a:t>
            </a:r>
            <a:endParaRPr lang="en-US" sz="1300" dirty="0"/>
          </a:p>
        </p:txBody>
      </p:sp>
      <p:sp>
        <p:nvSpPr>
          <p:cNvPr id="37" name="Shape 35"/>
          <p:cNvSpPr/>
          <p:nvPr/>
        </p:nvSpPr>
        <p:spPr>
          <a:xfrm>
            <a:off x="4846320" y="2459736"/>
            <a:ext cx="502920" cy="347472"/>
          </a:xfrm>
          <a:prstGeom prst="rect">
            <a:avLst/>
          </a:prstGeom>
          <a:solidFill>
            <a:srgbClr val="1E2761"/>
          </a:solidFill>
          <a:ln w="12700">
            <a:solidFill>
              <a:srgbClr val="1E2761"/>
            </a:solidFill>
            <a:prstDash val="solid"/>
          </a:ln>
          <a:effectLst>
            <a:outerShdw blurRad="101600" dist="38100" dir="8100000" algn="bl" rotWithShape="0">
              <a:srgbClr val="1E2761">
                <a:alpha val="15000"/>
              </a:srgbClr>
            </a:outerShdw>
          </a:effectLst>
        </p:spPr>
        <p:txBody>
          <a:bodyPr/>
          <a:lstStyle/>
          <a:p>
            <a:endParaRPr lang="en-US"/>
          </a:p>
        </p:txBody>
      </p:sp>
      <p:sp>
        <p:nvSpPr>
          <p:cNvPr id="38" name="Text 36"/>
          <p:cNvSpPr/>
          <p:nvPr/>
        </p:nvSpPr>
        <p:spPr>
          <a:xfrm>
            <a:off x="4846320" y="2459736"/>
            <a:ext cx="502920" cy="347472"/>
          </a:xfrm>
          <a:prstGeom prst="rect">
            <a:avLst/>
          </a:prstGeom>
          <a:noFill/>
          <a:ln/>
        </p:spPr>
        <p:txBody>
          <a:bodyPr wrap="square" lIns="0" tIns="0" rIns="0" bIns="0" rtlCol="0" anchor="ctr"/>
          <a:lstStyle/>
          <a:p>
            <a:pPr marL="0" indent="0" algn="ctr">
              <a:buNone/>
            </a:pPr>
            <a:r>
              <a:rPr lang="en-US" sz="1300" b="1" dirty="0">
                <a:solidFill>
                  <a:srgbClr val="FFFFFF"/>
                </a:solidFill>
              </a:rPr>
              <a:t>12</a:t>
            </a:r>
            <a:endParaRPr lang="en-US" sz="1300" dirty="0"/>
          </a:p>
        </p:txBody>
      </p:sp>
      <p:sp>
        <p:nvSpPr>
          <p:cNvPr id="39" name="Text 37"/>
          <p:cNvSpPr/>
          <p:nvPr/>
        </p:nvSpPr>
        <p:spPr>
          <a:xfrm>
            <a:off x="5440680" y="2478024"/>
            <a:ext cx="3383280" cy="310896"/>
          </a:xfrm>
          <a:prstGeom prst="rect">
            <a:avLst/>
          </a:prstGeom>
          <a:noFill/>
          <a:ln/>
        </p:spPr>
        <p:txBody>
          <a:bodyPr wrap="square" lIns="0" tIns="0" rIns="0" bIns="0" rtlCol="0" anchor="ctr"/>
          <a:lstStyle/>
          <a:p>
            <a:pPr marL="0" indent="0" algn="l">
              <a:buNone/>
            </a:pPr>
            <a:r>
              <a:rPr lang="en-US" sz="1300" dirty="0">
                <a:solidFill>
                  <a:srgbClr val="334155"/>
                </a:solidFill>
              </a:rPr>
              <a:t>Limitations &amp; Future Directions</a:t>
            </a:r>
            <a:endParaRPr lang="en-US" sz="1300" dirty="0"/>
          </a:p>
        </p:txBody>
      </p:sp>
      <p:sp>
        <p:nvSpPr>
          <p:cNvPr id="40" name="Shape 38"/>
          <p:cNvSpPr/>
          <p:nvPr/>
        </p:nvSpPr>
        <p:spPr>
          <a:xfrm>
            <a:off x="4846320" y="2944368"/>
            <a:ext cx="502920" cy="347472"/>
          </a:xfrm>
          <a:prstGeom prst="rect">
            <a:avLst/>
          </a:prstGeom>
          <a:solidFill>
            <a:srgbClr val="1E2761"/>
          </a:solidFill>
          <a:ln w="12700">
            <a:solidFill>
              <a:srgbClr val="1E2761"/>
            </a:solidFill>
            <a:prstDash val="solid"/>
          </a:ln>
          <a:effectLst>
            <a:outerShdw blurRad="101600" dist="38100" dir="8100000" algn="bl" rotWithShape="0">
              <a:srgbClr val="1E2761">
                <a:alpha val="15000"/>
              </a:srgbClr>
            </a:outerShdw>
          </a:effectLst>
        </p:spPr>
        <p:txBody>
          <a:bodyPr/>
          <a:lstStyle/>
          <a:p>
            <a:endParaRPr lang="en-US"/>
          </a:p>
        </p:txBody>
      </p:sp>
      <p:sp>
        <p:nvSpPr>
          <p:cNvPr id="41" name="Text 39"/>
          <p:cNvSpPr/>
          <p:nvPr/>
        </p:nvSpPr>
        <p:spPr>
          <a:xfrm>
            <a:off x="4846320" y="2944368"/>
            <a:ext cx="502920" cy="347472"/>
          </a:xfrm>
          <a:prstGeom prst="rect">
            <a:avLst/>
          </a:prstGeom>
          <a:noFill/>
          <a:ln/>
        </p:spPr>
        <p:txBody>
          <a:bodyPr wrap="square" lIns="0" tIns="0" rIns="0" bIns="0" rtlCol="0" anchor="ctr"/>
          <a:lstStyle/>
          <a:p>
            <a:pPr marL="0" indent="0" algn="ctr">
              <a:buNone/>
            </a:pPr>
            <a:r>
              <a:rPr lang="en-US" sz="1300" b="1" dirty="0">
                <a:solidFill>
                  <a:srgbClr val="FFFFFF"/>
                </a:solidFill>
              </a:rPr>
              <a:t>13</a:t>
            </a:r>
            <a:endParaRPr lang="en-US" sz="1300" dirty="0"/>
          </a:p>
        </p:txBody>
      </p:sp>
      <p:sp>
        <p:nvSpPr>
          <p:cNvPr id="42" name="Text 40"/>
          <p:cNvSpPr/>
          <p:nvPr/>
        </p:nvSpPr>
        <p:spPr>
          <a:xfrm>
            <a:off x="5440680" y="2962656"/>
            <a:ext cx="3383280" cy="310896"/>
          </a:xfrm>
          <a:prstGeom prst="rect">
            <a:avLst/>
          </a:prstGeom>
          <a:noFill/>
          <a:ln/>
        </p:spPr>
        <p:txBody>
          <a:bodyPr wrap="square" lIns="0" tIns="0" rIns="0" bIns="0" rtlCol="0" anchor="ctr"/>
          <a:lstStyle/>
          <a:p>
            <a:pPr marL="0" indent="0" algn="l">
              <a:buNone/>
            </a:pPr>
            <a:r>
              <a:rPr lang="en-US" sz="1300" dirty="0">
                <a:solidFill>
                  <a:srgbClr val="334155"/>
                </a:solidFill>
              </a:rPr>
              <a:t>Technology Stack</a:t>
            </a:r>
            <a:endParaRPr lang="en-US" sz="1300" dirty="0"/>
          </a:p>
        </p:txBody>
      </p:sp>
      <p:sp>
        <p:nvSpPr>
          <p:cNvPr id="43" name="Shape 41"/>
          <p:cNvSpPr/>
          <p:nvPr/>
        </p:nvSpPr>
        <p:spPr>
          <a:xfrm>
            <a:off x="4846320" y="3429000"/>
            <a:ext cx="502920" cy="347472"/>
          </a:xfrm>
          <a:prstGeom prst="rect">
            <a:avLst/>
          </a:prstGeom>
          <a:solidFill>
            <a:srgbClr val="1E2761"/>
          </a:solidFill>
          <a:ln w="12700">
            <a:solidFill>
              <a:srgbClr val="1E2761"/>
            </a:solidFill>
            <a:prstDash val="solid"/>
          </a:ln>
          <a:effectLst>
            <a:outerShdw blurRad="101600" dist="38100" dir="8100000" algn="bl" rotWithShape="0">
              <a:srgbClr val="1E2761">
                <a:alpha val="15000"/>
              </a:srgbClr>
            </a:outerShdw>
          </a:effectLst>
        </p:spPr>
        <p:txBody>
          <a:bodyPr/>
          <a:lstStyle/>
          <a:p>
            <a:endParaRPr lang="en-US"/>
          </a:p>
        </p:txBody>
      </p:sp>
      <p:sp>
        <p:nvSpPr>
          <p:cNvPr id="44" name="Text 42"/>
          <p:cNvSpPr/>
          <p:nvPr/>
        </p:nvSpPr>
        <p:spPr>
          <a:xfrm>
            <a:off x="4846320" y="3429000"/>
            <a:ext cx="502920" cy="347472"/>
          </a:xfrm>
          <a:prstGeom prst="rect">
            <a:avLst/>
          </a:prstGeom>
          <a:noFill/>
          <a:ln/>
        </p:spPr>
        <p:txBody>
          <a:bodyPr wrap="square" lIns="0" tIns="0" rIns="0" bIns="0" rtlCol="0" anchor="ctr"/>
          <a:lstStyle/>
          <a:p>
            <a:pPr marL="0" indent="0" algn="ctr">
              <a:buNone/>
            </a:pPr>
            <a:r>
              <a:rPr lang="en-US" sz="1300" b="1" dirty="0">
                <a:solidFill>
                  <a:srgbClr val="FFFFFF"/>
                </a:solidFill>
              </a:rPr>
              <a:t>14</a:t>
            </a:r>
            <a:endParaRPr lang="en-US" sz="1300" dirty="0"/>
          </a:p>
        </p:txBody>
      </p:sp>
      <p:sp>
        <p:nvSpPr>
          <p:cNvPr id="45" name="Text 43"/>
          <p:cNvSpPr/>
          <p:nvPr/>
        </p:nvSpPr>
        <p:spPr>
          <a:xfrm>
            <a:off x="5440680" y="3447288"/>
            <a:ext cx="3383280" cy="310896"/>
          </a:xfrm>
          <a:prstGeom prst="rect">
            <a:avLst/>
          </a:prstGeom>
          <a:noFill/>
          <a:ln/>
        </p:spPr>
        <p:txBody>
          <a:bodyPr wrap="square" lIns="0" tIns="0" rIns="0" bIns="0" rtlCol="0" anchor="ctr"/>
          <a:lstStyle/>
          <a:p>
            <a:pPr marL="0" indent="0" algn="l">
              <a:buNone/>
            </a:pPr>
            <a:r>
              <a:rPr lang="en-US" sz="1300" dirty="0">
                <a:solidFill>
                  <a:srgbClr val="334155"/>
                </a:solidFill>
              </a:rPr>
              <a:t>Conclusion</a:t>
            </a:r>
            <a:endParaRPr lang="en-US" sz="1300" dirty="0"/>
          </a:p>
        </p:txBody>
      </p:sp>
      <p:sp>
        <p:nvSpPr>
          <p:cNvPr id="46" name="Shape 44"/>
          <p:cNvSpPr/>
          <p:nvPr/>
        </p:nvSpPr>
        <p:spPr>
          <a:xfrm>
            <a:off x="4846320" y="3913632"/>
            <a:ext cx="502920" cy="347472"/>
          </a:xfrm>
          <a:prstGeom prst="rect">
            <a:avLst/>
          </a:prstGeom>
          <a:solidFill>
            <a:srgbClr val="1E2761"/>
          </a:solidFill>
          <a:ln w="12700">
            <a:solidFill>
              <a:srgbClr val="1E2761"/>
            </a:solidFill>
            <a:prstDash val="solid"/>
          </a:ln>
          <a:effectLst>
            <a:outerShdw blurRad="101600" dist="38100" dir="8100000" algn="bl" rotWithShape="0">
              <a:srgbClr val="1E2761">
                <a:alpha val="15000"/>
              </a:srgbClr>
            </a:outerShdw>
          </a:effectLst>
        </p:spPr>
        <p:txBody>
          <a:bodyPr/>
          <a:lstStyle/>
          <a:p>
            <a:endParaRPr lang="en-US"/>
          </a:p>
        </p:txBody>
      </p:sp>
      <p:sp>
        <p:nvSpPr>
          <p:cNvPr id="47" name="Text 45"/>
          <p:cNvSpPr/>
          <p:nvPr/>
        </p:nvSpPr>
        <p:spPr>
          <a:xfrm>
            <a:off x="4846320" y="3913632"/>
            <a:ext cx="502920" cy="347472"/>
          </a:xfrm>
          <a:prstGeom prst="rect">
            <a:avLst/>
          </a:prstGeom>
          <a:noFill/>
          <a:ln/>
        </p:spPr>
        <p:txBody>
          <a:bodyPr wrap="square" lIns="0" tIns="0" rIns="0" bIns="0" rtlCol="0" anchor="ctr"/>
          <a:lstStyle/>
          <a:p>
            <a:pPr marL="0" indent="0" algn="ctr">
              <a:buNone/>
            </a:pPr>
            <a:r>
              <a:rPr lang="en-US" sz="1300" b="1" dirty="0">
                <a:solidFill>
                  <a:srgbClr val="FFFFFF"/>
                </a:solidFill>
              </a:rPr>
              <a:t>15</a:t>
            </a:r>
            <a:endParaRPr lang="en-US" sz="1300" dirty="0"/>
          </a:p>
        </p:txBody>
      </p:sp>
      <p:sp>
        <p:nvSpPr>
          <p:cNvPr id="48" name="Text 46"/>
          <p:cNvSpPr/>
          <p:nvPr/>
        </p:nvSpPr>
        <p:spPr>
          <a:xfrm>
            <a:off x="5440680" y="3931920"/>
            <a:ext cx="3383280" cy="310896"/>
          </a:xfrm>
          <a:prstGeom prst="rect">
            <a:avLst/>
          </a:prstGeom>
          <a:noFill/>
          <a:ln/>
        </p:spPr>
        <p:txBody>
          <a:bodyPr wrap="square" lIns="0" tIns="0" rIns="0" bIns="0" rtlCol="0" anchor="ctr"/>
          <a:lstStyle/>
          <a:p>
            <a:pPr marL="0" indent="0" algn="l">
              <a:buNone/>
            </a:pPr>
            <a:r>
              <a:rPr lang="en-US" sz="1300" dirty="0">
                <a:solidFill>
                  <a:srgbClr val="334155"/>
                </a:solidFill>
              </a:rPr>
              <a:t>Affidavit</a:t>
            </a:r>
            <a:endParaRPr lang="en-US" sz="1300" dirty="0"/>
          </a:p>
        </p:txBody>
      </p:sp>
      <p:sp>
        <p:nvSpPr>
          <p:cNvPr id="49" name="Shape 47"/>
          <p:cNvSpPr/>
          <p:nvPr/>
        </p:nvSpPr>
        <p:spPr>
          <a:xfrm>
            <a:off x="0" y="4869180"/>
            <a:ext cx="9144000" cy="274320"/>
          </a:xfrm>
          <a:prstGeom prst="rect">
            <a:avLst/>
          </a:prstGeom>
          <a:solidFill>
            <a:srgbClr val="1E2761"/>
          </a:solidFill>
          <a:ln w="12700">
            <a:solidFill>
              <a:srgbClr val="1E2761"/>
            </a:solidFill>
            <a:prstDash val="solid"/>
          </a:ln>
        </p:spPr>
        <p:txBody>
          <a:bodyPr/>
          <a:lstStyle/>
          <a:p>
            <a:endParaRPr lang="en-US"/>
          </a:p>
        </p:txBody>
      </p:sp>
      <p:sp>
        <p:nvSpPr>
          <p:cNvPr id="50" name="Text 48"/>
          <p:cNvSpPr/>
          <p:nvPr/>
        </p:nvSpPr>
        <p:spPr>
          <a:xfrm>
            <a:off x="0" y="4869180"/>
            <a:ext cx="9144000" cy="274320"/>
          </a:xfrm>
          <a:prstGeom prst="rect">
            <a:avLst/>
          </a:prstGeom>
          <a:noFill/>
          <a:ln/>
        </p:spPr>
        <p:txBody>
          <a:bodyPr wrap="square" lIns="0" tIns="0" rIns="0" bIns="0" rtlCol="0" anchor="ctr"/>
          <a:lstStyle/>
          <a:p>
            <a:pPr marL="0" indent="0" algn="ctr">
              <a:buNone/>
            </a:pPr>
            <a:r>
              <a:rPr lang="en-US" sz="900" dirty="0">
                <a:solidFill>
                  <a:srgbClr val="CADCFC"/>
                </a:solidFill>
              </a:rPr>
              <a:t>Smart Discount Targeting System  |  NUCES CS3005</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28090"/>
          </a:solidFill>
          <a:ln w="12700">
            <a:solidFill>
              <a:srgbClr val="028090"/>
            </a:solidFill>
            <a:prstDash val="solid"/>
          </a:ln>
        </p:spPr>
        <p:txBody>
          <a:bodyPr/>
          <a:lstStyle/>
          <a:p>
            <a:endParaRPr lang="en-US"/>
          </a:p>
        </p:txBody>
      </p:sp>
      <p:sp>
        <p:nvSpPr>
          <p:cNvPr id="3" name="Text 1"/>
          <p:cNvSpPr/>
          <p:nvPr/>
        </p:nvSpPr>
        <p:spPr>
          <a:xfrm>
            <a:off x="457200" y="164592"/>
            <a:ext cx="7772400" cy="566928"/>
          </a:xfrm>
          <a:prstGeom prst="rect">
            <a:avLst/>
          </a:prstGeom>
          <a:noFill/>
          <a:ln/>
        </p:spPr>
        <p:txBody>
          <a:bodyPr wrap="square" rtlCol="0" anchor="ctr"/>
          <a:lstStyle/>
          <a:p>
            <a:pPr marL="0" indent="0" algn="l">
              <a:buNone/>
            </a:pPr>
            <a:r>
              <a:rPr lang="en-US" sz="3000" b="1" dirty="0">
                <a:solidFill>
                  <a:srgbClr val="1E2761"/>
                </a:solidFill>
              </a:rPr>
              <a:t>Introduction &amp; Project Overview</a:t>
            </a:r>
            <a:endParaRPr lang="en-US" sz="3000" dirty="0"/>
          </a:p>
        </p:txBody>
      </p:sp>
      <p:sp>
        <p:nvSpPr>
          <p:cNvPr id="4" name="Text 2"/>
          <p:cNvSpPr/>
          <p:nvPr/>
        </p:nvSpPr>
        <p:spPr>
          <a:xfrm>
            <a:off x="457200" y="713232"/>
            <a:ext cx="8229600" cy="274320"/>
          </a:xfrm>
          <a:prstGeom prst="rect">
            <a:avLst/>
          </a:prstGeom>
          <a:noFill/>
          <a:ln/>
        </p:spPr>
        <p:txBody>
          <a:bodyPr wrap="square" rtlCol="0" anchor="ctr"/>
          <a:lstStyle/>
          <a:p>
            <a:pPr marL="0" indent="0" algn="l">
              <a:buNone/>
            </a:pPr>
            <a:r>
              <a:rPr lang="en-US" sz="1300" i="1" dirty="0">
                <a:solidFill>
                  <a:srgbClr val="028090"/>
                </a:solidFill>
              </a:rPr>
              <a:t>Why targeted discounting matters</a:t>
            </a:r>
            <a:endParaRPr lang="en-US" sz="1300" dirty="0"/>
          </a:p>
        </p:txBody>
      </p:sp>
      <p:sp>
        <p:nvSpPr>
          <p:cNvPr id="5" name="Shape 3"/>
          <p:cNvSpPr/>
          <p:nvPr/>
        </p:nvSpPr>
        <p:spPr>
          <a:xfrm>
            <a:off x="457200" y="1005840"/>
            <a:ext cx="5303520" cy="1783080"/>
          </a:xfrm>
          <a:prstGeom prst="rect">
            <a:avLst/>
          </a:prstGeom>
          <a:solidFill>
            <a:srgbClr val="FFFFFF"/>
          </a:solidFill>
          <a:ln w="12700">
            <a:solidFill>
              <a:srgbClr val="CADCFC"/>
            </a:solidFill>
            <a:prstDash val="solid"/>
          </a:ln>
          <a:effectLst>
            <a:outerShdw blurRad="101600" dist="38100" dir="8100000" algn="bl" rotWithShape="0">
              <a:srgbClr val="1E2761">
                <a:alpha val="15000"/>
              </a:srgbClr>
            </a:outerShdw>
          </a:effectLst>
        </p:spPr>
        <p:txBody>
          <a:bodyPr/>
          <a:lstStyle/>
          <a:p>
            <a:endParaRPr lang="en-US"/>
          </a:p>
        </p:txBody>
      </p:sp>
      <p:sp>
        <p:nvSpPr>
          <p:cNvPr id="6" name="Shape 4"/>
          <p:cNvSpPr/>
          <p:nvPr/>
        </p:nvSpPr>
        <p:spPr>
          <a:xfrm>
            <a:off x="457200" y="1005840"/>
            <a:ext cx="109728" cy="1783080"/>
          </a:xfrm>
          <a:prstGeom prst="rect">
            <a:avLst/>
          </a:prstGeom>
          <a:solidFill>
            <a:srgbClr val="028090"/>
          </a:solidFill>
          <a:ln w="12700">
            <a:solidFill>
              <a:srgbClr val="028090"/>
            </a:solidFill>
            <a:prstDash val="solid"/>
          </a:ln>
        </p:spPr>
        <p:txBody>
          <a:bodyPr/>
          <a:lstStyle/>
          <a:p>
            <a:endParaRPr lang="en-US"/>
          </a:p>
        </p:txBody>
      </p:sp>
      <p:sp>
        <p:nvSpPr>
          <p:cNvPr id="7" name="Text 5"/>
          <p:cNvSpPr/>
          <p:nvPr/>
        </p:nvSpPr>
        <p:spPr>
          <a:xfrm>
            <a:off x="658368" y="1051560"/>
            <a:ext cx="4937760" cy="347472"/>
          </a:xfrm>
          <a:prstGeom prst="rect">
            <a:avLst/>
          </a:prstGeom>
          <a:noFill/>
          <a:ln/>
        </p:spPr>
        <p:txBody>
          <a:bodyPr wrap="square" rtlCol="0" anchor="ctr"/>
          <a:lstStyle/>
          <a:p>
            <a:pPr marL="0" indent="0" algn="l">
              <a:buNone/>
            </a:pPr>
            <a:r>
              <a:rPr lang="en-US" sz="1500" b="1" dirty="0">
                <a:solidFill>
                  <a:srgbClr val="028090"/>
                </a:solidFill>
              </a:rPr>
              <a:t>The Problem</a:t>
            </a:r>
            <a:endParaRPr lang="en-US" sz="1500" dirty="0"/>
          </a:p>
        </p:txBody>
      </p:sp>
      <p:sp>
        <p:nvSpPr>
          <p:cNvPr id="8" name="Text 6"/>
          <p:cNvSpPr/>
          <p:nvPr/>
        </p:nvSpPr>
        <p:spPr>
          <a:xfrm>
            <a:off x="658368" y="1417320"/>
            <a:ext cx="4937760" cy="1188720"/>
          </a:xfrm>
          <a:prstGeom prst="rect">
            <a:avLst/>
          </a:prstGeom>
          <a:noFill/>
          <a:ln/>
        </p:spPr>
        <p:txBody>
          <a:bodyPr wrap="square" rtlCol="0" anchor="ctr"/>
          <a:lstStyle/>
          <a:p>
            <a:pPr marL="0" indent="0" algn="l">
              <a:buNone/>
            </a:pPr>
            <a:r>
              <a:rPr lang="en-US" sz="1300" dirty="0">
                <a:solidFill>
                  <a:srgbClr val="334155"/>
                </a:solidFill>
              </a:rPr>
              <a:t>Uniform discounts are inefficient — some customers buy regardless of promotions while others are highly price-sensitive. Blanket discounting erodes profit margins without proportional business value.</a:t>
            </a:r>
            <a:endParaRPr lang="en-US" sz="1300" dirty="0"/>
          </a:p>
        </p:txBody>
      </p:sp>
      <p:sp>
        <p:nvSpPr>
          <p:cNvPr id="9" name="Shape 7"/>
          <p:cNvSpPr/>
          <p:nvPr/>
        </p:nvSpPr>
        <p:spPr>
          <a:xfrm>
            <a:off x="457200" y="2926080"/>
            <a:ext cx="5303520" cy="1417320"/>
          </a:xfrm>
          <a:prstGeom prst="rect">
            <a:avLst/>
          </a:prstGeom>
          <a:solidFill>
            <a:srgbClr val="1E2761"/>
          </a:solidFill>
          <a:ln w="12700">
            <a:solidFill>
              <a:srgbClr val="1E2761"/>
            </a:solidFill>
            <a:prstDash val="solid"/>
          </a:ln>
          <a:effectLst>
            <a:outerShdw blurRad="101600" dist="38100" dir="8100000" algn="bl" rotWithShape="0">
              <a:srgbClr val="1E2761">
                <a:alpha val="15000"/>
              </a:srgbClr>
            </a:outerShdw>
          </a:effectLst>
        </p:spPr>
        <p:txBody>
          <a:bodyPr/>
          <a:lstStyle/>
          <a:p>
            <a:endParaRPr lang="en-US"/>
          </a:p>
        </p:txBody>
      </p:sp>
      <p:sp>
        <p:nvSpPr>
          <p:cNvPr id="10" name="Text 8"/>
          <p:cNvSpPr/>
          <p:nvPr/>
        </p:nvSpPr>
        <p:spPr>
          <a:xfrm>
            <a:off x="640080" y="2990088"/>
            <a:ext cx="5029200" cy="347472"/>
          </a:xfrm>
          <a:prstGeom prst="rect">
            <a:avLst/>
          </a:prstGeom>
          <a:noFill/>
          <a:ln/>
        </p:spPr>
        <p:txBody>
          <a:bodyPr wrap="square" rtlCol="0" anchor="ctr"/>
          <a:lstStyle/>
          <a:p>
            <a:pPr marL="0" indent="0" algn="l">
              <a:buNone/>
            </a:pPr>
            <a:r>
              <a:rPr lang="en-US" sz="1500" b="1" dirty="0">
                <a:solidFill>
                  <a:srgbClr val="02C39A"/>
                </a:solidFill>
              </a:rPr>
              <a:t>Our Solution</a:t>
            </a:r>
            <a:endParaRPr lang="en-US" sz="1500" dirty="0"/>
          </a:p>
        </p:txBody>
      </p:sp>
      <p:sp>
        <p:nvSpPr>
          <p:cNvPr id="11" name="Text 9"/>
          <p:cNvSpPr/>
          <p:nvPr/>
        </p:nvSpPr>
        <p:spPr>
          <a:xfrm>
            <a:off x="640080" y="3337560"/>
            <a:ext cx="5029200" cy="914400"/>
          </a:xfrm>
          <a:prstGeom prst="rect">
            <a:avLst/>
          </a:prstGeom>
          <a:noFill/>
          <a:ln/>
        </p:spPr>
        <p:txBody>
          <a:bodyPr wrap="square" rtlCol="0" anchor="ctr"/>
          <a:lstStyle/>
          <a:p>
            <a:pPr marL="0" indent="0" algn="l">
              <a:buNone/>
            </a:pPr>
            <a:r>
              <a:rPr lang="en-US" sz="1300" dirty="0">
                <a:solidFill>
                  <a:srgbClr val="FFFFFF"/>
                </a:solidFill>
              </a:rPr>
              <a:t>A Smart Discount Targeting System using data mining on the Olist Brazilian E-Commerce dataset. The system classifies customers into actionable discount tiers using clustering, association rule mining, and predictive modelling.</a:t>
            </a:r>
            <a:endParaRPr lang="en-US" sz="1300" dirty="0"/>
          </a:p>
        </p:txBody>
      </p:sp>
      <p:sp>
        <p:nvSpPr>
          <p:cNvPr id="12" name="Shape 10"/>
          <p:cNvSpPr/>
          <p:nvPr/>
        </p:nvSpPr>
        <p:spPr>
          <a:xfrm>
            <a:off x="6035040" y="1005840"/>
            <a:ext cx="2743200" cy="3337560"/>
          </a:xfrm>
          <a:prstGeom prst="rect">
            <a:avLst/>
          </a:prstGeom>
          <a:solidFill>
            <a:srgbClr val="028090"/>
          </a:solidFill>
          <a:ln w="12700">
            <a:solidFill>
              <a:srgbClr val="028090"/>
            </a:solidFill>
            <a:prstDash val="solid"/>
          </a:ln>
          <a:effectLst>
            <a:outerShdw blurRad="101600" dist="38100" dir="8100000" algn="bl" rotWithShape="0">
              <a:srgbClr val="1E2761">
                <a:alpha val="15000"/>
              </a:srgbClr>
            </a:outerShdw>
          </a:effectLst>
        </p:spPr>
        <p:txBody>
          <a:bodyPr/>
          <a:lstStyle/>
          <a:p>
            <a:endParaRPr lang="en-US"/>
          </a:p>
        </p:txBody>
      </p:sp>
      <p:sp>
        <p:nvSpPr>
          <p:cNvPr id="13" name="Text 11"/>
          <p:cNvSpPr/>
          <p:nvPr/>
        </p:nvSpPr>
        <p:spPr>
          <a:xfrm>
            <a:off x="6126480" y="1115568"/>
            <a:ext cx="2560320" cy="365760"/>
          </a:xfrm>
          <a:prstGeom prst="rect">
            <a:avLst/>
          </a:prstGeom>
          <a:noFill/>
          <a:ln/>
        </p:spPr>
        <p:txBody>
          <a:bodyPr wrap="square" rtlCol="0" anchor="ctr"/>
          <a:lstStyle/>
          <a:p>
            <a:pPr marL="0" indent="0" algn="ctr">
              <a:buNone/>
            </a:pPr>
            <a:r>
              <a:rPr lang="en-US" sz="1300" b="1" dirty="0">
                <a:solidFill>
                  <a:srgbClr val="FFFFFF"/>
                </a:solidFill>
              </a:rPr>
              <a:t>Research Question</a:t>
            </a:r>
            <a:endParaRPr lang="en-US" sz="1300" dirty="0"/>
          </a:p>
        </p:txBody>
      </p:sp>
      <p:sp>
        <p:nvSpPr>
          <p:cNvPr id="14" name="Text 12"/>
          <p:cNvSpPr/>
          <p:nvPr/>
        </p:nvSpPr>
        <p:spPr>
          <a:xfrm>
            <a:off x="6144768" y="1554480"/>
            <a:ext cx="2542032" cy="1554480"/>
          </a:xfrm>
          <a:prstGeom prst="rect">
            <a:avLst/>
          </a:prstGeom>
          <a:noFill/>
          <a:ln/>
        </p:spPr>
        <p:txBody>
          <a:bodyPr wrap="square" rtlCol="0" anchor="ctr"/>
          <a:lstStyle/>
          <a:p>
            <a:pPr marL="0" indent="0" algn="ctr">
              <a:buNone/>
            </a:pPr>
            <a:r>
              <a:rPr lang="en-US" sz="1300" i="1" dirty="0">
                <a:solidFill>
                  <a:srgbClr val="FFFFFF"/>
                </a:solidFill>
              </a:rPr>
              <a:t>How can data mining techniques identify customer discount sensitivity and recommend suitable discount tiers based on purchasing behaviour?</a:t>
            </a:r>
            <a:endParaRPr lang="en-US" sz="1300" dirty="0"/>
          </a:p>
        </p:txBody>
      </p:sp>
      <p:sp>
        <p:nvSpPr>
          <p:cNvPr id="15" name="Shape 13"/>
          <p:cNvSpPr/>
          <p:nvPr/>
        </p:nvSpPr>
        <p:spPr>
          <a:xfrm>
            <a:off x="6126480" y="3218688"/>
            <a:ext cx="2560320" cy="36576"/>
          </a:xfrm>
          <a:prstGeom prst="rect">
            <a:avLst/>
          </a:prstGeom>
          <a:solidFill>
            <a:srgbClr val="02C39A"/>
          </a:solidFill>
          <a:ln w="12700">
            <a:solidFill>
              <a:srgbClr val="02C39A"/>
            </a:solidFill>
            <a:prstDash val="solid"/>
          </a:ln>
        </p:spPr>
        <p:txBody>
          <a:bodyPr/>
          <a:lstStyle/>
          <a:p>
            <a:endParaRPr lang="en-US"/>
          </a:p>
        </p:txBody>
      </p:sp>
      <p:sp>
        <p:nvSpPr>
          <p:cNvPr id="16" name="Text 14"/>
          <p:cNvSpPr/>
          <p:nvPr/>
        </p:nvSpPr>
        <p:spPr>
          <a:xfrm>
            <a:off x="6126480" y="3310128"/>
            <a:ext cx="2560320" cy="777240"/>
          </a:xfrm>
          <a:prstGeom prst="rect">
            <a:avLst/>
          </a:prstGeom>
          <a:noFill/>
          <a:ln/>
        </p:spPr>
        <p:txBody>
          <a:bodyPr wrap="square" rtlCol="0" anchor="ctr"/>
          <a:lstStyle/>
          <a:p>
            <a:pPr marL="0" indent="0" algn="ctr">
              <a:buNone/>
            </a:pPr>
            <a:r>
              <a:rPr lang="en-US" sz="1300" dirty="0">
                <a:solidFill>
                  <a:srgbClr val="CADCFC"/>
                </a:solidFill>
              </a:rPr>
              <a:t>Olist Dataset</a:t>
            </a:r>
            <a:endParaRPr lang="en-US" sz="1300" dirty="0"/>
          </a:p>
          <a:p>
            <a:pPr marL="0" indent="0" algn="ctr">
              <a:buNone/>
            </a:pPr>
            <a:r>
              <a:rPr lang="en-US" sz="1300" dirty="0">
                <a:solidFill>
                  <a:srgbClr val="CADCFC"/>
                </a:solidFill>
              </a:rPr>
              <a:t>99,441 Customers</a:t>
            </a:r>
            <a:endParaRPr lang="en-US" sz="1300" dirty="0"/>
          </a:p>
          <a:p>
            <a:pPr marL="0" indent="0" algn="ctr">
              <a:buNone/>
            </a:pPr>
            <a:r>
              <a:rPr lang="en-US" sz="1300" dirty="0">
                <a:solidFill>
                  <a:srgbClr val="CADCFC"/>
                </a:solidFill>
              </a:rPr>
              <a:t>2016–2018</a:t>
            </a:r>
            <a:endParaRPr lang="en-US" sz="1300" dirty="0"/>
          </a:p>
        </p:txBody>
      </p:sp>
      <p:sp>
        <p:nvSpPr>
          <p:cNvPr id="17" name="Shape 15"/>
          <p:cNvSpPr/>
          <p:nvPr/>
        </p:nvSpPr>
        <p:spPr>
          <a:xfrm>
            <a:off x="0" y="4869180"/>
            <a:ext cx="9144000" cy="274320"/>
          </a:xfrm>
          <a:prstGeom prst="rect">
            <a:avLst/>
          </a:prstGeom>
          <a:solidFill>
            <a:srgbClr val="1E2761"/>
          </a:solidFill>
          <a:ln w="12700">
            <a:solidFill>
              <a:srgbClr val="1E2761"/>
            </a:solidFill>
            <a:prstDash val="solid"/>
          </a:ln>
        </p:spPr>
        <p:txBody>
          <a:bodyPr/>
          <a:lstStyle/>
          <a:p>
            <a:endParaRPr lang="en-US"/>
          </a:p>
        </p:txBody>
      </p:sp>
      <p:sp>
        <p:nvSpPr>
          <p:cNvPr id="18" name="Text 16"/>
          <p:cNvSpPr/>
          <p:nvPr/>
        </p:nvSpPr>
        <p:spPr>
          <a:xfrm>
            <a:off x="0" y="4869180"/>
            <a:ext cx="9144000" cy="274320"/>
          </a:xfrm>
          <a:prstGeom prst="rect">
            <a:avLst/>
          </a:prstGeom>
          <a:noFill/>
          <a:ln/>
        </p:spPr>
        <p:txBody>
          <a:bodyPr wrap="square" lIns="0" tIns="0" rIns="0" bIns="0" rtlCol="0" anchor="ctr"/>
          <a:lstStyle/>
          <a:p>
            <a:pPr marL="0" indent="0" algn="ctr">
              <a:buNone/>
            </a:pPr>
            <a:r>
              <a:rPr lang="en-US" sz="900" dirty="0">
                <a:solidFill>
                  <a:srgbClr val="CADCFC"/>
                </a:solidFill>
              </a:rPr>
              <a:t>Smart Discount Targeting System  |  NUCES CS3005  |  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28090"/>
          </a:solidFill>
          <a:ln w="12700">
            <a:solidFill>
              <a:srgbClr val="028090"/>
            </a:solidFill>
            <a:prstDash val="solid"/>
          </a:ln>
        </p:spPr>
        <p:txBody>
          <a:bodyPr/>
          <a:lstStyle/>
          <a:p>
            <a:endParaRPr lang="en-US"/>
          </a:p>
        </p:txBody>
      </p:sp>
      <p:sp>
        <p:nvSpPr>
          <p:cNvPr id="3" name="Text 1"/>
          <p:cNvSpPr/>
          <p:nvPr/>
        </p:nvSpPr>
        <p:spPr>
          <a:xfrm>
            <a:off x="457200" y="164592"/>
            <a:ext cx="7772400" cy="566928"/>
          </a:xfrm>
          <a:prstGeom prst="rect">
            <a:avLst/>
          </a:prstGeom>
          <a:noFill/>
          <a:ln/>
        </p:spPr>
        <p:txBody>
          <a:bodyPr wrap="square" rtlCol="0" anchor="ctr"/>
          <a:lstStyle/>
          <a:p>
            <a:pPr marL="0" indent="0" algn="l">
              <a:buNone/>
            </a:pPr>
            <a:r>
              <a:rPr lang="en-US" sz="3000" b="1" dirty="0">
                <a:solidFill>
                  <a:srgbClr val="1E2761"/>
                </a:solidFill>
              </a:rPr>
              <a:t>Project Objectives</a:t>
            </a:r>
            <a:endParaRPr lang="en-US" sz="3000" dirty="0"/>
          </a:p>
        </p:txBody>
      </p:sp>
      <p:sp>
        <p:nvSpPr>
          <p:cNvPr id="4" name="Text 2"/>
          <p:cNvSpPr/>
          <p:nvPr/>
        </p:nvSpPr>
        <p:spPr>
          <a:xfrm>
            <a:off x="457200" y="713232"/>
            <a:ext cx="8229600" cy="274320"/>
          </a:xfrm>
          <a:prstGeom prst="rect">
            <a:avLst/>
          </a:prstGeom>
          <a:noFill/>
          <a:ln/>
        </p:spPr>
        <p:txBody>
          <a:bodyPr wrap="square" rtlCol="0" anchor="ctr"/>
          <a:lstStyle/>
          <a:p>
            <a:pPr marL="0" indent="0" algn="l">
              <a:buNone/>
            </a:pPr>
            <a:r>
              <a:rPr lang="en-US" sz="1300" i="1" dirty="0">
                <a:solidFill>
                  <a:srgbClr val="028090"/>
                </a:solidFill>
              </a:rPr>
              <a:t>Six core goals driving the system</a:t>
            </a:r>
            <a:endParaRPr lang="en-US" sz="1300" dirty="0"/>
          </a:p>
        </p:txBody>
      </p:sp>
      <p:sp>
        <p:nvSpPr>
          <p:cNvPr id="5" name="Shape 3"/>
          <p:cNvSpPr/>
          <p:nvPr/>
        </p:nvSpPr>
        <p:spPr>
          <a:xfrm>
            <a:off x="457200" y="1051560"/>
            <a:ext cx="4114800" cy="1097280"/>
          </a:xfrm>
          <a:prstGeom prst="rect">
            <a:avLst/>
          </a:prstGeom>
          <a:solidFill>
            <a:srgbClr val="FFFFFF"/>
          </a:solidFill>
          <a:ln w="12700">
            <a:solidFill>
              <a:srgbClr val="CADCFC"/>
            </a:solidFill>
            <a:prstDash val="solid"/>
          </a:ln>
          <a:effectLst>
            <a:outerShdw blurRad="101600" dist="38100" dir="8100000" algn="bl" rotWithShape="0">
              <a:srgbClr val="1E2761">
                <a:alpha val="15000"/>
              </a:srgbClr>
            </a:outerShdw>
          </a:effectLst>
        </p:spPr>
        <p:txBody>
          <a:bodyPr/>
          <a:lstStyle/>
          <a:p>
            <a:endParaRPr lang="en-US"/>
          </a:p>
        </p:txBody>
      </p:sp>
      <p:sp>
        <p:nvSpPr>
          <p:cNvPr id="6" name="Shape 4"/>
          <p:cNvSpPr/>
          <p:nvPr/>
        </p:nvSpPr>
        <p:spPr>
          <a:xfrm>
            <a:off x="457200" y="1051560"/>
            <a:ext cx="621792" cy="1097280"/>
          </a:xfrm>
          <a:prstGeom prst="rect">
            <a:avLst/>
          </a:prstGeom>
          <a:solidFill>
            <a:srgbClr val="028090"/>
          </a:solidFill>
          <a:ln w="12700">
            <a:solidFill>
              <a:srgbClr val="028090"/>
            </a:solidFill>
            <a:prstDash val="solid"/>
          </a:ln>
        </p:spPr>
        <p:txBody>
          <a:bodyPr/>
          <a:lstStyle/>
          <a:p>
            <a:endParaRPr lang="en-US"/>
          </a:p>
        </p:txBody>
      </p:sp>
      <p:sp>
        <p:nvSpPr>
          <p:cNvPr id="7" name="Text 5"/>
          <p:cNvSpPr/>
          <p:nvPr/>
        </p:nvSpPr>
        <p:spPr>
          <a:xfrm>
            <a:off x="457200" y="1051560"/>
            <a:ext cx="621792" cy="1097280"/>
          </a:xfrm>
          <a:prstGeom prst="rect">
            <a:avLst/>
          </a:prstGeom>
          <a:noFill/>
          <a:ln/>
        </p:spPr>
        <p:txBody>
          <a:bodyPr wrap="square" lIns="0" tIns="0" rIns="0" bIns="0" rtlCol="0" anchor="ctr"/>
          <a:lstStyle/>
          <a:p>
            <a:pPr marL="0" indent="0" algn="ctr">
              <a:buNone/>
            </a:pPr>
            <a:r>
              <a:rPr lang="en-US" sz="1800" b="1" dirty="0">
                <a:solidFill>
                  <a:srgbClr val="FFFFFF"/>
                </a:solidFill>
              </a:rPr>
              <a:t>01</a:t>
            </a:r>
            <a:endParaRPr lang="en-US" sz="1800" dirty="0"/>
          </a:p>
        </p:txBody>
      </p:sp>
      <p:sp>
        <p:nvSpPr>
          <p:cNvPr id="8" name="Text 6"/>
          <p:cNvSpPr/>
          <p:nvPr/>
        </p:nvSpPr>
        <p:spPr>
          <a:xfrm>
            <a:off x="1170432" y="1188720"/>
            <a:ext cx="3291840" cy="822960"/>
          </a:xfrm>
          <a:prstGeom prst="rect">
            <a:avLst/>
          </a:prstGeom>
          <a:noFill/>
          <a:ln/>
        </p:spPr>
        <p:txBody>
          <a:bodyPr wrap="square" rtlCol="0" anchor="ctr"/>
          <a:lstStyle/>
          <a:p>
            <a:pPr marL="0" indent="0" algn="l">
              <a:buNone/>
            </a:pPr>
            <a:r>
              <a:rPr lang="en-US" sz="1300" dirty="0">
                <a:solidFill>
                  <a:srgbClr val="334155"/>
                </a:solidFill>
              </a:rPr>
              <a:t>Analyze customer purchasing behaviour from multi-table transactional e-commerce data</a:t>
            </a:r>
            <a:endParaRPr lang="en-US" sz="1300" dirty="0"/>
          </a:p>
        </p:txBody>
      </p:sp>
      <p:sp>
        <p:nvSpPr>
          <p:cNvPr id="9" name="Shape 7"/>
          <p:cNvSpPr/>
          <p:nvPr/>
        </p:nvSpPr>
        <p:spPr>
          <a:xfrm>
            <a:off x="4892040" y="1051560"/>
            <a:ext cx="4114800" cy="1097280"/>
          </a:xfrm>
          <a:prstGeom prst="rect">
            <a:avLst/>
          </a:prstGeom>
          <a:solidFill>
            <a:srgbClr val="FFFFFF"/>
          </a:solidFill>
          <a:ln w="12700">
            <a:solidFill>
              <a:srgbClr val="CADCFC"/>
            </a:solidFill>
            <a:prstDash val="solid"/>
          </a:ln>
          <a:effectLst>
            <a:outerShdw blurRad="101600" dist="38100" dir="8100000" algn="bl" rotWithShape="0">
              <a:srgbClr val="1E2761">
                <a:alpha val="15000"/>
              </a:srgbClr>
            </a:outerShdw>
          </a:effectLst>
        </p:spPr>
        <p:txBody>
          <a:bodyPr/>
          <a:lstStyle/>
          <a:p>
            <a:endParaRPr lang="en-US"/>
          </a:p>
        </p:txBody>
      </p:sp>
      <p:sp>
        <p:nvSpPr>
          <p:cNvPr id="10" name="Shape 8"/>
          <p:cNvSpPr/>
          <p:nvPr/>
        </p:nvSpPr>
        <p:spPr>
          <a:xfrm>
            <a:off x="4892040" y="1051560"/>
            <a:ext cx="621792" cy="1097280"/>
          </a:xfrm>
          <a:prstGeom prst="rect">
            <a:avLst/>
          </a:prstGeom>
          <a:solidFill>
            <a:srgbClr val="1E2761"/>
          </a:solidFill>
          <a:ln w="12700">
            <a:solidFill>
              <a:srgbClr val="1E2761"/>
            </a:solidFill>
            <a:prstDash val="solid"/>
          </a:ln>
        </p:spPr>
        <p:txBody>
          <a:bodyPr/>
          <a:lstStyle/>
          <a:p>
            <a:endParaRPr lang="en-US"/>
          </a:p>
        </p:txBody>
      </p:sp>
      <p:sp>
        <p:nvSpPr>
          <p:cNvPr id="11" name="Text 9"/>
          <p:cNvSpPr/>
          <p:nvPr/>
        </p:nvSpPr>
        <p:spPr>
          <a:xfrm>
            <a:off x="4892040" y="1051560"/>
            <a:ext cx="621792" cy="1097280"/>
          </a:xfrm>
          <a:prstGeom prst="rect">
            <a:avLst/>
          </a:prstGeom>
          <a:noFill/>
          <a:ln/>
        </p:spPr>
        <p:txBody>
          <a:bodyPr wrap="square" lIns="0" tIns="0" rIns="0" bIns="0" rtlCol="0" anchor="ctr"/>
          <a:lstStyle/>
          <a:p>
            <a:pPr marL="0" indent="0" algn="ctr">
              <a:buNone/>
            </a:pPr>
            <a:r>
              <a:rPr lang="en-US" sz="1800" b="1" dirty="0">
                <a:solidFill>
                  <a:srgbClr val="FFFFFF"/>
                </a:solidFill>
              </a:rPr>
              <a:t>02</a:t>
            </a:r>
            <a:endParaRPr lang="en-US" sz="1800" dirty="0"/>
          </a:p>
        </p:txBody>
      </p:sp>
      <p:sp>
        <p:nvSpPr>
          <p:cNvPr id="12" name="Text 10"/>
          <p:cNvSpPr/>
          <p:nvPr/>
        </p:nvSpPr>
        <p:spPr>
          <a:xfrm>
            <a:off x="5605272" y="1188720"/>
            <a:ext cx="3291840" cy="822960"/>
          </a:xfrm>
          <a:prstGeom prst="rect">
            <a:avLst/>
          </a:prstGeom>
          <a:noFill/>
          <a:ln/>
        </p:spPr>
        <p:txBody>
          <a:bodyPr wrap="square" rtlCol="0" anchor="ctr"/>
          <a:lstStyle/>
          <a:p>
            <a:pPr marL="0" indent="0" algn="l">
              <a:buNone/>
            </a:pPr>
            <a:r>
              <a:rPr lang="en-US" sz="1300" dirty="0">
                <a:solidFill>
                  <a:srgbClr val="334155"/>
                </a:solidFill>
              </a:rPr>
              <a:t>Engineer 25+ meaningful behavioral features capturing price sensitivity, recency &amp; payment patterns</a:t>
            </a:r>
            <a:endParaRPr lang="en-US" sz="1300" dirty="0"/>
          </a:p>
        </p:txBody>
      </p:sp>
      <p:sp>
        <p:nvSpPr>
          <p:cNvPr id="13" name="Shape 11"/>
          <p:cNvSpPr/>
          <p:nvPr/>
        </p:nvSpPr>
        <p:spPr>
          <a:xfrm>
            <a:off x="457200" y="2313432"/>
            <a:ext cx="4114800" cy="1097280"/>
          </a:xfrm>
          <a:prstGeom prst="rect">
            <a:avLst/>
          </a:prstGeom>
          <a:solidFill>
            <a:srgbClr val="FFFFFF"/>
          </a:solidFill>
          <a:ln w="12700">
            <a:solidFill>
              <a:srgbClr val="CADCFC"/>
            </a:solidFill>
            <a:prstDash val="solid"/>
          </a:ln>
          <a:effectLst>
            <a:outerShdw blurRad="101600" dist="38100" dir="8100000" algn="bl" rotWithShape="0">
              <a:srgbClr val="1E2761">
                <a:alpha val="15000"/>
              </a:srgbClr>
            </a:outerShdw>
          </a:effectLst>
        </p:spPr>
        <p:txBody>
          <a:bodyPr/>
          <a:lstStyle/>
          <a:p>
            <a:endParaRPr lang="en-US"/>
          </a:p>
        </p:txBody>
      </p:sp>
      <p:sp>
        <p:nvSpPr>
          <p:cNvPr id="14" name="Shape 12"/>
          <p:cNvSpPr/>
          <p:nvPr/>
        </p:nvSpPr>
        <p:spPr>
          <a:xfrm>
            <a:off x="457200" y="2313432"/>
            <a:ext cx="621792" cy="1097280"/>
          </a:xfrm>
          <a:prstGeom prst="rect">
            <a:avLst/>
          </a:prstGeom>
          <a:solidFill>
            <a:srgbClr val="028090"/>
          </a:solidFill>
          <a:ln w="12700">
            <a:solidFill>
              <a:srgbClr val="028090"/>
            </a:solidFill>
            <a:prstDash val="solid"/>
          </a:ln>
        </p:spPr>
        <p:txBody>
          <a:bodyPr/>
          <a:lstStyle/>
          <a:p>
            <a:endParaRPr lang="en-US"/>
          </a:p>
        </p:txBody>
      </p:sp>
      <p:sp>
        <p:nvSpPr>
          <p:cNvPr id="15" name="Text 13"/>
          <p:cNvSpPr/>
          <p:nvPr/>
        </p:nvSpPr>
        <p:spPr>
          <a:xfrm>
            <a:off x="457200" y="2313432"/>
            <a:ext cx="621792" cy="1097280"/>
          </a:xfrm>
          <a:prstGeom prst="rect">
            <a:avLst/>
          </a:prstGeom>
          <a:noFill/>
          <a:ln/>
        </p:spPr>
        <p:txBody>
          <a:bodyPr wrap="square" lIns="0" tIns="0" rIns="0" bIns="0" rtlCol="0" anchor="ctr"/>
          <a:lstStyle/>
          <a:p>
            <a:pPr marL="0" indent="0" algn="ctr">
              <a:buNone/>
            </a:pPr>
            <a:r>
              <a:rPr lang="en-US" sz="1800" b="1" dirty="0">
                <a:solidFill>
                  <a:srgbClr val="FFFFFF"/>
                </a:solidFill>
              </a:rPr>
              <a:t>03</a:t>
            </a:r>
            <a:endParaRPr lang="en-US" sz="1800" dirty="0"/>
          </a:p>
        </p:txBody>
      </p:sp>
      <p:sp>
        <p:nvSpPr>
          <p:cNvPr id="16" name="Text 14"/>
          <p:cNvSpPr/>
          <p:nvPr/>
        </p:nvSpPr>
        <p:spPr>
          <a:xfrm>
            <a:off x="1170432" y="2450592"/>
            <a:ext cx="3291840" cy="822960"/>
          </a:xfrm>
          <a:prstGeom prst="rect">
            <a:avLst/>
          </a:prstGeom>
          <a:noFill/>
          <a:ln/>
        </p:spPr>
        <p:txBody>
          <a:bodyPr wrap="square" rtlCol="0" anchor="ctr"/>
          <a:lstStyle/>
          <a:p>
            <a:pPr marL="0" indent="0" algn="l">
              <a:buNone/>
            </a:pPr>
            <a:r>
              <a:rPr lang="en-US" sz="1300" dirty="0">
                <a:solidFill>
                  <a:srgbClr val="334155"/>
                </a:solidFill>
              </a:rPr>
              <a:t>Segment customers into discount sensitivity groups using K-Means clustering</a:t>
            </a:r>
            <a:endParaRPr lang="en-US" sz="1300" dirty="0"/>
          </a:p>
        </p:txBody>
      </p:sp>
      <p:sp>
        <p:nvSpPr>
          <p:cNvPr id="17" name="Shape 15"/>
          <p:cNvSpPr/>
          <p:nvPr/>
        </p:nvSpPr>
        <p:spPr>
          <a:xfrm>
            <a:off x="4892040" y="2313432"/>
            <a:ext cx="4114800" cy="1097280"/>
          </a:xfrm>
          <a:prstGeom prst="rect">
            <a:avLst/>
          </a:prstGeom>
          <a:solidFill>
            <a:srgbClr val="FFFFFF"/>
          </a:solidFill>
          <a:ln w="12700">
            <a:solidFill>
              <a:srgbClr val="CADCFC"/>
            </a:solidFill>
            <a:prstDash val="solid"/>
          </a:ln>
          <a:effectLst>
            <a:outerShdw blurRad="101600" dist="38100" dir="8100000" algn="bl" rotWithShape="0">
              <a:srgbClr val="1E2761">
                <a:alpha val="15000"/>
              </a:srgbClr>
            </a:outerShdw>
          </a:effectLst>
        </p:spPr>
        <p:txBody>
          <a:bodyPr/>
          <a:lstStyle/>
          <a:p>
            <a:endParaRPr lang="en-US"/>
          </a:p>
        </p:txBody>
      </p:sp>
      <p:sp>
        <p:nvSpPr>
          <p:cNvPr id="18" name="Shape 16"/>
          <p:cNvSpPr/>
          <p:nvPr/>
        </p:nvSpPr>
        <p:spPr>
          <a:xfrm>
            <a:off x="4892040" y="2313432"/>
            <a:ext cx="621792" cy="1097280"/>
          </a:xfrm>
          <a:prstGeom prst="rect">
            <a:avLst/>
          </a:prstGeom>
          <a:solidFill>
            <a:srgbClr val="1E2761"/>
          </a:solidFill>
          <a:ln w="12700">
            <a:solidFill>
              <a:srgbClr val="1E2761"/>
            </a:solidFill>
            <a:prstDash val="solid"/>
          </a:ln>
        </p:spPr>
        <p:txBody>
          <a:bodyPr/>
          <a:lstStyle/>
          <a:p>
            <a:endParaRPr lang="en-US"/>
          </a:p>
        </p:txBody>
      </p:sp>
      <p:sp>
        <p:nvSpPr>
          <p:cNvPr id="19" name="Text 17"/>
          <p:cNvSpPr/>
          <p:nvPr/>
        </p:nvSpPr>
        <p:spPr>
          <a:xfrm>
            <a:off x="4892040" y="2313432"/>
            <a:ext cx="621792" cy="1097280"/>
          </a:xfrm>
          <a:prstGeom prst="rect">
            <a:avLst/>
          </a:prstGeom>
          <a:noFill/>
          <a:ln/>
        </p:spPr>
        <p:txBody>
          <a:bodyPr wrap="square" lIns="0" tIns="0" rIns="0" bIns="0" rtlCol="0" anchor="ctr"/>
          <a:lstStyle/>
          <a:p>
            <a:pPr marL="0" indent="0" algn="ctr">
              <a:buNone/>
            </a:pPr>
            <a:r>
              <a:rPr lang="en-US" sz="1800" b="1" dirty="0">
                <a:solidFill>
                  <a:srgbClr val="FFFFFF"/>
                </a:solidFill>
              </a:rPr>
              <a:t>04</a:t>
            </a:r>
            <a:endParaRPr lang="en-US" sz="1800" dirty="0"/>
          </a:p>
        </p:txBody>
      </p:sp>
      <p:sp>
        <p:nvSpPr>
          <p:cNvPr id="20" name="Text 18"/>
          <p:cNvSpPr/>
          <p:nvPr/>
        </p:nvSpPr>
        <p:spPr>
          <a:xfrm>
            <a:off x="5605272" y="2450592"/>
            <a:ext cx="3291840" cy="822960"/>
          </a:xfrm>
          <a:prstGeom prst="rect">
            <a:avLst/>
          </a:prstGeom>
          <a:noFill/>
          <a:ln/>
        </p:spPr>
        <p:txBody>
          <a:bodyPr wrap="square" rtlCol="0" anchor="ctr"/>
          <a:lstStyle/>
          <a:p>
            <a:pPr marL="0" indent="0" algn="l">
              <a:buNone/>
            </a:pPr>
            <a:r>
              <a:rPr lang="en-US" sz="1300" dirty="0">
                <a:solidFill>
                  <a:srgbClr val="334155"/>
                </a:solidFill>
              </a:rPr>
              <a:t>Apply association rule mining to discover product co-purchase patterns</a:t>
            </a:r>
            <a:endParaRPr lang="en-US" sz="1300" dirty="0"/>
          </a:p>
        </p:txBody>
      </p:sp>
      <p:sp>
        <p:nvSpPr>
          <p:cNvPr id="21" name="Shape 19"/>
          <p:cNvSpPr/>
          <p:nvPr/>
        </p:nvSpPr>
        <p:spPr>
          <a:xfrm>
            <a:off x="457200" y="3575304"/>
            <a:ext cx="4114800" cy="1097280"/>
          </a:xfrm>
          <a:prstGeom prst="rect">
            <a:avLst/>
          </a:prstGeom>
          <a:solidFill>
            <a:srgbClr val="FFFFFF"/>
          </a:solidFill>
          <a:ln w="12700">
            <a:solidFill>
              <a:srgbClr val="CADCFC"/>
            </a:solidFill>
            <a:prstDash val="solid"/>
          </a:ln>
          <a:effectLst>
            <a:outerShdw blurRad="101600" dist="38100" dir="8100000" algn="bl" rotWithShape="0">
              <a:srgbClr val="1E2761">
                <a:alpha val="15000"/>
              </a:srgbClr>
            </a:outerShdw>
          </a:effectLst>
        </p:spPr>
        <p:txBody>
          <a:bodyPr/>
          <a:lstStyle/>
          <a:p>
            <a:endParaRPr lang="en-US"/>
          </a:p>
        </p:txBody>
      </p:sp>
      <p:sp>
        <p:nvSpPr>
          <p:cNvPr id="22" name="Shape 20"/>
          <p:cNvSpPr/>
          <p:nvPr/>
        </p:nvSpPr>
        <p:spPr>
          <a:xfrm>
            <a:off x="457200" y="3575304"/>
            <a:ext cx="621792" cy="1097280"/>
          </a:xfrm>
          <a:prstGeom prst="rect">
            <a:avLst/>
          </a:prstGeom>
          <a:solidFill>
            <a:srgbClr val="028090"/>
          </a:solidFill>
          <a:ln w="12700">
            <a:solidFill>
              <a:srgbClr val="028090"/>
            </a:solidFill>
            <a:prstDash val="solid"/>
          </a:ln>
        </p:spPr>
        <p:txBody>
          <a:bodyPr/>
          <a:lstStyle/>
          <a:p>
            <a:endParaRPr lang="en-US"/>
          </a:p>
        </p:txBody>
      </p:sp>
      <p:sp>
        <p:nvSpPr>
          <p:cNvPr id="23" name="Text 21"/>
          <p:cNvSpPr/>
          <p:nvPr/>
        </p:nvSpPr>
        <p:spPr>
          <a:xfrm>
            <a:off x="457200" y="3575304"/>
            <a:ext cx="621792" cy="1097280"/>
          </a:xfrm>
          <a:prstGeom prst="rect">
            <a:avLst/>
          </a:prstGeom>
          <a:noFill/>
          <a:ln/>
        </p:spPr>
        <p:txBody>
          <a:bodyPr wrap="square" lIns="0" tIns="0" rIns="0" bIns="0" rtlCol="0" anchor="ctr"/>
          <a:lstStyle/>
          <a:p>
            <a:pPr marL="0" indent="0" algn="ctr">
              <a:buNone/>
            </a:pPr>
            <a:r>
              <a:rPr lang="en-US" sz="1800" b="1" dirty="0">
                <a:solidFill>
                  <a:srgbClr val="FFFFFF"/>
                </a:solidFill>
              </a:rPr>
              <a:t>05</a:t>
            </a:r>
            <a:endParaRPr lang="en-US" sz="1800" dirty="0"/>
          </a:p>
        </p:txBody>
      </p:sp>
      <p:sp>
        <p:nvSpPr>
          <p:cNvPr id="24" name="Text 22"/>
          <p:cNvSpPr/>
          <p:nvPr/>
        </p:nvSpPr>
        <p:spPr>
          <a:xfrm>
            <a:off x="1170432" y="3712464"/>
            <a:ext cx="3291840" cy="822960"/>
          </a:xfrm>
          <a:prstGeom prst="rect">
            <a:avLst/>
          </a:prstGeom>
          <a:noFill/>
          <a:ln/>
        </p:spPr>
        <p:txBody>
          <a:bodyPr wrap="square" rtlCol="0" anchor="ctr"/>
          <a:lstStyle/>
          <a:p>
            <a:pPr marL="0" indent="0" algn="l">
              <a:buNone/>
            </a:pPr>
            <a:r>
              <a:rPr lang="en-US" sz="1300" dirty="0">
                <a:solidFill>
                  <a:srgbClr val="334155"/>
                </a:solidFill>
              </a:rPr>
              <a:t>Build a predictive classification model to assign new customers to discount tiers</a:t>
            </a:r>
            <a:endParaRPr lang="en-US" sz="1300" dirty="0"/>
          </a:p>
        </p:txBody>
      </p:sp>
      <p:sp>
        <p:nvSpPr>
          <p:cNvPr id="25" name="Shape 23"/>
          <p:cNvSpPr/>
          <p:nvPr/>
        </p:nvSpPr>
        <p:spPr>
          <a:xfrm>
            <a:off x="4892040" y="3575304"/>
            <a:ext cx="4114800" cy="1097280"/>
          </a:xfrm>
          <a:prstGeom prst="rect">
            <a:avLst/>
          </a:prstGeom>
          <a:solidFill>
            <a:srgbClr val="FFFFFF"/>
          </a:solidFill>
          <a:ln w="12700">
            <a:solidFill>
              <a:srgbClr val="CADCFC"/>
            </a:solidFill>
            <a:prstDash val="solid"/>
          </a:ln>
          <a:effectLst>
            <a:outerShdw blurRad="101600" dist="38100" dir="8100000" algn="bl" rotWithShape="0">
              <a:srgbClr val="1E2761">
                <a:alpha val="15000"/>
              </a:srgbClr>
            </a:outerShdw>
          </a:effectLst>
        </p:spPr>
        <p:txBody>
          <a:bodyPr/>
          <a:lstStyle/>
          <a:p>
            <a:endParaRPr lang="en-US"/>
          </a:p>
        </p:txBody>
      </p:sp>
      <p:sp>
        <p:nvSpPr>
          <p:cNvPr id="26" name="Shape 24"/>
          <p:cNvSpPr/>
          <p:nvPr/>
        </p:nvSpPr>
        <p:spPr>
          <a:xfrm>
            <a:off x="4892040" y="3575304"/>
            <a:ext cx="621792" cy="1097280"/>
          </a:xfrm>
          <a:prstGeom prst="rect">
            <a:avLst/>
          </a:prstGeom>
          <a:solidFill>
            <a:srgbClr val="1E2761"/>
          </a:solidFill>
          <a:ln w="12700">
            <a:solidFill>
              <a:srgbClr val="1E2761"/>
            </a:solidFill>
            <a:prstDash val="solid"/>
          </a:ln>
        </p:spPr>
        <p:txBody>
          <a:bodyPr/>
          <a:lstStyle/>
          <a:p>
            <a:endParaRPr lang="en-US"/>
          </a:p>
        </p:txBody>
      </p:sp>
      <p:sp>
        <p:nvSpPr>
          <p:cNvPr id="27" name="Text 25"/>
          <p:cNvSpPr/>
          <p:nvPr/>
        </p:nvSpPr>
        <p:spPr>
          <a:xfrm>
            <a:off x="4892040" y="3575304"/>
            <a:ext cx="621792" cy="1097280"/>
          </a:xfrm>
          <a:prstGeom prst="rect">
            <a:avLst/>
          </a:prstGeom>
          <a:noFill/>
          <a:ln/>
        </p:spPr>
        <p:txBody>
          <a:bodyPr wrap="square" lIns="0" tIns="0" rIns="0" bIns="0" rtlCol="0" anchor="ctr"/>
          <a:lstStyle/>
          <a:p>
            <a:pPr marL="0" indent="0" algn="ctr">
              <a:buNone/>
            </a:pPr>
            <a:r>
              <a:rPr lang="en-US" sz="1800" b="1" dirty="0">
                <a:solidFill>
                  <a:srgbClr val="FFFFFF"/>
                </a:solidFill>
              </a:rPr>
              <a:t>06</a:t>
            </a:r>
            <a:endParaRPr lang="en-US" sz="1800" dirty="0"/>
          </a:p>
        </p:txBody>
      </p:sp>
      <p:sp>
        <p:nvSpPr>
          <p:cNvPr id="28" name="Text 26"/>
          <p:cNvSpPr/>
          <p:nvPr/>
        </p:nvSpPr>
        <p:spPr>
          <a:xfrm>
            <a:off x="5605272" y="3712464"/>
            <a:ext cx="3291840" cy="822960"/>
          </a:xfrm>
          <a:prstGeom prst="rect">
            <a:avLst/>
          </a:prstGeom>
          <a:noFill/>
          <a:ln/>
        </p:spPr>
        <p:txBody>
          <a:bodyPr wrap="square" rtlCol="0" anchor="ctr"/>
          <a:lstStyle/>
          <a:p>
            <a:pPr marL="0" indent="0" algn="l">
              <a:buNone/>
            </a:pPr>
            <a:r>
              <a:rPr lang="en-US" sz="1300" dirty="0">
                <a:solidFill>
                  <a:srgbClr val="334155"/>
                </a:solidFill>
              </a:rPr>
              <a:t>Develop an interactive Streamlit dashboard for real-time discount tier prediction</a:t>
            </a:r>
            <a:endParaRPr lang="en-US" sz="1300" dirty="0"/>
          </a:p>
        </p:txBody>
      </p:sp>
      <p:sp>
        <p:nvSpPr>
          <p:cNvPr id="29" name="Shape 27"/>
          <p:cNvSpPr/>
          <p:nvPr/>
        </p:nvSpPr>
        <p:spPr>
          <a:xfrm>
            <a:off x="0" y="4869180"/>
            <a:ext cx="9144000" cy="274320"/>
          </a:xfrm>
          <a:prstGeom prst="rect">
            <a:avLst/>
          </a:prstGeom>
          <a:solidFill>
            <a:srgbClr val="1E2761"/>
          </a:solidFill>
          <a:ln w="12700">
            <a:solidFill>
              <a:srgbClr val="1E2761"/>
            </a:solidFill>
            <a:prstDash val="solid"/>
          </a:ln>
        </p:spPr>
        <p:txBody>
          <a:bodyPr/>
          <a:lstStyle/>
          <a:p>
            <a:endParaRPr lang="en-US"/>
          </a:p>
        </p:txBody>
      </p:sp>
      <p:sp>
        <p:nvSpPr>
          <p:cNvPr id="30" name="Text 28"/>
          <p:cNvSpPr/>
          <p:nvPr/>
        </p:nvSpPr>
        <p:spPr>
          <a:xfrm>
            <a:off x="0" y="4869180"/>
            <a:ext cx="9144000" cy="274320"/>
          </a:xfrm>
          <a:prstGeom prst="rect">
            <a:avLst/>
          </a:prstGeom>
          <a:noFill/>
          <a:ln/>
        </p:spPr>
        <p:txBody>
          <a:bodyPr wrap="square" lIns="0" tIns="0" rIns="0" bIns="0" rtlCol="0" anchor="ctr"/>
          <a:lstStyle/>
          <a:p>
            <a:pPr marL="0" indent="0" algn="ctr">
              <a:buNone/>
            </a:pPr>
            <a:r>
              <a:rPr lang="en-US" sz="900" dirty="0">
                <a:solidFill>
                  <a:srgbClr val="CADCFC"/>
                </a:solidFill>
              </a:rPr>
              <a:t>Smart Discount Targeting System  |  NUCES CS3005  |  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28090"/>
          </a:solidFill>
          <a:ln w="12700">
            <a:solidFill>
              <a:srgbClr val="028090"/>
            </a:solidFill>
            <a:prstDash val="solid"/>
          </a:ln>
        </p:spPr>
        <p:txBody>
          <a:bodyPr/>
          <a:lstStyle/>
          <a:p>
            <a:endParaRPr lang="en-US"/>
          </a:p>
        </p:txBody>
      </p:sp>
      <p:sp>
        <p:nvSpPr>
          <p:cNvPr id="3" name="Text 1"/>
          <p:cNvSpPr/>
          <p:nvPr/>
        </p:nvSpPr>
        <p:spPr>
          <a:xfrm>
            <a:off x="457200" y="164592"/>
            <a:ext cx="7772400" cy="566928"/>
          </a:xfrm>
          <a:prstGeom prst="rect">
            <a:avLst/>
          </a:prstGeom>
          <a:noFill/>
          <a:ln/>
        </p:spPr>
        <p:txBody>
          <a:bodyPr wrap="square" rtlCol="0" anchor="ctr"/>
          <a:lstStyle/>
          <a:p>
            <a:pPr marL="0" indent="0" algn="l">
              <a:buNone/>
            </a:pPr>
            <a:r>
              <a:rPr lang="en-US" sz="3000" b="1" dirty="0">
                <a:solidFill>
                  <a:srgbClr val="1E2761"/>
                </a:solidFill>
              </a:rPr>
              <a:t>Dataset — Olist Brazilian E-Commerce</a:t>
            </a:r>
            <a:endParaRPr lang="en-US" sz="3000" dirty="0"/>
          </a:p>
        </p:txBody>
      </p:sp>
      <p:sp>
        <p:nvSpPr>
          <p:cNvPr id="4" name="Text 2"/>
          <p:cNvSpPr/>
          <p:nvPr/>
        </p:nvSpPr>
        <p:spPr>
          <a:xfrm>
            <a:off x="457200" y="713232"/>
            <a:ext cx="8229600" cy="274320"/>
          </a:xfrm>
          <a:prstGeom prst="rect">
            <a:avLst/>
          </a:prstGeom>
          <a:noFill/>
          <a:ln/>
        </p:spPr>
        <p:txBody>
          <a:bodyPr wrap="square" rtlCol="0" anchor="ctr"/>
          <a:lstStyle/>
          <a:p>
            <a:pPr marL="0" indent="0" algn="l">
              <a:buNone/>
            </a:pPr>
            <a:r>
              <a:rPr lang="en-US" sz="1300" i="1" dirty="0">
                <a:solidFill>
                  <a:srgbClr val="028090"/>
                </a:solidFill>
              </a:rPr>
              <a:t>Publicly available Kaggle dataset covering 2016–2018 transactions</a:t>
            </a:r>
            <a:endParaRPr lang="en-US" sz="13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57200" y="1051560"/>
          <a:ext cx="8229600" cy="2359152"/>
        </p:xfrm>
        <a:graphic>
          <a:graphicData uri="http://schemas.openxmlformats.org/drawingml/2006/table">
            <a:tbl>
              <a:tblPr/>
              <a:tblGrid>
                <a:gridCol w="2011680">
                  <a:extLst>
                    <a:ext uri="{9D8B030D-6E8A-4147-A177-3AD203B41FA5}">
                      <a16:colId xmlns:a16="http://schemas.microsoft.com/office/drawing/2014/main" val="20000"/>
                    </a:ext>
                  </a:extLst>
                </a:gridCol>
                <a:gridCol w="1645920">
                  <a:extLst>
                    <a:ext uri="{9D8B030D-6E8A-4147-A177-3AD203B41FA5}">
                      <a16:colId xmlns:a16="http://schemas.microsoft.com/office/drawing/2014/main" val="20001"/>
                    </a:ext>
                  </a:extLst>
                </a:gridCol>
                <a:gridCol w="4572000">
                  <a:extLst>
                    <a:ext uri="{9D8B030D-6E8A-4147-A177-3AD203B41FA5}">
                      <a16:colId xmlns:a16="http://schemas.microsoft.com/office/drawing/2014/main" val="20002"/>
                    </a:ext>
                  </a:extLst>
                </a:gridCol>
              </a:tblGrid>
              <a:tr h="393192">
                <a:tc>
                  <a:txBody>
                    <a:bodyPr/>
                    <a:lstStyle/>
                    <a:p>
                      <a:pPr marL="0" indent="0">
                        <a:buNone/>
                      </a:pPr>
                      <a:r>
                        <a:rPr lang="en-US" sz="1300" b="1" dirty="0">
                          <a:solidFill>
                            <a:srgbClr val="FFFFFF"/>
                          </a:solidFill>
                        </a:rPr>
                        <a:t>Table</a:t>
                      </a:r>
                      <a:endParaRPr lang="en-US" sz="1300" dirty="0"/>
                    </a:p>
                  </a:txBody>
                  <a:tcPr>
                    <a:lnL w="12700" cap="flat" cmpd="sng" algn="ctr">
                      <a:solidFill>
                        <a:srgbClr val="D1D9E6"/>
                      </a:solidFill>
                      <a:prstDash val="solid"/>
                      <a:round/>
                      <a:headEnd type="none" w="med" len="med"/>
                      <a:tailEnd type="none" w="med" len="med"/>
                    </a:lnL>
                    <a:lnR w="12700" cap="flat" cmpd="sng" algn="ctr">
                      <a:solidFill>
                        <a:srgbClr val="D1D9E6"/>
                      </a:solidFill>
                      <a:prstDash val="solid"/>
                      <a:round/>
                      <a:headEnd type="none" w="med" len="med"/>
                      <a:tailEnd type="none" w="med" len="med"/>
                    </a:lnR>
                    <a:lnT w="12700" cap="flat" cmpd="sng" algn="ctr">
                      <a:solidFill>
                        <a:srgbClr val="D1D9E6"/>
                      </a:solidFill>
                      <a:prstDash val="solid"/>
                      <a:round/>
                      <a:headEnd type="none" w="med" len="med"/>
                      <a:tailEnd type="none" w="med" len="med"/>
                    </a:lnT>
                    <a:lnB w="12700" cap="flat" cmpd="sng" algn="ctr">
                      <a:solidFill>
                        <a:srgbClr val="D1D9E6"/>
                      </a:solidFill>
                      <a:prstDash val="solid"/>
                      <a:round/>
                      <a:headEnd type="none" w="med" len="med"/>
                      <a:tailEnd type="none" w="med" len="med"/>
                    </a:lnB>
                    <a:solidFill>
                      <a:srgbClr val="1E2761"/>
                    </a:solidFill>
                  </a:tcPr>
                </a:tc>
                <a:tc>
                  <a:txBody>
                    <a:bodyPr/>
                    <a:lstStyle/>
                    <a:p>
                      <a:pPr marL="0" indent="0">
                        <a:buNone/>
                      </a:pPr>
                      <a:r>
                        <a:rPr lang="en-US" sz="1300" b="1" dirty="0">
                          <a:solidFill>
                            <a:srgbClr val="FFFFFF"/>
                          </a:solidFill>
                        </a:rPr>
                        <a:t>Records</a:t>
                      </a:r>
                      <a:endParaRPr lang="en-US" sz="1300" dirty="0"/>
                    </a:p>
                  </a:txBody>
                  <a:tcPr>
                    <a:lnL w="12700" cap="flat" cmpd="sng" algn="ctr">
                      <a:solidFill>
                        <a:srgbClr val="D1D9E6"/>
                      </a:solidFill>
                      <a:prstDash val="solid"/>
                      <a:round/>
                      <a:headEnd type="none" w="med" len="med"/>
                      <a:tailEnd type="none" w="med" len="med"/>
                    </a:lnL>
                    <a:lnR w="12700" cap="flat" cmpd="sng" algn="ctr">
                      <a:solidFill>
                        <a:srgbClr val="D1D9E6"/>
                      </a:solidFill>
                      <a:prstDash val="solid"/>
                      <a:round/>
                      <a:headEnd type="none" w="med" len="med"/>
                      <a:tailEnd type="none" w="med" len="med"/>
                    </a:lnR>
                    <a:lnT w="12700" cap="flat" cmpd="sng" algn="ctr">
                      <a:solidFill>
                        <a:srgbClr val="D1D9E6"/>
                      </a:solidFill>
                      <a:prstDash val="solid"/>
                      <a:round/>
                      <a:headEnd type="none" w="med" len="med"/>
                      <a:tailEnd type="none" w="med" len="med"/>
                    </a:lnT>
                    <a:lnB w="12700" cap="flat" cmpd="sng" algn="ctr">
                      <a:solidFill>
                        <a:srgbClr val="D1D9E6"/>
                      </a:solidFill>
                      <a:prstDash val="solid"/>
                      <a:round/>
                      <a:headEnd type="none" w="med" len="med"/>
                      <a:tailEnd type="none" w="med" len="med"/>
                    </a:lnB>
                    <a:solidFill>
                      <a:srgbClr val="1E2761"/>
                    </a:solidFill>
                  </a:tcPr>
                </a:tc>
                <a:tc>
                  <a:txBody>
                    <a:bodyPr/>
                    <a:lstStyle/>
                    <a:p>
                      <a:pPr marL="0" indent="0">
                        <a:buNone/>
                      </a:pPr>
                      <a:r>
                        <a:rPr lang="en-US" sz="1300" b="1" dirty="0">
                          <a:solidFill>
                            <a:srgbClr val="FFFFFF"/>
                          </a:solidFill>
                        </a:rPr>
                        <a:t>Key Information</a:t>
                      </a:r>
                      <a:endParaRPr lang="en-US" sz="1300" dirty="0"/>
                    </a:p>
                  </a:txBody>
                  <a:tcPr>
                    <a:lnL w="12700" cap="flat" cmpd="sng" algn="ctr">
                      <a:solidFill>
                        <a:srgbClr val="D1D9E6"/>
                      </a:solidFill>
                      <a:prstDash val="solid"/>
                      <a:round/>
                      <a:headEnd type="none" w="med" len="med"/>
                      <a:tailEnd type="none" w="med" len="med"/>
                    </a:lnL>
                    <a:lnR w="12700" cap="flat" cmpd="sng" algn="ctr">
                      <a:solidFill>
                        <a:srgbClr val="D1D9E6"/>
                      </a:solidFill>
                      <a:prstDash val="solid"/>
                      <a:round/>
                      <a:headEnd type="none" w="med" len="med"/>
                      <a:tailEnd type="none" w="med" len="med"/>
                    </a:lnR>
                    <a:lnT w="12700" cap="flat" cmpd="sng" algn="ctr">
                      <a:solidFill>
                        <a:srgbClr val="D1D9E6"/>
                      </a:solidFill>
                      <a:prstDash val="solid"/>
                      <a:round/>
                      <a:headEnd type="none" w="med" len="med"/>
                      <a:tailEnd type="none" w="med" len="med"/>
                    </a:lnT>
                    <a:lnB w="12700" cap="flat" cmpd="sng" algn="ctr">
                      <a:solidFill>
                        <a:srgbClr val="D1D9E6"/>
                      </a:solidFill>
                      <a:prstDash val="solid"/>
                      <a:round/>
                      <a:headEnd type="none" w="med" len="med"/>
                      <a:tailEnd type="none" w="med" len="med"/>
                    </a:lnB>
                    <a:solidFill>
                      <a:srgbClr val="1E2761"/>
                    </a:solidFill>
                  </a:tcPr>
                </a:tc>
                <a:extLst>
                  <a:ext uri="{0D108BD9-81ED-4DB2-BD59-A6C34878D82A}">
                    <a16:rowId xmlns:a16="http://schemas.microsoft.com/office/drawing/2014/main" val="10000"/>
                  </a:ext>
                </a:extLst>
              </a:tr>
              <a:tr h="393192">
                <a:tc>
                  <a:txBody>
                    <a:bodyPr/>
                    <a:lstStyle/>
                    <a:p>
                      <a:pPr marL="0" indent="0">
                        <a:buNone/>
                      </a:pPr>
                      <a:r>
                        <a:rPr lang="en-US" sz="1300" b="1" dirty="0">
                          <a:solidFill>
                            <a:srgbClr val="334155"/>
                          </a:solidFill>
                        </a:rPr>
                        <a:t>Customers</a:t>
                      </a:r>
                      <a:endParaRPr lang="en-US" sz="1300" dirty="0"/>
                    </a:p>
                  </a:txBody>
                  <a:tcPr>
                    <a:lnL w="12700" cap="flat" cmpd="sng" algn="ctr">
                      <a:solidFill>
                        <a:srgbClr val="D1D9E6"/>
                      </a:solidFill>
                      <a:prstDash val="solid"/>
                      <a:round/>
                      <a:headEnd type="none" w="med" len="med"/>
                      <a:tailEnd type="none" w="med" len="med"/>
                    </a:lnL>
                    <a:lnR w="12700" cap="flat" cmpd="sng" algn="ctr">
                      <a:solidFill>
                        <a:srgbClr val="D1D9E6"/>
                      </a:solidFill>
                      <a:prstDash val="solid"/>
                      <a:round/>
                      <a:headEnd type="none" w="med" len="med"/>
                      <a:tailEnd type="none" w="med" len="med"/>
                    </a:lnR>
                    <a:lnT w="12700" cap="flat" cmpd="sng" algn="ctr">
                      <a:solidFill>
                        <a:srgbClr val="D1D9E6"/>
                      </a:solidFill>
                      <a:prstDash val="solid"/>
                      <a:round/>
                      <a:headEnd type="none" w="med" len="med"/>
                      <a:tailEnd type="none" w="med" len="med"/>
                    </a:lnT>
                    <a:lnB w="12700" cap="flat" cmpd="sng" algn="ctr">
                      <a:solidFill>
                        <a:srgbClr val="D1D9E6"/>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rPr>
                        <a:t>99,441</a:t>
                      </a:r>
                      <a:endParaRPr lang="en-US" sz="1300" dirty="0"/>
                    </a:p>
                  </a:txBody>
                  <a:tcPr>
                    <a:lnL w="12700" cap="flat" cmpd="sng" algn="ctr">
                      <a:solidFill>
                        <a:srgbClr val="D1D9E6"/>
                      </a:solidFill>
                      <a:prstDash val="solid"/>
                      <a:round/>
                      <a:headEnd type="none" w="med" len="med"/>
                      <a:tailEnd type="none" w="med" len="med"/>
                    </a:lnL>
                    <a:lnR w="12700" cap="flat" cmpd="sng" algn="ctr">
                      <a:solidFill>
                        <a:srgbClr val="D1D9E6"/>
                      </a:solidFill>
                      <a:prstDash val="solid"/>
                      <a:round/>
                      <a:headEnd type="none" w="med" len="med"/>
                      <a:tailEnd type="none" w="med" len="med"/>
                    </a:lnR>
                    <a:lnT w="12700" cap="flat" cmpd="sng" algn="ctr">
                      <a:solidFill>
                        <a:srgbClr val="D1D9E6"/>
                      </a:solidFill>
                      <a:prstDash val="solid"/>
                      <a:round/>
                      <a:headEnd type="none" w="med" len="med"/>
                      <a:tailEnd type="none" w="med" len="med"/>
                    </a:lnT>
                    <a:lnB w="12700" cap="flat" cmpd="sng" algn="ctr">
                      <a:solidFill>
                        <a:srgbClr val="D1D9E6"/>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rPr>
                        <a:t>Customer IDs and location details</a:t>
                      </a:r>
                      <a:endParaRPr lang="en-US" sz="1300" dirty="0"/>
                    </a:p>
                  </a:txBody>
                  <a:tcPr>
                    <a:lnL w="12700" cap="flat" cmpd="sng" algn="ctr">
                      <a:solidFill>
                        <a:srgbClr val="D1D9E6"/>
                      </a:solidFill>
                      <a:prstDash val="solid"/>
                      <a:round/>
                      <a:headEnd type="none" w="med" len="med"/>
                      <a:tailEnd type="none" w="med" len="med"/>
                    </a:lnL>
                    <a:lnR w="12700" cap="flat" cmpd="sng" algn="ctr">
                      <a:solidFill>
                        <a:srgbClr val="D1D9E6"/>
                      </a:solidFill>
                      <a:prstDash val="solid"/>
                      <a:round/>
                      <a:headEnd type="none" w="med" len="med"/>
                      <a:tailEnd type="none" w="med" len="med"/>
                    </a:lnR>
                    <a:lnT w="12700" cap="flat" cmpd="sng" algn="ctr">
                      <a:solidFill>
                        <a:srgbClr val="D1D9E6"/>
                      </a:solidFill>
                      <a:prstDash val="solid"/>
                      <a:round/>
                      <a:headEnd type="none" w="med" len="med"/>
                      <a:tailEnd type="none" w="med" len="med"/>
                    </a:lnT>
                    <a:lnB w="12700" cap="flat" cmpd="sng" algn="ctr">
                      <a:solidFill>
                        <a:srgbClr val="D1D9E6"/>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93192">
                <a:tc>
                  <a:txBody>
                    <a:bodyPr/>
                    <a:lstStyle/>
                    <a:p>
                      <a:pPr marL="0" indent="0">
                        <a:buNone/>
                      </a:pPr>
                      <a:r>
                        <a:rPr lang="en-US" sz="1300" b="1" dirty="0">
                          <a:solidFill>
                            <a:srgbClr val="334155"/>
                          </a:solidFill>
                        </a:rPr>
                        <a:t>Orders</a:t>
                      </a:r>
                      <a:endParaRPr lang="en-US" sz="1300" dirty="0"/>
                    </a:p>
                  </a:txBody>
                  <a:tcPr>
                    <a:lnL w="12700" cap="flat" cmpd="sng" algn="ctr">
                      <a:solidFill>
                        <a:srgbClr val="D1D9E6"/>
                      </a:solidFill>
                      <a:prstDash val="solid"/>
                      <a:round/>
                      <a:headEnd type="none" w="med" len="med"/>
                      <a:tailEnd type="none" w="med" len="med"/>
                    </a:lnL>
                    <a:lnR w="12700" cap="flat" cmpd="sng" algn="ctr">
                      <a:solidFill>
                        <a:srgbClr val="D1D9E6"/>
                      </a:solidFill>
                      <a:prstDash val="solid"/>
                      <a:round/>
                      <a:headEnd type="none" w="med" len="med"/>
                      <a:tailEnd type="none" w="med" len="med"/>
                    </a:lnR>
                    <a:lnT w="12700" cap="flat" cmpd="sng" algn="ctr">
                      <a:solidFill>
                        <a:srgbClr val="D1D9E6"/>
                      </a:solidFill>
                      <a:prstDash val="solid"/>
                      <a:round/>
                      <a:headEnd type="none" w="med" len="med"/>
                      <a:tailEnd type="none" w="med" len="med"/>
                    </a:lnT>
                    <a:lnB w="12700" cap="flat" cmpd="sng" algn="ctr">
                      <a:solidFill>
                        <a:srgbClr val="D1D9E6"/>
                      </a:solidFill>
                      <a:prstDash val="solid"/>
                      <a:round/>
                      <a:headEnd type="none" w="med" len="med"/>
                      <a:tailEnd type="none" w="med" len="med"/>
                    </a:lnB>
                    <a:solidFill>
                      <a:srgbClr val="EEF3FA"/>
                    </a:solidFill>
                  </a:tcPr>
                </a:tc>
                <a:tc>
                  <a:txBody>
                    <a:bodyPr/>
                    <a:lstStyle/>
                    <a:p>
                      <a:pPr marL="0" indent="0">
                        <a:buNone/>
                      </a:pPr>
                      <a:r>
                        <a:rPr lang="en-US" sz="1300" dirty="0">
                          <a:solidFill>
                            <a:srgbClr val="334155"/>
                          </a:solidFill>
                        </a:rPr>
                        <a:t>99,441</a:t>
                      </a:r>
                      <a:endParaRPr lang="en-US" sz="1300" dirty="0"/>
                    </a:p>
                  </a:txBody>
                  <a:tcPr>
                    <a:lnL w="12700" cap="flat" cmpd="sng" algn="ctr">
                      <a:solidFill>
                        <a:srgbClr val="D1D9E6"/>
                      </a:solidFill>
                      <a:prstDash val="solid"/>
                      <a:round/>
                      <a:headEnd type="none" w="med" len="med"/>
                      <a:tailEnd type="none" w="med" len="med"/>
                    </a:lnL>
                    <a:lnR w="12700" cap="flat" cmpd="sng" algn="ctr">
                      <a:solidFill>
                        <a:srgbClr val="D1D9E6"/>
                      </a:solidFill>
                      <a:prstDash val="solid"/>
                      <a:round/>
                      <a:headEnd type="none" w="med" len="med"/>
                      <a:tailEnd type="none" w="med" len="med"/>
                    </a:lnR>
                    <a:lnT w="12700" cap="flat" cmpd="sng" algn="ctr">
                      <a:solidFill>
                        <a:srgbClr val="D1D9E6"/>
                      </a:solidFill>
                      <a:prstDash val="solid"/>
                      <a:round/>
                      <a:headEnd type="none" w="med" len="med"/>
                      <a:tailEnd type="none" w="med" len="med"/>
                    </a:lnT>
                    <a:lnB w="12700" cap="flat" cmpd="sng" algn="ctr">
                      <a:solidFill>
                        <a:srgbClr val="D1D9E6"/>
                      </a:solidFill>
                      <a:prstDash val="solid"/>
                      <a:round/>
                      <a:headEnd type="none" w="med" len="med"/>
                      <a:tailEnd type="none" w="med" len="med"/>
                    </a:lnB>
                    <a:solidFill>
                      <a:srgbClr val="EEF3FA"/>
                    </a:solidFill>
                  </a:tcPr>
                </a:tc>
                <a:tc>
                  <a:txBody>
                    <a:bodyPr/>
                    <a:lstStyle/>
                    <a:p>
                      <a:pPr marL="0" indent="0">
                        <a:buNone/>
                      </a:pPr>
                      <a:r>
                        <a:rPr lang="en-US" sz="1300" dirty="0">
                          <a:solidFill>
                            <a:srgbClr val="334155"/>
                          </a:solidFill>
                        </a:rPr>
                        <a:t>Order status and timestamps</a:t>
                      </a:r>
                      <a:endParaRPr lang="en-US" sz="1300" dirty="0"/>
                    </a:p>
                  </a:txBody>
                  <a:tcPr>
                    <a:lnL w="12700" cap="flat" cmpd="sng" algn="ctr">
                      <a:solidFill>
                        <a:srgbClr val="D1D9E6"/>
                      </a:solidFill>
                      <a:prstDash val="solid"/>
                      <a:round/>
                      <a:headEnd type="none" w="med" len="med"/>
                      <a:tailEnd type="none" w="med" len="med"/>
                    </a:lnL>
                    <a:lnR w="12700" cap="flat" cmpd="sng" algn="ctr">
                      <a:solidFill>
                        <a:srgbClr val="D1D9E6"/>
                      </a:solidFill>
                      <a:prstDash val="solid"/>
                      <a:round/>
                      <a:headEnd type="none" w="med" len="med"/>
                      <a:tailEnd type="none" w="med" len="med"/>
                    </a:lnR>
                    <a:lnT w="12700" cap="flat" cmpd="sng" algn="ctr">
                      <a:solidFill>
                        <a:srgbClr val="D1D9E6"/>
                      </a:solidFill>
                      <a:prstDash val="solid"/>
                      <a:round/>
                      <a:headEnd type="none" w="med" len="med"/>
                      <a:tailEnd type="none" w="med" len="med"/>
                    </a:lnT>
                    <a:lnB w="12700" cap="flat" cmpd="sng" algn="ctr">
                      <a:solidFill>
                        <a:srgbClr val="D1D9E6"/>
                      </a:solidFill>
                      <a:prstDash val="solid"/>
                      <a:round/>
                      <a:headEnd type="none" w="med" len="med"/>
                      <a:tailEnd type="none" w="med" len="med"/>
                    </a:lnB>
                    <a:solidFill>
                      <a:srgbClr val="EEF3FA"/>
                    </a:solidFill>
                  </a:tcPr>
                </a:tc>
                <a:extLst>
                  <a:ext uri="{0D108BD9-81ED-4DB2-BD59-A6C34878D82A}">
                    <a16:rowId xmlns:a16="http://schemas.microsoft.com/office/drawing/2014/main" val="10002"/>
                  </a:ext>
                </a:extLst>
              </a:tr>
              <a:tr h="393192">
                <a:tc>
                  <a:txBody>
                    <a:bodyPr/>
                    <a:lstStyle/>
                    <a:p>
                      <a:pPr marL="0" indent="0">
                        <a:buNone/>
                      </a:pPr>
                      <a:r>
                        <a:rPr lang="en-US" sz="1300" b="1" dirty="0">
                          <a:solidFill>
                            <a:srgbClr val="334155"/>
                          </a:solidFill>
                        </a:rPr>
                        <a:t>Order Items</a:t>
                      </a:r>
                      <a:endParaRPr lang="en-US" sz="1300" dirty="0"/>
                    </a:p>
                  </a:txBody>
                  <a:tcPr>
                    <a:lnL w="12700" cap="flat" cmpd="sng" algn="ctr">
                      <a:solidFill>
                        <a:srgbClr val="D1D9E6"/>
                      </a:solidFill>
                      <a:prstDash val="solid"/>
                      <a:round/>
                      <a:headEnd type="none" w="med" len="med"/>
                      <a:tailEnd type="none" w="med" len="med"/>
                    </a:lnL>
                    <a:lnR w="12700" cap="flat" cmpd="sng" algn="ctr">
                      <a:solidFill>
                        <a:srgbClr val="D1D9E6"/>
                      </a:solidFill>
                      <a:prstDash val="solid"/>
                      <a:round/>
                      <a:headEnd type="none" w="med" len="med"/>
                      <a:tailEnd type="none" w="med" len="med"/>
                    </a:lnR>
                    <a:lnT w="12700" cap="flat" cmpd="sng" algn="ctr">
                      <a:solidFill>
                        <a:srgbClr val="D1D9E6"/>
                      </a:solidFill>
                      <a:prstDash val="solid"/>
                      <a:round/>
                      <a:headEnd type="none" w="med" len="med"/>
                      <a:tailEnd type="none" w="med" len="med"/>
                    </a:lnT>
                    <a:lnB w="12700" cap="flat" cmpd="sng" algn="ctr">
                      <a:solidFill>
                        <a:srgbClr val="D1D9E6"/>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rPr>
                        <a:t>112,650</a:t>
                      </a:r>
                      <a:endParaRPr lang="en-US" sz="1300" dirty="0"/>
                    </a:p>
                  </a:txBody>
                  <a:tcPr>
                    <a:lnL w="12700" cap="flat" cmpd="sng" algn="ctr">
                      <a:solidFill>
                        <a:srgbClr val="D1D9E6"/>
                      </a:solidFill>
                      <a:prstDash val="solid"/>
                      <a:round/>
                      <a:headEnd type="none" w="med" len="med"/>
                      <a:tailEnd type="none" w="med" len="med"/>
                    </a:lnL>
                    <a:lnR w="12700" cap="flat" cmpd="sng" algn="ctr">
                      <a:solidFill>
                        <a:srgbClr val="D1D9E6"/>
                      </a:solidFill>
                      <a:prstDash val="solid"/>
                      <a:round/>
                      <a:headEnd type="none" w="med" len="med"/>
                      <a:tailEnd type="none" w="med" len="med"/>
                    </a:lnR>
                    <a:lnT w="12700" cap="flat" cmpd="sng" algn="ctr">
                      <a:solidFill>
                        <a:srgbClr val="D1D9E6"/>
                      </a:solidFill>
                      <a:prstDash val="solid"/>
                      <a:round/>
                      <a:headEnd type="none" w="med" len="med"/>
                      <a:tailEnd type="none" w="med" len="med"/>
                    </a:lnT>
                    <a:lnB w="12700" cap="flat" cmpd="sng" algn="ctr">
                      <a:solidFill>
                        <a:srgbClr val="D1D9E6"/>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rPr>
                        <a:t>Product-level price and quantity</a:t>
                      </a:r>
                      <a:endParaRPr lang="en-US" sz="1300" dirty="0"/>
                    </a:p>
                  </a:txBody>
                  <a:tcPr>
                    <a:lnL w="12700" cap="flat" cmpd="sng" algn="ctr">
                      <a:solidFill>
                        <a:srgbClr val="D1D9E6"/>
                      </a:solidFill>
                      <a:prstDash val="solid"/>
                      <a:round/>
                      <a:headEnd type="none" w="med" len="med"/>
                      <a:tailEnd type="none" w="med" len="med"/>
                    </a:lnL>
                    <a:lnR w="12700" cap="flat" cmpd="sng" algn="ctr">
                      <a:solidFill>
                        <a:srgbClr val="D1D9E6"/>
                      </a:solidFill>
                      <a:prstDash val="solid"/>
                      <a:round/>
                      <a:headEnd type="none" w="med" len="med"/>
                      <a:tailEnd type="none" w="med" len="med"/>
                    </a:lnR>
                    <a:lnT w="12700" cap="flat" cmpd="sng" algn="ctr">
                      <a:solidFill>
                        <a:srgbClr val="D1D9E6"/>
                      </a:solidFill>
                      <a:prstDash val="solid"/>
                      <a:round/>
                      <a:headEnd type="none" w="med" len="med"/>
                      <a:tailEnd type="none" w="med" len="med"/>
                    </a:lnT>
                    <a:lnB w="12700" cap="flat" cmpd="sng" algn="ctr">
                      <a:solidFill>
                        <a:srgbClr val="D1D9E6"/>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93192">
                <a:tc>
                  <a:txBody>
                    <a:bodyPr/>
                    <a:lstStyle/>
                    <a:p>
                      <a:pPr marL="0" indent="0">
                        <a:buNone/>
                      </a:pPr>
                      <a:r>
                        <a:rPr lang="en-US" sz="1300" b="1" dirty="0">
                          <a:solidFill>
                            <a:srgbClr val="334155"/>
                          </a:solidFill>
                        </a:rPr>
                        <a:t>Products</a:t>
                      </a:r>
                      <a:endParaRPr lang="en-US" sz="1300" dirty="0"/>
                    </a:p>
                  </a:txBody>
                  <a:tcPr>
                    <a:lnL w="12700" cap="flat" cmpd="sng" algn="ctr">
                      <a:solidFill>
                        <a:srgbClr val="D1D9E6"/>
                      </a:solidFill>
                      <a:prstDash val="solid"/>
                      <a:round/>
                      <a:headEnd type="none" w="med" len="med"/>
                      <a:tailEnd type="none" w="med" len="med"/>
                    </a:lnL>
                    <a:lnR w="12700" cap="flat" cmpd="sng" algn="ctr">
                      <a:solidFill>
                        <a:srgbClr val="D1D9E6"/>
                      </a:solidFill>
                      <a:prstDash val="solid"/>
                      <a:round/>
                      <a:headEnd type="none" w="med" len="med"/>
                      <a:tailEnd type="none" w="med" len="med"/>
                    </a:lnR>
                    <a:lnT w="12700" cap="flat" cmpd="sng" algn="ctr">
                      <a:solidFill>
                        <a:srgbClr val="D1D9E6"/>
                      </a:solidFill>
                      <a:prstDash val="solid"/>
                      <a:round/>
                      <a:headEnd type="none" w="med" len="med"/>
                      <a:tailEnd type="none" w="med" len="med"/>
                    </a:lnT>
                    <a:lnB w="12700" cap="flat" cmpd="sng" algn="ctr">
                      <a:solidFill>
                        <a:srgbClr val="D1D9E6"/>
                      </a:solidFill>
                      <a:prstDash val="solid"/>
                      <a:round/>
                      <a:headEnd type="none" w="med" len="med"/>
                      <a:tailEnd type="none" w="med" len="med"/>
                    </a:lnB>
                    <a:solidFill>
                      <a:srgbClr val="EEF3FA"/>
                    </a:solidFill>
                  </a:tcPr>
                </a:tc>
                <a:tc>
                  <a:txBody>
                    <a:bodyPr/>
                    <a:lstStyle/>
                    <a:p>
                      <a:pPr marL="0" indent="0">
                        <a:buNone/>
                      </a:pPr>
                      <a:r>
                        <a:rPr lang="en-US" sz="1300" dirty="0">
                          <a:solidFill>
                            <a:srgbClr val="334155"/>
                          </a:solidFill>
                        </a:rPr>
                        <a:t>32,951</a:t>
                      </a:r>
                      <a:endParaRPr lang="en-US" sz="1300" dirty="0"/>
                    </a:p>
                  </a:txBody>
                  <a:tcPr>
                    <a:lnL w="12700" cap="flat" cmpd="sng" algn="ctr">
                      <a:solidFill>
                        <a:srgbClr val="D1D9E6"/>
                      </a:solidFill>
                      <a:prstDash val="solid"/>
                      <a:round/>
                      <a:headEnd type="none" w="med" len="med"/>
                      <a:tailEnd type="none" w="med" len="med"/>
                    </a:lnL>
                    <a:lnR w="12700" cap="flat" cmpd="sng" algn="ctr">
                      <a:solidFill>
                        <a:srgbClr val="D1D9E6"/>
                      </a:solidFill>
                      <a:prstDash val="solid"/>
                      <a:round/>
                      <a:headEnd type="none" w="med" len="med"/>
                      <a:tailEnd type="none" w="med" len="med"/>
                    </a:lnR>
                    <a:lnT w="12700" cap="flat" cmpd="sng" algn="ctr">
                      <a:solidFill>
                        <a:srgbClr val="D1D9E6"/>
                      </a:solidFill>
                      <a:prstDash val="solid"/>
                      <a:round/>
                      <a:headEnd type="none" w="med" len="med"/>
                      <a:tailEnd type="none" w="med" len="med"/>
                    </a:lnT>
                    <a:lnB w="12700" cap="flat" cmpd="sng" algn="ctr">
                      <a:solidFill>
                        <a:srgbClr val="D1D9E6"/>
                      </a:solidFill>
                      <a:prstDash val="solid"/>
                      <a:round/>
                      <a:headEnd type="none" w="med" len="med"/>
                      <a:tailEnd type="none" w="med" len="med"/>
                    </a:lnB>
                    <a:solidFill>
                      <a:srgbClr val="EEF3FA"/>
                    </a:solidFill>
                  </a:tcPr>
                </a:tc>
                <a:tc>
                  <a:txBody>
                    <a:bodyPr/>
                    <a:lstStyle/>
                    <a:p>
                      <a:pPr marL="0" indent="0">
                        <a:buNone/>
                      </a:pPr>
                      <a:r>
                        <a:rPr lang="en-US" sz="1300" dirty="0">
                          <a:solidFill>
                            <a:srgbClr val="334155"/>
                          </a:solidFill>
                        </a:rPr>
                        <a:t>Category metadata</a:t>
                      </a:r>
                      <a:endParaRPr lang="en-US" sz="1300" dirty="0"/>
                    </a:p>
                  </a:txBody>
                  <a:tcPr>
                    <a:lnL w="12700" cap="flat" cmpd="sng" algn="ctr">
                      <a:solidFill>
                        <a:srgbClr val="D1D9E6"/>
                      </a:solidFill>
                      <a:prstDash val="solid"/>
                      <a:round/>
                      <a:headEnd type="none" w="med" len="med"/>
                      <a:tailEnd type="none" w="med" len="med"/>
                    </a:lnL>
                    <a:lnR w="12700" cap="flat" cmpd="sng" algn="ctr">
                      <a:solidFill>
                        <a:srgbClr val="D1D9E6"/>
                      </a:solidFill>
                      <a:prstDash val="solid"/>
                      <a:round/>
                      <a:headEnd type="none" w="med" len="med"/>
                      <a:tailEnd type="none" w="med" len="med"/>
                    </a:lnR>
                    <a:lnT w="12700" cap="flat" cmpd="sng" algn="ctr">
                      <a:solidFill>
                        <a:srgbClr val="D1D9E6"/>
                      </a:solidFill>
                      <a:prstDash val="solid"/>
                      <a:round/>
                      <a:headEnd type="none" w="med" len="med"/>
                      <a:tailEnd type="none" w="med" len="med"/>
                    </a:lnT>
                    <a:lnB w="12700" cap="flat" cmpd="sng" algn="ctr">
                      <a:solidFill>
                        <a:srgbClr val="D1D9E6"/>
                      </a:solidFill>
                      <a:prstDash val="solid"/>
                      <a:round/>
                      <a:headEnd type="none" w="med" len="med"/>
                      <a:tailEnd type="none" w="med" len="med"/>
                    </a:lnB>
                    <a:solidFill>
                      <a:srgbClr val="EEF3FA"/>
                    </a:solidFill>
                  </a:tcPr>
                </a:tc>
                <a:extLst>
                  <a:ext uri="{0D108BD9-81ED-4DB2-BD59-A6C34878D82A}">
                    <a16:rowId xmlns:a16="http://schemas.microsoft.com/office/drawing/2014/main" val="10004"/>
                  </a:ext>
                </a:extLst>
              </a:tr>
              <a:tr h="393192">
                <a:tc>
                  <a:txBody>
                    <a:bodyPr/>
                    <a:lstStyle/>
                    <a:p>
                      <a:pPr marL="0" indent="0">
                        <a:buNone/>
                      </a:pPr>
                      <a:r>
                        <a:rPr lang="en-US" sz="1300" b="1" dirty="0">
                          <a:solidFill>
                            <a:srgbClr val="334155"/>
                          </a:solidFill>
                        </a:rPr>
                        <a:t>Payments</a:t>
                      </a:r>
                      <a:endParaRPr lang="en-US" sz="1300" dirty="0"/>
                    </a:p>
                  </a:txBody>
                  <a:tcPr>
                    <a:lnL w="12700" cap="flat" cmpd="sng" algn="ctr">
                      <a:solidFill>
                        <a:srgbClr val="D1D9E6"/>
                      </a:solidFill>
                      <a:prstDash val="solid"/>
                      <a:round/>
                      <a:headEnd type="none" w="med" len="med"/>
                      <a:tailEnd type="none" w="med" len="med"/>
                    </a:lnL>
                    <a:lnR w="12700" cap="flat" cmpd="sng" algn="ctr">
                      <a:solidFill>
                        <a:srgbClr val="D1D9E6"/>
                      </a:solidFill>
                      <a:prstDash val="solid"/>
                      <a:round/>
                      <a:headEnd type="none" w="med" len="med"/>
                      <a:tailEnd type="none" w="med" len="med"/>
                    </a:lnR>
                    <a:lnT w="12700" cap="flat" cmpd="sng" algn="ctr">
                      <a:solidFill>
                        <a:srgbClr val="D1D9E6"/>
                      </a:solidFill>
                      <a:prstDash val="solid"/>
                      <a:round/>
                      <a:headEnd type="none" w="med" len="med"/>
                      <a:tailEnd type="none" w="med" len="med"/>
                    </a:lnT>
                    <a:lnB w="12700" cap="flat" cmpd="sng" algn="ctr">
                      <a:solidFill>
                        <a:srgbClr val="D1D9E6"/>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rPr>
                        <a:t>103,886</a:t>
                      </a:r>
                      <a:endParaRPr lang="en-US" sz="1300" dirty="0"/>
                    </a:p>
                  </a:txBody>
                  <a:tcPr>
                    <a:lnL w="12700" cap="flat" cmpd="sng" algn="ctr">
                      <a:solidFill>
                        <a:srgbClr val="D1D9E6"/>
                      </a:solidFill>
                      <a:prstDash val="solid"/>
                      <a:round/>
                      <a:headEnd type="none" w="med" len="med"/>
                      <a:tailEnd type="none" w="med" len="med"/>
                    </a:lnL>
                    <a:lnR w="12700" cap="flat" cmpd="sng" algn="ctr">
                      <a:solidFill>
                        <a:srgbClr val="D1D9E6"/>
                      </a:solidFill>
                      <a:prstDash val="solid"/>
                      <a:round/>
                      <a:headEnd type="none" w="med" len="med"/>
                      <a:tailEnd type="none" w="med" len="med"/>
                    </a:lnR>
                    <a:lnT w="12700" cap="flat" cmpd="sng" algn="ctr">
                      <a:solidFill>
                        <a:srgbClr val="D1D9E6"/>
                      </a:solidFill>
                      <a:prstDash val="solid"/>
                      <a:round/>
                      <a:headEnd type="none" w="med" len="med"/>
                      <a:tailEnd type="none" w="med" len="med"/>
                    </a:lnT>
                    <a:lnB w="12700" cap="flat" cmpd="sng" algn="ctr">
                      <a:solidFill>
                        <a:srgbClr val="D1D9E6"/>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rPr>
                        <a:t>Payment type and transaction values</a:t>
                      </a:r>
                      <a:endParaRPr lang="en-US" sz="1300" dirty="0"/>
                    </a:p>
                  </a:txBody>
                  <a:tcPr>
                    <a:lnL w="12700" cap="flat" cmpd="sng" algn="ctr">
                      <a:solidFill>
                        <a:srgbClr val="D1D9E6"/>
                      </a:solidFill>
                      <a:prstDash val="solid"/>
                      <a:round/>
                      <a:headEnd type="none" w="med" len="med"/>
                      <a:tailEnd type="none" w="med" len="med"/>
                    </a:lnL>
                    <a:lnR w="12700" cap="flat" cmpd="sng" algn="ctr">
                      <a:solidFill>
                        <a:srgbClr val="D1D9E6"/>
                      </a:solidFill>
                      <a:prstDash val="solid"/>
                      <a:round/>
                      <a:headEnd type="none" w="med" len="med"/>
                      <a:tailEnd type="none" w="med" len="med"/>
                    </a:lnR>
                    <a:lnT w="12700" cap="flat" cmpd="sng" algn="ctr">
                      <a:solidFill>
                        <a:srgbClr val="D1D9E6"/>
                      </a:solidFill>
                      <a:prstDash val="solid"/>
                      <a:round/>
                      <a:headEnd type="none" w="med" len="med"/>
                      <a:tailEnd type="none" w="med" len="med"/>
                    </a:lnT>
                    <a:lnB w="12700" cap="flat" cmpd="sng" algn="ctr">
                      <a:solidFill>
                        <a:srgbClr val="D1D9E6"/>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5" name="Shape 3"/>
          <p:cNvSpPr/>
          <p:nvPr/>
        </p:nvSpPr>
        <p:spPr>
          <a:xfrm>
            <a:off x="457200" y="3703320"/>
            <a:ext cx="2651760" cy="914400"/>
          </a:xfrm>
          <a:prstGeom prst="rect">
            <a:avLst/>
          </a:prstGeom>
          <a:solidFill>
            <a:srgbClr val="028090"/>
          </a:solidFill>
          <a:ln w="12700">
            <a:solidFill>
              <a:srgbClr val="028090"/>
            </a:solidFill>
            <a:prstDash val="solid"/>
          </a:ln>
          <a:effectLst>
            <a:outerShdw blurRad="101600" dist="38100" dir="8100000" algn="bl" rotWithShape="0">
              <a:srgbClr val="1E2761">
                <a:alpha val="15000"/>
              </a:srgbClr>
            </a:outerShdw>
          </a:effectLst>
        </p:spPr>
        <p:txBody>
          <a:bodyPr/>
          <a:lstStyle/>
          <a:p>
            <a:endParaRPr lang="en-US"/>
          </a:p>
        </p:txBody>
      </p:sp>
      <p:sp>
        <p:nvSpPr>
          <p:cNvPr id="7" name="Text 4"/>
          <p:cNvSpPr/>
          <p:nvPr/>
        </p:nvSpPr>
        <p:spPr>
          <a:xfrm>
            <a:off x="457200" y="3749040"/>
            <a:ext cx="2651760" cy="475488"/>
          </a:xfrm>
          <a:prstGeom prst="rect">
            <a:avLst/>
          </a:prstGeom>
          <a:noFill/>
          <a:ln/>
        </p:spPr>
        <p:txBody>
          <a:bodyPr wrap="square" lIns="0" tIns="0" rIns="0" bIns="0" rtlCol="0" anchor="b"/>
          <a:lstStyle/>
          <a:p>
            <a:pPr marL="0" indent="0" algn="ctr">
              <a:buNone/>
            </a:pPr>
            <a:r>
              <a:rPr lang="en-US" sz="2800" b="1" dirty="0">
                <a:solidFill>
                  <a:srgbClr val="FFFFFF"/>
                </a:solidFill>
              </a:rPr>
              <a:t>99K+</a:t>
            </a:r>
            <a:endParaRPr lang="en-US" sz="2800" dirty="0"/>
          </a:p>
        </p:txBody>
      </p:sp>
      <p:sp>
        <p:nvSpPr>
          <p:cNvPr id="8" name="Text 5"/>
          <p:cNvSpPr/>
          <p:nvPr/>
        </p:nvSpPr>
        <p:spPr>
          <a:xfrm>
            <a:off x="457200" y="4224528"/>
            <a:ext cx="2651760" cy="320040"/>
          </a:xfrm>
          <a:prstGeom prst="rect">
            <a:avLst/>
          </a:prstGeom>
          <a:noFill/>
          <a:ln/>
        </p:spPr>
        <p:txBody>
          <a:bodyPr wrap="square" lIns="0" tIns="0" rIns="0" bIns="0" rtlCol="0" anchor="ctr"/>
          <a:lstStyle/>
          <a:p>
            <a:pPr marL="0" indent="0" algn="ctr">
              <a:buNone/>
            </a:pPr>
            <a:r>
              <a:rPr lang="en-US" sz="1200" dirty="0">
                <a:solidFill>
                  <a:srgbClr val="FFFFFF"/>
                </a:solidFill>
              </a:rPr>
              <a:t>Customers</a:t>
            </a:r>
            <a:endParaRPr lang="en-US" sz="1200" dirty="0"/>
          </a:p>
        </p:txBody>
      </p:sp>
      <p:sp>
        <p:nvSpPr>
          <p:cNvPr id="9" name="Shape 6"/>
          <p:cNvSpPr/>
          <p:nvPr/>
        </p:nvSpPr>
        <p:spPr>
          <a:xfrm>
            <a:off x="3383280" y="3703320"/>
            <a:ext cx="2651760" cy="914400"/>
          </a:xfrm>
          <a:prstGeom prst="rect">
            <a:avLst/>
          </a:prstGeom>
          <a:solidFill>
            <a:srgbClr val="1E2761"/>
          </a:solidFill>
          <a:ln w="12700">
            <a:solidFill>
              <a:srgbClr val="1E2761"/>
            </a:solidFill>
            <a:prstDash val="solid"/>
          </a:ln>
          <a:effectLst>
            <a:outerShdw blurRad="101600" dist="38100" dir="8100000" algn="bl" rotWithShape="0">
              <a:srgbClr val="1E2761">
                <a:alpha val="15000"/>
              </a:srgbClr>
            </a:outerShdw>
          </a:effectLst>
        </p:spPr>
        <p:txBody>
          <a:bodyPr/>
          <a:lstStyle/>
          <a:p>
            <a:endParaRPr lang="en-US"/>
          </a:p>
        </p:txBody>
      </p:sp>
      <p:sp>
        <p:nvSpPr>
          <p:cNvPr id="10" name="Text 7"/>
          <p:cNvSpPr/>
          <p:nvPr/>
        </p:nvSpPr>
        <p:spPr>
          <a:xfrm>
            <a:off x="3383280" y="3749040"/>
            <a:ext cx="2651760" cy="475488"/>
          </a:xfrm>
          <a:prstGeom prst="rect">
            <a:avLst/>
          </a:prstGeom>
          <a:noFill/>
          <a:ln/>
        </p:spPr>
        <p:txBody>
          <a:bodyPr wrap="square" lIns="0" tIns="0" rIns="0" bIns="0" rtlCol="0" anchor="b"/>
          <a:lstStyle/>
          <a:p>
            <a:pPr marL="0" indent="0" algn="ctr">
              <a:buNone/>
            </a:pPr>
            <a:r>
              <a:rPr lang="en-US" sz="2800" b="1" dirty="0">
                <a:solidFill>
                  <a:srgbClr val="FFFFFF"/>
                </a:solidFill>
              </a:rPr>
              <a:t>112K+</a:t>
            </a:r>
            <a:endParaRPr lang="en-US" sz="2800" dirty="0"/>
          </a:p>
        </p:txBody>
      </p:sp>
      <p:sp>
        <p:nvSpPr>
          <p:cNvPr id="11" name="Text 8"/>
          <p:cNvSpPr/>
          <p:nvPr/>
        </p:nvSpPr>
        <p:spPr>
          <a:xfrm>
            <a:off x="3383280" y="4224528"/>
            <a:ext cx="2651760" cy="320040"/>
          </a:xfrm>
          <a:prstGeom prst="rect">
            <a:avLst/>
          </a:prstGeom>
          <a:noFill/>
          <a:ln/>
        </p:spPr>
        <p:txBody>
          <a:bodyPr wrap="square" lIns="0" tIns="0" rIns="0" bIns="0" rtlCol="0" anchor="ctr"/>
          <a:lstStyle/>
          <a:p>
            <a:pPr marL="0" indent="0" algn="ctr">
              <a:buNone/>
            </a:pPr>
            <a:r>
              <a:rPr lang="en-US" sz="1200" dirty="0">
                <a:solidFill>
                  <a:srgbClr val="FFFFFF"/>
                </a:solidFill>
              </a:rPr>
              <a:t>Order Items</a:t>
            </a:r>
            <a:endParaRPr lang="en-US" sz="1200" dirty="0"/>
          </a:p>
        </p:txBody>
      </p:sp>
      <p:sp>
        <p:nvSpPr>
          <p:cNvPr id="12" name="Shape 9"/>
          <p:cNvSpPr/>
          <p:nvPr/>
        </p:nvSpPr>
        <p:spPr>
          <a:xfrm>
            <a:off x="6309360" y="3703320"/>
            <a:ext cx="2651760" cy="914400"/>
          </a:xfrm>
          <a:prstGeom prst="rect">
            <a:avLst/>
          </a:prstGeom>
          <a:solidFill>
            <a:srgbClr val="02C39A"/>
          </a:solidFill>
          <a:ln w="12700">
            <a:solidFill>
              <a:srgbClr val="02C39A"/>
            </a:solidFill>
            <a:prstDash val="solid"/>
          </a:ln>
          <a:effectLst>
            <a:outerShdw blurRad="101600" dist="38100" dir="8100000" algn="bl" rotWithShape="0">
              <a:srgbClr val="1E2761">
                <a:alpha val="15000"/>
              </a:srgbClr>
            </a:outerShdw>
          </a:effectLst>
        </p:spPr>
        <p:txBody>
          <a:bodyPr/>
          <a:lstStyle/>
          <a:p>
            <a:endParaRPr lang="en-US"/>
          </a:p>
        </p:txBody>
      </p:sp>
      <p:sp>
        <p:nvSpPr>
          <p:cNvPr id="13" name="Text 10"/>
          <p:cNvSpPr/>
          <p:nvPr/>
        </p:nvSpPr>
        <p:spPr>
          <a:xfrm>
            <a:off x="6309360" y="3749040"/>
            <a:ext cx="2651760" cy="475488"/>
          </a:xfrm>
          <a:prstGeom prst="rect">
            <a:avLst/>
          </a:prstGeom>
          <a:noFill/>
          <a:ln/>
        </p:spPr>
        <p:txBody>
          <a:bodyPr wrap="square" lIns="0" tIns="0" rIns="0" bIns="0" rtlCol="0" anchor="b"/>
          <a:lstStyle/>
          <a:p>
            <a:pPr marL="0" indent="0" algn="ctr">
              <a:buNone/>
            </a:pPr>
            <a:r>
              <a:rPr lang="en-US" sz="2800" b="1" dirty="0">
                <a:solidFill>
                  <a:srgbClr val="FFFFFF"/>
                </a:solidFill>
              </a:rPr>
              <a:t>5</a:t>
            </a:r>
            <a:endParaRPr lang="en-US" sz="2800" dirty="0"/>
          </a:p>
        </p:txBody>
      </p:sp>
      <p:sp>
        <p:nvSpPr>
          <p:cNvPr id="14" name="Text 11"/>
          <p:cNvSpPr/>
          <p:nvPr/>
        </p:nvSpPr>
        <p:spPr>
          <a:xfrm>
            <a:off x="6309360" y="4224528"/>
            <a:ext cx="2651760" cy="320040"/>
          </a:xfrm>
          <a:prstGeom prst="rect">
            <a:avLst/>
          </a:prstGeom>
          <a:noFill/>
          <a:ln/>
        </p:spPr>
        <p:txBody>
          <a:bodyPr wrap="square" lIns="0" tIns="0" rIns="0" bIns="0" rtlCol="0" anchor="ctr"/>
          <a:lstStyle/>
          <a:p>
            <a:pPr marL="0" indent="0" algn="ctr">
              <a:buNone/>
            </a:pPr>
            <a:r>
              <a:rPr lang="en-US" sz="1200" dirty="0">
                <a:solidFill>
                  <a:srgbClr val="FFFFFF"/>
                </a:solidFill>
              </a:rPr>
              <a:t>Relational Tables</a:t>
            </a:r>
            <a:endParaRPr lang="en-US" sz="1200" dirty="0"/>
          </a:p>
        </p:txBody>
      </p:sp>
      <p:sp>
        <p:nvSpPr>
          <p:cNvPr id="15" name="Shape 12"/>
          <p:cNvSpPr/>
          <p:nvPr/>
        </p:nvSpPr>
        <p:spPr>
          <a:xfrm>
            <a:off x="0" y="4869180"/>
            <a:ext cx="9144000" cy="274320"/>
          </a:xfrm>
          <a:prstGeom prst="rect">
            <a:avLst/>
          </a:prstGeom>
          <a:solidFill>
            <a:srgbClr val="1E2761"/>
          </a:solidFill>
          <a:ln w="12700">
            <a:solidFill>
              <a:srgbClr val="1E2761"/>
            </a:solidFill>
            <a:prstDash val="solid"/>
          </a:ln>
        </p:spPr>
        <p:txBody>
          <a:bodyPr/>
          <a:lstStyle/>
          <a:p>
            <a:endParaRPr lang="en-US"/>
          </a:p>
        </p:txBody>
      </p:sp>
      <p:sp>
        <p:nvSpPr>
          <p:cNvPr id="16" name="Text 13"/>
          <p:cNvSpPr/>
          <p:nvPr/>
        </p:nvSpPr>
        <p:spPr>
          <a:xfrm>
            <a:off x="0" y="4869180"/>
            <a:ext cx="9144000" cy="274320"/>
          </a:xfrm>
          <a:prstGeom prst="rect">
            <a:avLst/>
          </a:prstGeom>
          <a:noFill/>
          <a:ln/>
        </p:spPr>
        <p:txBody>
          <a:bodyPr wrap="square" lIns="0" tIns="0" rIns="0" bIns="0" rtlCol="0" anchor="ctr"/>
          <a:lstStyle/>
          <a:p>
            <a:pPr marL="0" indent="0" algn="ctr">
              <a:buNone/>
            </a:pPr>
            <a:r>
              <a:rPr lang="en-US" sz="900" dirty="0">
                <a:solidFill>
                  <a:srgbClr val="CADCFC"/>
                </a:solidFill>
              </a:rPr>
              <a:t>Smart Discount Targeting System  |  NUCES CS3005  |  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28090"/>
          </a:solidFill>
          <a:ln w="12700">
            <a:solidFill>
              <a:srgbClr val="028090"/>
            </a:solidFill>
            <a:prstDash val="solid"/>
          </a:ln>
        </p:spPr>
        <p:txBody>
          <a:bodyPr/>
          <a:lstStyle/>
          <a:p>
            <a:endParaRPr lang="en-US"/>
          </a:p>
        </p:txBody>
      </p:sp>
      <p:sp>
        <p:nvSpPr>
          <p:cNvPr id="3" name="Text 1"/>
          <p:cNvSpPr/>
          <p:nvPr/>
        </p:nvSpPr>
        <p:spPr>
          <a:xfrm>
            <a:off x="457200" y="164592"/>
            <a:ext cx="7772400" cy="566928"/>
          </a:xfrm>
          <a:prstGeom prst="rect">
            <a:avLst/>
          </a:prstGeom>
          <a:noFill/>
          <a:ln/>
        </p:spPr>
        <p:txBody>
          <a:bodyPr wrap="square" rtlCol="0" anchor="ctr"/>
          <a:lstStyle/>
          <a:p>
            <a:pPr marL="0" indent="0" algn="l">
              <a:buNone/>
            </a:pPr>
            <a:r>
              <a:rPr lang="en-US" sz="3000" b="1" dirty="0">
                <a:solidFill>
                  <a:srgbClr val="1E2761"/>
                </a:solidFill>
              </a:rPr>
              <a:t>Data Mining Pipeline &amp; Methodology</a:t>
            </a:r>
            <a:endParaRPr lang="en-US" sz="3000" dirty="0"/>
          </a:p>
        </p:txBody>
      </p:sp>
      <p:sp>
        <p:nvSpPr>
          <p:cNvPr id="4" name="Text 2"/>
          <p:cNvSpPr/>
          <p:nvPr/>
        </p:nvSpPr>
        <p:spPr>
          <a:xfrm>
            <a:off x="457200" y="713232"/>
            <a:ext cx="8229600" cy="274320"/>
          </a:xfrm>
          <a:prstGeom prst="rect">
            <a:avLst/>
          </a:prstGeom>
          <a:noFill/>
          <a:ln/>
        </p:spPr>
        <p:txBody>
          <a:bodyPr wrap="square" rtlCol="0" anchor="ctr"/>
          <a:lstStyle/>
          <a:p>
            <a:pPr marL="0" indent="0" algn="l">
              <a:buNone/>
            </a:pPr>
            <a:r>
              <a:rPr lang="en-US" sz="1300" i="1" dirty="0">
                <a:solidFill>
                  <a:srgbClr val="028090"/>
                </a:solidFill>
              </a:rPr>
              <a:t>End-to-end structured workflow</a:t>
            </a:r>
            <a:endParaRPr lang="en-US" sz="1300" dirty="0"/>
          </a:p>
        </p:txBody>
      </p:sp>
      <p:sp>
        <p:nvSpPr>
          <p:cNvPr id="5" name="Shape 3"/>
          <p:cNvSpPr/>
          <p:nvPr/>
        </p:nvSpPr>
        <p:spPr>
          <a:xfrm>
            <a:off x="256032" y="1188720"/>
            <a:ext cx="1234440" cy="1234440"/>
          </a:xfrm>
          <a:prstGeom prst="rect">
            <a:avLst/>
          </a:prstGeom>
          <a:solidFill>
            <a:srgbClr val="1E2761"/>
          </a:solidFill>
          <a:ln w="12700">
            <a:solidFill>
              <a:srgbClr val="1E2761"/>
            </a:solidFill>
            <a:prstDash val="solid"/>
          </a:ln>
          <a:effectLst>
            <a:outerShdw blurRad="101600" dist="38100" dir="8100000" algn="bl" rotWithShape="0">
              <a:srgbClr val="1E2761">
                <a:alpha val="15000"/>
              </a:srgbClr>
            </a:outerShdw>
          </a:effectLst>
        </p:spPr>
        <p:txBody>
          <a:bodyPr/>
          <a:lstStyle/>
          <a:p>
            <a:endParaRPr lang="en-US"/>
          </a:p>
        </p:txBody>
      </p:sp>
      <p:sp>
        <p:nvSpPr>
          <p:cNvPr id="6" name="Text 4"/>
          <p:cNvSpPr/>
          <p:nvPr/>
        </p:nvSpPr>
        <p:spPr>
          <a:xfrm>
            <a:off x="256032" y="1188720"/>
            <a:ext cx="1234440" cy="475488"/>
          </a:xfrm>
          <a:prstGeom prst="rect">
            <a:avLst/>
          </a:prstGeom>
          <a:noFill/>
          <a:ln/>
        </p:spPr>
        <p:txBody>
          <a:bodyPr wrap="square" lIns="0" tIns="0" rIns="0" bIns="0" rtlCol="0" anchor="ctr"/>
          <a:lstStyle/>
          <a:p>
            <a:pPr marL="0" indent="0" algn="ctr">
              <a:buNone/>
            </a:pPr>
            <a:r>
              <a:rPr lang="en-US" sz="2200" b="1" dirty="0">
                <a:solidFill>
                  <a:srgbClr val="FFFFFF"/>
                </a:solidFill>
              </a:rPr>
              <a:t>1</a:t>
            </a:r>
            <a:endParaRPr lang="en-US" sz="2200" dirty="0"/>
          </a:p>
        </p:txBody>
      </p:sp>
      <p:sp>
        <p:nvSpPr>
          <p:cNvPr id="7" name="Text 5"/>
          <p:cNvSpPr/>
          <p:nvPr/>
        </p:nvSpPr>
        <p:spPr>
          <a:xfrm>
            <a:off x="256032" y="1664208"/>
            <a:ext cx="1234440" cy="758952"/>
          </a:xfrm>
          <a:prstGeom prst="rect">
            <a:avLst/>
          </a:prstGeom>
          <a:noFill/>
          <a:ln/>
        </p:spPr>
        <p:txBody>
          <a:bodyPr wrap="square" lIns="50800" tIns="50800" rIns="50800" bIns="50800" rtlCol="0" anchor="ctr"/>
          <a:lstStyle/>
          <a:p>
            <a:pPr marL="0" indent="0" algn="ctr">
              <a:buNone/>
            </a:pPr>
            <a:r>
              <a:rPr lang="en-US" sz="1200" dirty="0">
                <a:solidFill>
                  <a:srgbClr val="FFFFFF"/>
                </a:solidFill>
              </a:rPr>
              <a:t>Data</a:t>
            </a:r>
            <a:endParaRPr lang="en-US" sz="1200" dirty="0"/>
          </a:p>
          <a:p>
            <a:pPr marL="0" indent="0" algn="ctr">
              <a:buNone/>
            </a:pPr>
            <a:r>
              <a:rPr lang="en-US" sz="1200" dirty="0">
                <a:solidFill>
                  <a:srgbClr val="FFFFFF"/>
                </a:solidFill>
              </a:rPr>
              <a:t>Integration</a:t>
            </a:r>
            <a:endParaRPr lang="en-US" sz="1200" dirty="0"/>
          </a:p>
        </p:txBody>
      </p:sp>
      <p:sp>
        <p:nvSpPr>
          <p:cNvPr id="8" name="Shape 6"/>
          <p:cNvSpPr/>
          <p:nvPr/>
        </p:nvSpPr>
        <p:spPr>
          <a:xfrm>
            <a:off x="1490472" y="1737360"/>
            <a:ext cx="228600" cy="54864"/>
          </a:xfrm>
          <a:prstGeom prst="rect">
            <a:avLst/>
          </a:prstGeom>
          <a:solidFill>
            <a:srgbClr val="64748B"/>
          </a:solidFill>
          <a:ln w="12700">
            <a:solidFill>
              <a:srgbClr val="64748B"/>
            </a:solidFill>
            <a:prstDash val="solid"/>
          </a:ln>
        </p:spPr>
        <p:txBody>
          <a:bodyPr/>
          <a:lstStyle/>
          <a:p>
            <a:endParaRPr lang="en-US"/>
          </a:p>
        </p:txBody>
      </p:sp>
      <p:sp>
        <p:nvSpPr>
          <p:cNvPr id="9" name="Shape 7"/>
          <p:cNvSpPr/>
          <p:nvPr/>
        </p:nvSpPr>
        <p:spPr>
          <a:xfrm>
            <a:off x="1719072" y="1188720"/>
            <a:ext cx="1234440" cy="1234440"/>
          </a:xfrm>
          <a:prstGeom prst="rect">
            <a:avLst/>
          </a:prstGeom>
          <a:solidFill>
            <a:srgbClr val="243380"/>
          </a:solidFill>
          <a:ln w="12700">
            <a:solidFill>
              <a:srgbClr val="243380"/>
            </a:solidFill>
            <a:prstDash val="solid"/>
          </a:ln>
          <a:effectLst>
            <a:outerShdw blurRad="101600" dist="38100" dir="8100000" algn="bl" rotWithShape="0">
              <a:srgbClr val="1E2761">
                <a:alpha val="15000"/>
              </a:srgbClr>
            </a:outerShdw>
          </a:effectLst>
        </p:spPr>
        <p:txBody>
          <a:bodyPr/>
          <a:lstStyle/>
          <a:p>
            <a:endParaRPr lang="en-US"/>
          </a:p>
        </p:txBody>
      </p:sp>
      <p:sp>
        <p:nvSpPr>
          <p:cNvPr id="10" name="Text 8"/>
          <p:cNvSpPr/>
          <p:nvPr/>
        </p:nvSpPr>
        <p:spPr>
          <a:xfrm>
            <a:off x="1719072" y="1188720"/>
            <a:ext cx="1234440" cy="475488"/>
          </a:xfrm>
          <a:prstGeom prst="rect">
            <a:avLst/>
          </a:prstGeom>
          <a:noFill/>
          <a:ln/>
        </p:spPr>
        <p:txBody>
          <a:bodyPr wrap="square" lIns="0" tIns="0" rIns="0" bIns="0" rtlCol="0" anchor="ctr"/>
          <a:lstStyle/>
          <a:p>
            <a:pPr marL="0" indent="0" algn="ctr">
              <a:buNone/>
            </a:pPr>
            <a:r>
              <a:rPr lang="en-US" sz="2200" b="1" dirty="0">
                <a:solidFill>
                  <a:srgbClr val="FFFFFF"/>
                </a:solidFill>
              </a:rPr>
              <a:t>2</a:t>
            </a:r>
            <a:endParaRPr lang="en-US" sz="2200" dirty="0"/>
          </a:p>
        </p:txBody>
      </p:sp>
      <p:sp>
        <p:nvSpPr>
          <p:cNvPr id="11" name="Text 9"/>
          <p:cNvSpPr/>
          <p:nvPr/>
        </p:nvSpPr>
        <p:spPr>
          <a:xfrm>
            <a:off x="1719072" y="1664208"/>
            <a:ext cx="1234440" cy="758952"/>
          </a:xfrm>
          <a:prstGeom prst="rect">
            <a:avLst/>
          </a:prstGeom>
          <a:noFill/>
          <a:ln/>
        </p:spPr>
        <p:txBody>
          <a:bodyPr wrap="square" lIns="50800" tIns="50800" rIns="50800" bIns="50800" rtlCol="0" anchor="ctr"/>
          <a:lstStyle/>
          <a:p>
            <a:pPr marL="0" indent="0" algn="ctr">
              <a:buNone/>
            </a:pPr>
            <a:r>
              <a:rPr lang="en-US" sz="1200" dirty="0">
                <a:solidFill>
                  <a:srgbClr val="FFFFFF"/>
                </a:solidFill>
              </a:rPr>
              <a:t>Preprocessing</a:t>
            </a:r>
            <a:endParaRPr lang="en-US" sz="1200" dirty="0"/>
          </a:p>
          <a:p>
            <a:pPr marL="0" indent="0" algn="ctr">
              <a:buNone/>
            </a:pPr>
            <a:r>
              <a:rPr lang="en-US" sz="1200" dirty="0">
                <a:solidFill>
                  <a:srgbClr val="FFFFFF"/>
                </a:solidFill>
              </a:rPr>
              <a:t>&amp; Cleaning</a:t>
            </a:r>
            <a:endParaRPr lang="en-US" sz="1200" dirty="0"/>
          </a:p>
        </p:txBody>
      </p:sp>
      <p:sp>
        <p:nvSpPr>
          <p:cNvPr id="12" name="Shape 10"/>
          <p:cNvSpPr/>
          <p:nvPr/>
        </p:nvSpPr>
        <p:spPr>
          <a:xfrm>
            <a:off x="2953512" y="1737360"/>
            <a:ext cx="228600" cy="54864"/>
          </a:xfrm>
          <a:prstGeom prst="rect">
            <a:avLst/>
          </a:prstGeom>
          <a:solidFill>
            <a:srgbClr val="64748B"/>
          </a:solidFill>
          <a:ln w="12700">
            <a:solidFill>
              <a:srgbClr val="64748B"/>
            </a:solidFill>
            <a:prstDash val="solid"/>
          </a:ln>
        </p:spPr>
        <p:txBody>
          <a:bodyPr/>
          <a:lstStyle/>
          <a:p>
            <a:endParaRPr lang="en-US"/>
          </a:p>
        </p:txBody>
      </p:sp>
      <p:sp>
        <p:nvSpPr>
          <p:cNvPr id="13" name="Shape 11"/>
          <p:cNvSpPr/>
          <p:nvPr/>
        </p:nvSpPr>
        <p:spPr>
          <a:xfrm>
            <a:off x="3182112" y="1188720"/>
            <a:ext cx="1234440" cy="1234440"/>
          </a:xfrm>
          <a:prstGeom prst="rect">
            <a:avLst/>
          </a:prstGeom>
          <a:solidFill>
            <a:srgbClr val="028090"/>
          </a:solidFill>
          <a:ln w="12700">
            <a:solidFill>
              <a:srgbClr val="028090"/>
            </a:solidFill>
            <a:prstDash val="solid"/>
          </a:ln>
          <a:effectLst>
            <a:outerShdw blurRad="101600" dist="38100" dir="8100000" algn="bl" rotWithShape="0">
              <a:srgbClr val="1E2761">
                <a:alpha val="15000"/>
              </a:srgbClr>
            </a:outerShdw>
          </a:effectLst>
        </p:spPr>
        <p:txBody>
          <a:bodyPr/>
          <a:lstStyle/>
          <a:p>
            <a:endParaRPr lang="en-US"/>
          </a:p>
        </p:txBody>
      </p:sp>
      <p:sp>
        <p:nvSpPr>
          <p:cNvPr id="14" name="Text 12"/>
          <p:cNvSpPr/>
          <p:nvPr/>
        </p:nvSpPr>
        <p:spPr>
          <a:xfrm>
            <a:off x="3182112" y="1188720"/>
            <a:ext cx="1234440" cy="475488"/>
          </a:xfrm>
          <a:prstGeom prst="rect">
            <a:avLst/>
          </a:prstGeom>
          <a:noFill/>
          <a:ln/>
        </p:spPr>
        <p:txBody>
          <a:bodyPr wrap="square" lIns="0" tIns="0" rIns="0" bIns="0" rtlCol="0" anchor="ctr"/>
          <a:lstStyle/>
          <a:p>
            <a:pPr marL="0" indent="0" algn="ctr">
              <a:buNone/>
            </a:pPr>
            <a:r>
              <a:rPr lang="en-US" sz="2200" b="1" dirty="0">
                <a:solidFill>
                  <a:srgbClr val="FFFFFF"/>
                </a:solidFill>
              </a:rPr>
              <a:t>3</a:t>
            </a:r>
            <a:endParaRPr lang="en-US" sz="2200" dirty="0"/>
          </a:p>
        </p:txBody>
      </p:sp>
      <p:sp>
        <p:nvSpPr>
          <p:cNvPr id="15" name="Text 13"/>
          <p:cNvSpPr/>
          <p:nvPr/>
        </p:nvSpPr>
        <p:spPr>
          <a:xfrm>
            <a:off x="3182112" y="1664208"/>
            <a:ext cx="1234440" cy="758952"/>
          </a:xfrm>
          <a:prstGeom prst="rect">
            <a:avLst/>
          </a:prstGeom>
          <a:noFill/>
          <a:ln/>
        </p:spPr>
        <p:txBody>
          <a:bodyPr wrap="square" lIns="50800" tIns="50800" rIns="50800" bIns="50800" rtlCol="0" anchor="ctr"/>
          <a:lstStyle/>
          <a:p>
            <a:pPr marL="0" indent="0" algn="ctr">
              <a:buNone/>
            </a:pPr>
            <a:r>
              <a:rPr lang="en-US" sz="1200" dirty="0">
                <a:solidFill>
                  <a:srgbClr val="FFFFFF"/>
                </a:solidFill>
              </a:rPr>
              <a:t>Feature</a:t>
            </a:r>
            <a:endParaRPr lang="en-US" sz="1200" dirty="0"/>
          </a:p>
          <a:p>
            <a:pPr marL="0" indent="0" algn="ctr">
              <a:buNone/>
            </a:pPr>
            <a:r>
              <a:rPr lang="en-US" sz="1200" dirty="0">
                <a:solidFill>
                  <a:srgbClr val="FFFFFF"/>
                </a:solidFill>
              </a:rPr>
              <a:t>Engineering</a:t>
            </a:r>
            <a:endParaRPr lang="en-US" sz="1200" dirty="0"/>
          </a:p>
        </p:txBody>
      </p:sp>
      <p:sp>
        <p:nvSpPr>
          <p:cNvPr id="16" name="Shape 14"/>
          <p:cNvSpPr/>
          <p:nvPr/>
        </p:nvSpPr>
        <p:spPr>
          <a:xfrm>
            <a:off x="4416552" y="1737360"/>
            <a:ext cx="228600" cy="54864"/>
          </a:xfrm>
          <a:prstGeom prst="rect">
            <a:avLst/>
          </a:prstGeom>
          <a:solidFill>
            <a:srgbClr val="64748B"/>
          </a:solidFill>
          <a:ln w="12700">
            <a:solidFill>
              <a:srgbClr val="64748B"/>
            </a:solidFill>
            <a:prstDash val="solid"/>
          </a:ln>
        </p:spPr>
        <p:txBody>
          <a:bodyPr/>
          <a:lstStyle/>
          <a:p>
            <a:endParaRPr lang="en-US"/>
          </a:p>
        </p:txBody>
      </p:sp>
      <p:sp>
        <p:nvSpPr>
          <p:cNvPr id="17" name="Shape 15"/>
          <p:cNvSpPr/>
          <p:nvPr/>
        </p:nvSpPr>
        <p:spPr>
          <a:xfrm>
            <a:off x="4645152" y="1188720"/>
            <a:ext cx="1234440" cy="1234440"/>
          </a:xfrm>
          <a:prstGeom prst="rect">
            <a:avLst/>
          </a:prstGeom>
          <a:solidFill>
            <a:srgbClr val="028090"/>
          </a:solidFill>
          <a:ln w="12700">
            <a:solidFill>
              <a:srgbClr val="028090"/>
            </a:solidFill>
            <a:prstDash val="solid"/>
          </a:ln>
          <a:effectLst>
            <a:outerShdw blurRad="101600" dist="38100" dir="8100000" algn="bl" rotWithShape="0">
              <a:srgbClr val="1E2761">
                <a:alpha val="15000"/>
              </a:srgbClr>
            </a:outerShdw>
          </a:effectLst>
        </p:spPr>
        <p:txBody>
          <a:bodyPr/>
          <a:lstStyle/>
          <a:p>
            <a:endParaRPr lang="en-US"/>
          </a:p>
        </p:txBody>
      </p:sp>
      <p:sp>
        <p:nvSpPr>
          <p:cNvPr id="18" name="Text 16"/>
          <p:cNvSpPr/>
          <p:nvPr/>
        </p:nvSpPr>
        <p:spPr>
          <a:xfrm>
            <a:off x="4645152" y="1188720"/>
            <a:ext cx="1234440" cy="475488"/>
          </a:xfrm>
          <a:prstGeom prst="rect">
            <a:avLst/>
          </a:prstGeom>
          <a:noFill/>
          <a:ln/>
        </p:spPr>
        <p:txBody>
          <a:bodyPr wrap="square" lIns="0" tIns="0" rIns="0" bIns="0" rtlCol="0" anchor="ctr"/>
          <a:lstStyle/>
          <a:p>
            <a:pPr marL="0" indent="0" algn="ctr">
              <a:buNone/>
            </a:pPr>
            <a:r>
              <a:rPr lang="en-US" sz="2200" b="1" dirty="0">
                <a:solidFill>
                  <a:srgbClr val="FFFFFF"/>
                </a:solidFill>
              </a:rPr>
              <a:t>4</a:t>
            </a:r>
            <a:endParaRPr lang="en-US" sz="2200" dirty="0"/>
          </a:p>
        </p:txBody>
      </p:sp>
      <p:sp>
        <p:nvSpPr>
          <p:cNvPr id="19" name="Text 17"/>
          <p:cNvSpPr/>
          <p:nvPr/>
        </p:nvSpPr>
        <p:spPr>
          <a:xfrm>
            <a:off x="4645152" y="1664208"/>
            <a:ext cx="1234440" cy="758952"/>
          </a:xfrm>
          <a:prstGeom prst="rect">
            <a:avLst/>
          </a:prstGeom>
          <a:noFill/>
          <a:ln/>
        </p:spPr>
        <p:txBody>
          <a:bodyPr wrap="square" lIns="50800" tIns="50800" rIns="50800" bIns="50800" rtlCol="0" anchor="ctr"/>
          <a:lstStyle/>
          <a:p>
            <a:pPr marL="0" indent="0" algn="ctr">
              <a:buNone/>
            </a:pPr>
            <a:r>
              <a:rPr lang="en-US" sz="1200" dirty="0">
                <a:solidFill>
                  <a:srgbClr val="FFFFFF"/>
                </a:solidFill>
              </a:rPr>
              <a:t>K-Means</a:t>
            </a:r>
            <a:endParaRPr lang="en-US" sz="1200" dirty="0"/>
          </a:p>
          <a:p>
            <a:pPr marL="0" indent="0" algn="ctr">
              <a:buNone/>
            </a:pPr>
            <a:r>
              <a:rPr lang="en-US" sz="1200" dirty="0">
                <a:solidFill>
                  <a:srgbClr val="FFFFFF"/>
                </a:solidFill>
              </a:rPr>
              <a:t>Clustering</a:t>
            </a:r>
            <a:endParaRPr lang="en-US" sz="1200" dirty="0"/>
          </a:p>
        </p:txBody>
      </p:sp>
      <p:sp>
        <p:nvSpPr>
          <p:cNvPr id="20" name="Shape 18"/>
          <p:cNvSpPr/>
          <p:nvPr/>
        </p:nvSpPr>
        <p:spPr>
          <a:xfrm>
            <a:off x="5879592" y="1737360"/>
            <a:ext cx="228600" cy="54864"/>
          </a:xfrm>
          <a:prstGeom prst="rect">
            <a:avLst/>
          </a:prstGeom>
          <a:solidFill>
            <a:srgbClr val="64748B"/>
          </a:solidFill>
          <a:ln w="12700">
            <a:solidFill>
              <a:srgbClr val="64748B"/>
            </a:solidFill>
            <a:prstDash val="solid"/>
          </a:ln>
        </p:spPr>
        <p:txBody>
          <a:bodyPr/>
          <a:lstStyle/>
          <a:p>
            <a:endParaRPr lang="en-US"/>
          </a:p>
        </p:txBody>
      </p:sp>
      <p:sp>
        <p:nvSpPr>
          <p:cNvPr id="21" name="Shape 19"/>
          <p:cNvSpPr/>
          <p:nvPr/>
        </p:nvSpPr>
        <p:spPr>
          <a:xfrm>
            <a:off x="6108192" y="1188720"/>
            <a:ext cx="1234440" cy="1234440"/>
          </a:xfrm>
          <a:prstGeom prst="rect">
            <a:avLst/>
          </a:prstGeom>
          <a:solidFill>
            <a:srgbClr val="02C39A"/>
          </a:solidFill>
          <a:ln w="12700">
            <a:solidFill>
              <a:srgbClr val="02C39A"/>
            </a:solidFill>
            <a:prstDash val="solid"/>
          </a:ln>
          <a:effectLst>
            <a:outerShdw blurRad="101600" dist="38100" dir="8100000" algn="bl" rotWithShape="0">
              <a:srgbClr val="1E2761">
                <a:alpha val="15000"/>
              </a:srgbClr>
            </a:outerShdw>
          </a:effectLst>
        </p:spPr>
        <p:txBody>
          <a:bodyPr/>
          <a:lstStyle/>
          <a:p>
            <a:endParaRPr lang="en-US"/>
          </a:p>
        </p:txBody>
      </p:sp>
      <p:sp>
        <p:nvSpPr>
          <p:cNvPr id="22" name="Text 20"/>
          <p:cNvSpPr/>
          <p:nvPr/>
        </p:nvSpPr>
        <p:spPr>
          <a:xfrm>
            <a:off x="6108192" y="1188720"/>
            <a:ext cx="1234440" cy="475488"/>
          </a:xfrm>
          <a:prstGeom prst="rect">
            <a:avLst/>
          </a:prstGeom>
          <a:noFill/>
          <a:ln/>
        </p:spPr>
        <p:txBody>
          <a:bodyPr wrap="square" lIns="0" tIns="0" rIns="0" bIns="0" rtlCol="0" anchor="ctr"/>
          <a:lstStyle/>
          <a:p>
            <a:pPr marL="0" indent="0" algn="ctr">
              <a:buNone/>
            </a:pPr>
            <a:r>
              <a:rPr lang="en-US" sz="2200" b="1" dirty="0">
                <a:solidFill>
                  <a:srgbClr val="FFFFFF"/>
                </a:solidFill>
              </a:rPr>
              <a:t>5</a:t>
            </a:r>
            <a:endParaRPr lang="en-US" sz="2200" dirty="0"/>
          </a:p>
        </p:txBody>
      </p:sp>
      <p:sp>
        <p:nvSpPr>
          <p:cNvPr id="23" name="Text 21"/>
          <p:cNvSpPr/>
          <p:nvPr/>
        </p:nvSpPr>
        <p:spPr>
          <a:xfrm>
            <a:off x="6108192" y="1664208"/>
            <a:ext cx="1234440" cy="758952"/>
          </a:xfrm>
          <a:prstGeom prst="rect">
            <a:avLst/>
          </a:prstGeom>
          <a:noFill/>
          <a:ln/>
        </p:spPr>
        <p:txBody>
          <a:bodyPr wrap="square" lIns="50800" tIns="50800" rIns="50800" bIns="50800" rtlCol="0" anchor="ctr"/>
          <a:lstStyle/>
          <a:p>
            <a:pPr marL="0" indent="0" algn="ctr">
              <a:buNone/>
            </a:pPr>
            <a:r>
              <a:rPr lang="en-US" sz="1200" dirty="0">
                <a:solidFill>
                  <a:srgbClr val="FFFFFF"/>
                </a:solidFill>
              </a:rPr>
              <a:t>Association</a:t>
            </a:r>
            <a:endParaRPr lang="en-US" sz="1200" dirty="0"/>
          </a:p>
          <a:p>
            <a:pPr marL="0" indent="0" algn="ctr">
              <a:buNone/>
            </a:pPr>
            <a:r>
              <a:rPr lang="en-US" sz="1200" dirty="0">
                <a:solidFill>
                  <a:srgbClr val="FFFFFF"/>
                </a:solidFill>
              </a:rPr>
              <a:t>Rule Mining</a:t>
            </a:r>
            <a:endParaRPr lang="en-US" sz="1200" dirty="0"/>
          </a:p>
        </p:txBody>
      </p:sp>
      <p:sp>
        <p:nvSpPr>
          <p:cNvPr id="24" name="Shape 22"/>
          <p:cNvSpPr/>
          <p:nvPr/>
        </p:nvSpPr>
        <p:spPr>
          <a:xfrm>
            <a:off x="7342632" y="1737360"/>
            <a:ext cx="228600" cy="54864"/>
          </a:xfrm>
          <a:prstGeom prst="rect">
            <a:avLst/>
          </a:prstGeom>
          <a:solidFill>
            <a:srgbClr val="64748B"/>
          </a:solidFill>
          <a:ln w="12700">
            <a:solidFill>
              <a:srgbClr val="64748B"/>
            </a:solidFill>
            <a:prstDash val="solid"/>
          </a:ln>
        </p:spPr>
        <p:txBody>
          <a:bodyPr/>
          <a:lstStyle/>
          <a:p>
            <a:endParaRPr lang="en-US"/>
          </a:p>
        </p:txBody>
      </p:sp>
      <p:sp>
        <p:nvSpPr>
          <p:cNvPr id="25" name="Shape 23"/>
          <p:cNvSpPr/>
          <p:nvPr/>
        </p:nvSpPr>
        <p:spPr>
          <a:xfrm>
            <a:off x="7571232" y="1188720"/>
            <a:ext cx="1234440" cy="1234440"/>
          </a:xfrm>
          <a:prstGeom prst="rect">
            <a:avLst/>
          </a:prstGeom>
          <a:solidFill>
            <a:srgbClr val="02C39A"/>
          </a:solidFill>
          <a:ln w="12700">
            <a:solidFill>
              <a:srgbClr val="02C39A"/>
            </a:solidFill>
            <a:prstDash val="solid"/>
          </a:ln>
          <a:effectLst>
            <a:outerShdw blurRad="101600" dist="38100" dir="8100000" algn="bl" rotWithShape="0">
              <a:srgbClr val="1E2761">
                <a:alpha val="15000"/>
              </a:srgbClr>
            </a:outerShdw>
          </a:effectLst>
        </p:spPr>
        <p:txBody>
          <a:bodyPr/>
          <a:lstStyle/>
          <a:p>
            <a:endParaRPr lang="en-US"/>
          </a:p>
        </p:txBody>
      </p:sp>
      <p:sp>
        <p:nvSpPr>
          <p:cNvPr id="26" name="Text 24"/>
          <p:cNvSpPr/>
          <p:nvPr/>
        </p:nvSpPr>
        <p:spPr>
          <a:xfrm>
            <a:off x="7571232" y="1188720"/>
            <a:ext cx="1234440" cy="475488"/>
          </a:xfrm>
          <a:prstGeom prst="rect">
            <a:avLst/>
          </a:prstGeom>
          <a:noFill/>
          <a:ln/>
        </p:spPr>
        <p:txBody>
          <a:bodyPr wrap="square" lIns="0" tIns="0" rIns="0" bIns="0" rtlCol="0" anchor="ctr"/>
          <a:lstStyle/>
          <a:p>
            <a:pPr marL="0" indent="0" algn="ctr">
              <a:buNone/>
            </a:pPr>
            <a:r>
              <a:rPr lang="en-US" sz="2200" b="1" dirty="0">
                <a:solidFill>
                  <a:srgbClr val="FFFFFF"/>
                </a:solidFill>
              </a:rPr>
              <a:t>6</a:t>
            </a:r>
            <a:endParaRPr lang="en-US" sz="2200" dirty="0"/>
          </a:p>
        </p:txBody>
      </p:sp>
      <p:sp>
        <p:nvSpPr>
          <p:cNvPr id="27" name="Text 25"/>
          <p:cNvSpPr/>
          <p:nvPr/>
        </p:nvSpPr>
        <p:spPr>
          <a:xfrm>
            <a:off x="7571232" y="1664208"/>
            <a:ext cx="1234440" cy="758952"/>
          </a:xfrm>
          <a:prstGeom prst="rect">
            <a:avLst/>
          </a:prstGeom>
          <a:noFill/>
          <a:ln/>
        </p:spPr>
        <p:txBody>
          <a:bodyPr wrap="square" lIns="50800" tIns="50800" rIns="50800" bIns="50800" rtlCol="0" anchor="ctr"/>
          <a:lstStyle/>
          <a:p>
            <a:pPr marL="0" indent="0" algn="ctr">
              <a:buNone/>
            </a:pPr>
            <a:r>
              <a:rPr lang="en-US" sz="1200" dirty="0">
                <a:solidFill>
                  <a:srgbClr val="FFFFFF"/>
                </a:solidFill>
              </a:rPr>
              <a:t>Predictive</a:t>
            </a:r>
            <a:endParaRPr lang="en-US" sz="1200" dirty="0"/>
          </a:p>
          <a:p>
            <a:pPr marL="0" indent="0" algn="ctr">
              <a:buNone/>
            </a:pPr>
            <a:r>
              <a:rPr lang="en-US" sz="1200" dirty="0">
                <a:solidFill>
                  <a:srgbClr val="FFFFFF"/>
                </a:solidFill>
              </a:rPr>
              <a:t>Modelling</a:t>
            </a:r>
            <a:endParaRPr lang="en-US" sz="1200" dirty="0"/>
          </a:p>
        </p:txBody>
      </p:sp>
      <p:sp>
        <p:nvSpPr>
          <p:cNvPr id="28" name="Shape 26"/>
          <p:cNvSpPr/>
          <p:nvPr/>
        </p:nvSpPr>
        <p:spPr>
          <a:xfrm>
            <a:off x="411480" y="2651760"/>
            <a:ext cx="2651760" cy="1005840"/>
          </a:xfrm>
          <a:prstGeom prst="rect">
            <a:avLst/>
          </a:prstGeom>
          <a:solidFill>
            <a:srgbClr val="FFFFFF"/>
          </a:solidFill>
          <a:ln w="12700">
            <a:solidFill>
              <a:srgbClr val="CADCFC"/>
            </a:solidFill>
            <a:prstDash val="solid"/>
          </a:ln>
          <a:effectLst>
            <a:outerShdw blurRad="101600" dist="38100" dir="8100000" algn="bl" rotWithShape="0">
              <a:srgbClr val="1E2761">
                <a:alpha val="15000"/>
              </a:srgbClr>
            </a:outerShdw>
          </a:effectLst>
        </p:spPr>
        <p:txBody>
          <a:bodyPr/>
          <a:lstStyle/>
          <a:p>
            <a:endParaRPr lang="en-US"/>
          </a:p>
        </p:txBody>
      </p:sp>
      <p:sp>
        <p:nvSpPr>
          <p:cNvPr id="29" name="Text 27"/>
          <p:cNvSpPr/>
          <p:nvPr/>
        </p:nvSpPr>
        <p:spPr>
          <a:xfrm>
            <a:off x="521208" y="2706624"/>
            <a:ext cx="2468880" cy="274320"/>
          </a:xfrm>
          <a:prstGeom prst="rect">
            <a:avLst/>
          </a:prstGeom>
          <a:noFill/>
          <a:ln/>
        </p:spPr>
        <p:txBody>
          <a:bodyPr wrap="square" rtlCol="0" anchor="ctr"/>
          <a:lstStyle/>
          <a:p>
            <a:pPr marL="0" indent="0" algn="l">
              <a:buNone/>
            </a:pPr>
            <a:r>
              <a:rPr lang="en-US" sz="1200" b="1" dirty="0">
                <a:solidFill>
                  <a:srgbClr val="028090"/>
                </a:solidFill>
              </a:rPr>
              <a:t>Data Integration</a:t>
            </a:r>
            <a:endParaRPr lang="en-US" sz="1200" dirty="0"/>
          </a:p>
        </p:txBody>
      </p:sp>
      <p:sp>
        <p:nvSpPr>
          <p:cNvPr id="30" name="Text 28"/>
          <p:cNvSpPr/>
          <p:nvPr/>
        </p:nvSpPr>
        <p:spPr>
          <a:xfrm>
            <a:off x="521208" y="2971800"/>
            <a:ext cx="2468880" cy="640080"/>
          </a:xfrm>
          <a:prstGeom prst="rect">
            <a:avLst/>
          </a:prstGeom>
          <a:noFill/>
          <a:ln/>
        </p:spPr>
        <p:txBody>
          <a:bodyPr wrap="square" rtlCol="0" anchor="ctr"/>
          <a:lstStyle/>
          <a:p>
            <a:pPr marL="0" indent="0" algn="l">
              <a:buNone/>
            </a:pPr>
            <a:r>
              <a:rPr lang="en-US" sz="1100" dirty="0">
                <a:solidFill>
                  <a:srgbClr val="334155"/>
                </a:solidFill>
              </a:rPr>
              <a:t>5 relational tables merged via customer_id, order_id &amp; product_id. Filters: delivered orders only.</a:t>
            </a:r>
            <a:endParaRPr lang="en-US" sz="1100" dirty="0"/>
          </a:p>
        </p:txBody>
      </p:sp>
      <p:sp>
        <p:nvSpPr>
          <p:cNvPr id="31" name="Shape 29"/>
          <p:cNvSpPr/>
          <p:nvPr/>
        </p:nvSpPr>
        <p:spPr>
          <a:xfrm>
            <a:off x="3291840" y="2651760"/>
            <a:ext cx="2651760" cy="1005840"/>
          </a:xfrm>
          <a:prstGeom prst="rect">
            <a:avLst/>
          </a:prstGeom>
          <a:solidFill>
            <a:srgbClr val="FFFFFF"/>
          </a:solidFill>
          <a:ln w="12700">
            <a:solidFill>
              <a:srgbClr val="CADCFC"/>
            </a:solidFill>
            <a:prstDash val="solid"/>
          </a:ln>
          <a:effectLst>
            <a:outerShdw blurRad="101600" dist="38100" dir="8100000" algn="bl" rotWithShape="0">
              <a:srgbClr val="1E2761">
                <a:alpha val="15000"/>
              </a:srgbClr>
            </a:outerShdw>
          </a:effectLst>
        </p:spPr>
        <p:txBody>
          <a:bodyPr/>
          <a:lstStyle/>
          <a:p>
            <a:endParaRPr lang="en-US"/>
          </a:p>
        </p:txBody>
      </p:sp>
      <p:sp>
        <p:nvSpPr>
          <p:cNvPr id="32" name="Text 30"/>
          <p:cNvSpPr/>
          <p:nvPr/>
        </p:nvSpPr>
        <p:spPr>
          <a:xfrm>
            <a:off x="3401568" y="2706624"/>
            <a:ext cx="2468880" cy="274320"/>
          </a:xfrm>
          <a:prstGeom prst="rect">
            <a:avLst/>
          </a:prstGeom>
          <a:noFill/>
          <a:ln/>
        </p:spPr>
        <p:txBody>
          <a:bodyPr wrap="square" rtlCol="0" anchor="ctr"/>
          <a:lstStyle/>
          <a:p>
            <a:pPr marL="0" indent="0" algn="l">
              <a:buNone/>
            </a:pPr>
            <a:r>
              <a:rPr lang="en-US" sz="1200" b="1" dirty="0">
                <a:solidFill>
                  <a:srgbClr val="028090"/>
                </a:solidFill>
              </a:rPr>
              <a:t>Feature Engineering</a:t>
            </a:r>
            <a:endParaRPr lang="en-US" sz="1200" dirty="0"/>
          </a:p>
        </p:txBody>
      </p:sp>
      <p:sp>
        <p:nvSpPr>
          <p:cNvPr id="33" name="Text 31"/>
          <p:cNvSpPr/>
          <p:nvPr/>
        </p:nvSpPr>
        <p:spPr>
          <a:xfrm>
            <a:off x="3401568" y="2971800"/>
            <a:ext cx="2468880" cy="640080"/>
          </a:xfrm>
          <a:prstGeom prst="rect">
            <a:avLst/>
          </a:prstGeom>
          <a:noFill/>
          <a:ln/>
        </p:spPr>
        <p:txBody>
          <a:bodyPr wrap="square" rtlCol="0" anchor="ctr"/>
          <a:lstStyle/>
          <a:p>
            <a:pPr marL="0" indent="0" algn="l">
              <a:buNone/>
            </a:pPr>
            <a:r>
              <a:rPr lang="en-US" sz="1100" dirty="0">
                <a:solidFill>
                  <a:srgbClr val="334155"/>
                </a:solidFill>
              </a:rPr>
              <a:t>25+ behavioral features per customer: recency, frequency, monetary, price sensitivity, payment patterns.</a:t>
            </a:r>
            <a:endParaRPr lang="en-US" sz="1100" dirty="0"/>
          </a:p>
        </p:txBody>
      </p:sp>
      <p:sp>
        <p:nvSpPr>
          <p:cNvPr id="34" name="Shape 32"/>
          <p:cNvSpPr/>
          <p:nvPr/>
        </p:nvSpPr>
        <p:spPr>
          <a:xfrm>
            <a:off x="6172200" y="2651760"/>
            <a:ext cx="2651760" cy="1005840"/>
          </a:xfrm>
          <a:prstGeom prst="rect">
            <a:avLst/>
          </a:prstGeom>
          <a:solidFill>
            <a:srgbClr val="FFFFFF"/>
          </a:solidFill>
          <a:ln w="12700">
            <a:solidFill>
              <a:srgbClr val="CADCFC"/>
            </a:solidFill>
            <a:prstDash val="solid"/>
          </a:ln>
          <a:effectLst>
            <a:outerShdw blurRad="101600" dist="38100" dir="8100000" algn="bl" rotWithShape="0">
              <a:srgbClr val="1E2761">
                <a:alpha val="15000"/>
              </a:srgbClr>
            </a:outerShdw>
          </a:effectLst>
        </p:spPr>
        <p:txBody>
          <a:bodyPr/>
          <a:lstStyle/>
          <a:p>
            <a:endParaRPr lang="en-US"/>
          </a:p>
        </p:txBody>
      </p:sp>
      <p:sp>
        <p:nvSpPr>
          <p:cNvPr id="35" name="Text 33"/>
          <p:cNvSpPr/>
          <p:nvPr/>
        </p:nvSpPr>
        <p:spPr>
          <a:xfrm>
            <a:off x="6281928" y="2706624"/>
            <a:ext cx="2468880" cy="274320"/>
          </a:xfrm>
          <a:prstGeom prst="rect">
            <a:avLst/>
          </a:prstGeom>
          <a:noFill/>
          <a:ln/>
        </p:spPr>
        <p:txBody>
          <a:bodyPr wrap="square" rtlCol="0" anchor="ctr"/>
          <a:lstStyle/>
          <a:p>
            <a:pPr marL="0" indent="0" algn="l">
              <a:buNone/>
            </a:pPr>
            <a:r>
              <a:rPr lang="en-US" sz="1200" b="1" dirty="0">
                <a:solidFill>
                  <a:srgbClr val="028090"/>
                </a:solidFill>
              </a:rPr>
              <a:t>Segmentation</a:t>
            </a:r>
            <a:endParaRPr lang="en-US" sz="1200" dirty="0"/>
          </a:p>
        </p:txBody>
      </p:sp>
      <p:sp>
        <p:nvSpPr>
          <p:cNvPr id="36" name="Text 34"/>
          <p:cNvSpPr/>
          <p:nvPr/>
        </p:nvSpPr>
        <p:spPr>
          <a:xfrm>
            <a:off x="6281928" y="2971800"/>
            <a:ext cx="2468880" cy="640080"/>
          </a:xfrm>
          <a:prstGeom prst="rect">
            <a:avLst/>
          </a:prstGeom>
          <a:noFill/>
          <a:ln/>
        </p:spPr>
        <p:txBody>
          <a:bodyPr wrap="square" rtlCol="0" anchor="ctr"/>
          <a:lstStyle/>
          <a:p>
            <a:pPr marL="0" indent="0" algn="l">
              <a:buNone/>
            </a:pPr>
            <a:r>
              <a:rPr lang="en-US" sz="1100" dirty="0">
                <a:solidFill>
                  <a:srgbClr val="334155"/>
                </a:solidFill>
              </a:rPr>
              <a:t>K-Means (k=3) on standardized features. Elbow + Silhouette analysis determined optimal k.</a:t>
            </a:r>
            <a:endParaRPr lang="en-US" sz="1100" dirty="0"/>
          </a:p>
        </p:txBody>
      </p:sp>
      <p:sp>
        <p:nvSpPr>
          <p:cNvPr id="37" name="Shape 35"/>
          <p:cNvSpPr/>
          <p:nvPr/>
        </p:nvSpPr>
        <p:spPr>
          <a:xfrm>
            <a:off x="411480" y="3794760"/>
            <a:ext cx="2651760" cy="1005840"/>
          </a:xfrm>
          <a:prstGeom prst="rect">
            <a:avLst/>
          </a:prstGeom>
          <a:solidFill>
            <a:srgbClr val="FFFFFF"/>
          </a:solidFill>
          <a:ln w="12700">
            <a:solidFill>
              <a:srgbClr val="CADCFC"/>
            </a:solidFill>
            <a:prstDash val="solid"/>
          </a:ln>
          <a:effectLst>
            <a:outerShdw blurRad="101600" dist="38100" dir="8100000" algn="bl" rotWithShape="0">
              <a:srgbClr val="1E2761">
                <a:alpha val="15000"/>
              </a:srgbClr>
            </a:outerShdw>
          </a:effectLst>
        </p:spPr>
        <p:txBody>
          <a:bodyPr/>
          <a:lstStyle/>
          <a:p>
            <a:endParaRPr lang="en-US"/>
          </a:p>
        </p:txBody>
      </p:sp>
      <p:sp>
        <p:nvSpPr>
          <p:cNvPr id="38" name="Text 36"/>
          <p:cNvSpPr/>
          <p:nvPr/>
        </p:nvSpPr>
        <p:spPr>
          <a:xfrm>
            <a:off x="521208" y="3849624"/>
            <a:ext cx="2468880" cy="274320"/>
          </a:xfrm>
          <a:prstGeom prst="rect">
            <a:avLst/>
          </a:prstGeom>
          <a:noFill/>
          <a:ln/>
        </p:spPr>
        <p:txBody>
          <a:bodyPr wrap="square" rtlCol="0" anchor="ctr"/>
          <a:lstStyle/>
          <a:p>
            <a:pPr marL="0" indent="0" algn="l">
              <a:buNone/>
            </a:pPr>
            <a:r>
              <a:rPr lang="en-US" sz="1200" b="1" dirty="0">
                <a:solidFill>
                  <a:srgbClr val="028090"/>
                </a:solidFill>
              </a:rPr>
              <a:t>ARM</a:t>
            </a:r>
            <a:endParaRPr lang="en-US" sz="1200" dirty="0"/>
          </a:p>
        </p:txBody>
      </p:sp>
      <p:sp>
        <p:nvSpPr>
          <p:cNvPr id="39" name="Text 37"/>
          <p:cNvSpPr/>
          <p:nvPr/>
        </p:nvSpPr>
        <p:spPr>
          <a:xfrm>
            <a:off x="521208" y="4114800"/>
            <a:ext cx="2468880" cy="640080"/>
          </a:xfrm>
          <a:prstGeom prst="rect">
            <a:avLst/>
          </a:prstGeom>
          <a:noFill/>
          <a:ln/>
        </p:spPr>
        <p:txBody>
          <a:bodyPr wrap="square" rtlCol="0" anchor="ctr"/>
          <a:lstStyle/>
          <a:p>
            <a:pPr marL="0" indent="0" algn="l">
              <a:buNone/>
            </a:pPr>
            <a:r>
              <a:rPr lang="en-US" sz="1100" dirty="0">
                <a:solidFill>
                  <a:srgbClr val="334155"/>
                </a:solidFill>
              </a:rPr>
              <a:t>Apriori on order-category baskets. Single-category dominance found — no cross-category rules emerged.</a:t>
            </a:r>
            <a:endParaRPr lang="en-US" sz="1100" dirty="0"/>
          </a:p>
        </p:txBody>
      </p:sp>
      <p:sp>
        <p:nvSpPr>
          <p:cNvPr id="40" name="Shape 38"/>
          <p:cNvSpPr/>
          <p:nvPr/>
        </p:nvSpPr>
        <p:spPr>
          <a:xfrm>
            <a:off x="3291840" y="3794760"/>
            <a:ext cx="2651760" cy="1005840"/>
          </a:xfrm>
          <a:prstGeom prst="rect">
            <a:avLst/>
          </a:prstGeom>
          <a:solidFill>
            <a:srgbClr val="FFFFFF"/>
          </a:solidFill>
          <a:ln w="12700">
            <a:solidFill>
              <a:srgbClr val="CADCFC"/>
            </a:solidFill>
            <a:prstDash val="solid"/>
          </a:ln>
          <a:effectLst>
            <a:outerShdw blurRad="101600" dist="38100" dir="8100000" algn="bl" rotWithShape="0">
              <a:srgbClr val="1E2761">
                <a:alpha val="15000"/>
              </a:srgbClr>
            </a:outerShdw>
          </a:effectLst>
        </p:spPr>
        <p:txBody>
          <a:bodyPr/>
          <a:lstStyle/>
          <a:p>
            <a:endParaRPr lang="en-US"/>
          </a:p>
        </p:txBody>
      </p:sp>
      <p:sp>
        <p:nvSpPr>
          <p:cNvPr id="41" name="Text 39"/>
          <p:cNvSpPr/>
          <p:nvPr/>
        </p:nvSpPr>
        <p:spPr>
          <a:xfrm>
            <a:off x="3401568" y="3849624"/>
            <a:ext cx="2468880" cy="274320"/>
          </a:xfrm>
          <a:prstGeom prst="rect">
            <a:avLst/>
          </a:prstGeom>
          <a:noFill/>
          <a:ln/>
        </p:spPr>
        <p:txBody>
          <a:bodyPr wrap="square" rtlCol="0" anchor="ctr"/>
          <a:lstStyle/>
          <a:p>
            <a:pPr marL="0" indent="0" algn="l">
              <a:buNone/>
            </a:pPr>
            <a:r>
              <a:rPr lang="en-US" sz="1200" b="1" dirty="0">
                <a:solidFill>
                  <a:srgbClr val="028090"/>
                </a:solidFill>
              </a:rPr>
              <a:t>Classification</a:t>
            </a:r>
            <a:endParaRPr lang="en-US" sz="1200" dirty="0"/>
          </a:p>
        </p:txBody>
      </p:sp>
      <p:sp>
        <p:nvSpPr>
          <p:cNvPr id="42" name="Text 40"/>
          <p:cNvSpPr/>
          <p:nvPr/>
        </p:nvSpPr>
        <p:spPr>
          <a:xfrm>
            <a:off x="3401568" y="4114800"/>
            <a:ext cx="2468880" cy="640080"/>
          </a:xfrm>
          <a:prstGeom prst="rect">
            <a:avLst/>
          </a:prstGeom>
          <a:noFill/>
          <a:ln/>
        </p:spPr>
        <p:txBody>
          <a:bodyPr wrap="square" rtlCol="0" anchor="ctr"/>
          <a:lstStyle/>
          <a:p>
            <a:pPr marL="0" indent="0" algn="l">
              <a:buNone/>
            </a:pPr>
            <a:r>
              <a:rPr lang="en-US" sz="1100" dirty="0">
                <a:solidFill>
                  <a:srgbClr val="334155"/>
                </a:solidFill>
              </a:rPr>
              <a:t>Behavior-based sensitivity score → quantile thresholds → Decision Tree (max_depth=5) classifier.</a:t>
            </a:r>
            <a:endParaRPr lang="en-US" sz="1100" dirty="0"/>
          </a:p>
        </p:txBody>
      </p:sp>
      <p:sp>
        <p:nvSpPr>
          <p:cNvPr id="43" name="Shape 41"/>
          <p:cNvSpPr/>
          <p:nvPr/>
        </p:nvSpPr>
        <p:spPr>
          <a:xfrm>
            <a:off x="6172200" y="3794760"/>
            <a:ext cx="2651760" cy="1005840"/>
          </a:xfrm>
          <a:prstGeom prst="rect">
            <a:avLst/>
          </a:prstGeom>
          <a:solidFill>
            <a:srgbClr val="FFFFFF"/>
          </a:solidFill>
          <a:ln w="12700">
            <a:solidFill>
              <a:srgbClr val="CADCFC"/>
            </a:solidFill>
            <a:prstDash val="solid"/>
          </a:ln>
          <a:effectLst>
            <a:outerShdw blurRad="101600" dist="38100" dir="8100000" algn="bl" rotWithShape="0">
              <a:srgbClr val="1E2761">
                <a:alpha val="15000"/>
              </a:srgbClr>
            </a:outerShdw>
          </a:effectLst>
        </p:spPr>
        <p:txBody>
          <a:bodyPr/>
          <a:lstStyle/>
          <a:p>
            <a:endParaRPr lang="en-US"/>
          </a:p>
        </p:txBody>
      </p:sp>
      <p:sp>
        <p:nvSpPr>
          <p:cNvPr id="44" name="Text 42"/>
          <p:cNvSpPr/>
          <p:nvPr/>
        </p:nvSpPr>
        <p:spPr>
          <a:xfrm>
            <a:off x="6281928" y="3849624"/>
            <a:ext cx="2468880" cy="274320"/>
          </a:xfrm>
          <a:prstGeom prst="rect">
            <a:avLst/>
          </a:prstGeom>
          <a:noFill/>
          <a:ln/>
        </p:spPr>
        <p:txBody>
          <a:bodyPr wrap="square" rtlCol="0" anchor="ctr"/>
          <a:lstStyle/>
          <a:p>
            <a:pPr marL="0" indent="0" algn="l">
              <a:buNone/>
            </a:pPr>
            <a:r>
              <a:rPr lang="en-US" sz="1200" b="1" dirty="0">
                <a:solidFill>
                  <a:srgbClr val="028090"/>
                </a:solidFill>
              </a:rPr>
              <a:t>Dashboard</a:t>
            </a:r>
            <a:endParaRPr lang="en-US" sz="1200" dirty="0"/>
          </a:p>
        </p:txBody>
      </p:sp>
      <p:sp>
        <p:nvSpPr>
          <p:cNvPr id="45" name="Text 43"/>
          <p:cNvSpPr/>
          <p:nvPr/>
        </p:nvSpPr>
        <p:spPr>
          <a:xfrm>
            <a:off x="6281928" y="4114800"/>
            <a:ext cx="2468880" cy="640080"/>
          </a:xfrm>
          <a:prstGeom prst="rect">
            <a:avLst/>
          </a:prstGeom>
          <a:noFill/>
          <a:ln/>
        </p:spPr>
        <p:txBody>
          <a:bodyPr wrap="square" rtlCol="0" anchor="ctr"/>
          <a:lstStyle/>
          <a:p>
            <a:pPr marL="0" indent="0" algn="l">
              <a:buNone/>
            </a:pPr>
            <a:r>
              <a:rPr lang="en-US" sz="1100" dirty="0">
                <a:solidFill>
                  <a:srgbClr val="334155"/>
                </a:solidFill>
              </a:rPr>
              <a:t>Streamlit app for real-time discount tier prediction for new customer inputs.</a:t>
            </a:r>
            <a:endParaRPr lang="en-US" sz="1100" dirty="0"/>
          </a:p>
        </p:txBody>
      </p:sp>
      <p:sp>
        <p:nvSpPr>
          <p:cNvPr id="46" name="Shape 44"/>
          <p:cNvSpPr/>
          <p:nvPr/>
        </p:nvSpPr>
        <p:spPr>
          <a:xfrm>
            <a:off x="0" y="4869180"/>
            <a:ext cx="9144000" cy="274320"/>
          </a:xfrm>
          <a:prstGeom prst="rect">
            <a:avLst/>
          </a:prstGeom>
          <a:solidFill>
            <a:srgbClr val="1E2761"/>
          </a:solidFill>
          <a:ln w="12700">
            <a:solidFill>
              <a:srgbClr val="1E2761"/>
            </a:solidFill>
            <a:prstDash val="solid"/>
          </a:ln>
        </p:spPr>
        <p:txBody>
          <a:bodyPr/>
          <a:lstStyle/>
          <a:p>
            <a:endParaRPr lang="en-US"/>
          </a:p>
        </p:txBody>
      </p:sp>
      <p:sp>
        <p:nvSpPr>
          <p:cNvPr id="47" name="Text 45"/>
          <p:cNvSpPr/>
          <p:nvPr/>
        </p:nvSpPr>
        <p:spPr>
          <a:xfrm>
            <a:off x="0" y="4869180"/>
            <a:ext cx="9144000" cy="274320"/>
          </a:xfrm>
          <a:prstGeom prst="rect">
            <a:avLst/>
          </a:prstGeom>
          <a:noFill/>
          <a:ln/>
        </p:spPr>
        <p:txBody>
          <a:bodyPr wrap="square" lIns="0" tIns="0" rIns="0" bIns="0" rtlCol="0" anchor="ctr"/>
          <a:lstStyle/>
          <a:p>
            <a:pPr marL="0" indent="0" algn="ctr">
              <a:buNone/>
            </a:pPr>
            <a:r>
              <a:rPr lang="en-US" sz="900" dirty="0">
                <a:solidFill>
                  <a:srgbClr val="CADCFC"/>
                </a:solidFill>
              </a:rPr>
              <a:t>Smart Discount Targeting System  |  NUCES CS3005  |  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28090"/>
          </a:solidFill>
          <a:ln w="12700">
            <a:solidFill>
              <a:srgbClr val="028090"/>
            </a:solidFill>
            <a:prstDash val="solid"/>
          </a:ln>
        </p:spPr>
        <p:txBody>
          <a:bodyPr/>
          <a:lstStyle/>
          <a:p>
            <a:endParaRPr lang="en-US"/>
          </a:p>
        </p:txBody>
      </p:sp>
      <p:sp>
        <p:nvSpPr>
          <p:cNvPr id="3" name="Text 1"/>
          <p:cNvSpPr/>
          <p:nvPr/>
        </p:nvSpPr>
        <p:spPr>
          <a:xfrm>
            <a:off x="457200" y="164592"/>
            <a:ext cx="7772400" cy="566928"/>
          </a:xfrm>
          <a:prstGeom prst="rect">
            <a:avLst/>
          </a:prstGeom>
          <a:noFill/>
          <a:ln/>
        </p:spPr>
        <p:txBody>
          <a:bodyPr wrap="square" rtlCol="0" anchor="ctr"/>
          <a:lstStyle/>
          <a:p>
            <a:pPr marL="0" indent="0" algn="l">
              <a:buNone/>
            </a:pPr>
            <a:r>
              <a:rPr lang="en-US" sz="3000" b="1" dirty="0">
                <a:solidFill>
                  <a:srgbClr val="1E2761"/>
                </a:solidFill>
              </a:rPr>
              <a:t>Data Preprocessing &amp; Integration</a:t>
            </a:r>
            <a:endParaRPr lang="en-US" sz="3000" dirty="0"/>
          </a:p>
        </p:txBody>
      </p:sp>
      <p:sp>
        <p:nvSpPr>
          <p:cNvPr id="4" name="Text 2"/>
          <p:cNvSpPr/>
          <p:nvPr/>
        </p:nvSpPr>
        <p:spPr>
          <a:xfrm>
            <a:off x="457200" y="713232"/>
            <a:ext cx="8229600" cy="274320"/>
          </a:xfrm>
          <a:prstGeom prst="rect">
            <a:avLst/>
          </a:prstGeom>
          <a:noFill/>
          <a:ln/>
        </p:spPr>
        <p:txBody>
          <a:bodyPr wrap="square" rtlCol="0" anchor="ctr"/>
          <a:lstStyle/>
          <a:p>
            <a:pPr marL="0" indent="0" algn="l">
              <a:buNone/>
            </a:pPr>
            <a:r>
              <a:rPr lang="en-US" sz="1300" i="1" dirty="0">
                <a:solidFill>
                  <a:srgbClr val="028090"/>
                </a:solidFill>
              </a:rPr>
              <a:t>Cleaning and merging five relational tables</a:t>
            </a:r>
            <a:endParaRPr lang="en-US" sz="1300" dirty="0"/>
          </a:p>
        </p:txBody>
      </p:sp>
      <p:sp>
        <p:nvSpPr>
          <p:cNvPr id="5" name="Shape 3"/>
          <p:cNvSpPr/>
          <p:nvPr/>
        </p:nvSpPr>
        <p:spPr>
          <a:xfrm>
            <a:off x="457200" y="1051560"/>
            <a:ext cx="1371600" cy="384048"/>
          </a:xfrm>
          <a:prstGeom prst="rect">
            <a:avLst/>
          </a:prstGeom>
          <a:solidFill>
            <a:srgbClr val="028090"/>
          </a:solidFill>
          <a:ln w="12700">
            <a:solidFill>
              <a:srgbClr val="028090"/>
            </a:solidFill>
            <a:prstDash val="solid"/>
          </a:ln>
        </p:spPr>
        <p:txBody>
          <a:bodyPr/>
          <a:lstStyle/>
          <a:p>
            <a:endParaRPr lang="en-US"/>
          </a:p>
        </p:txBody>
      </p:sp>
      <p:sp>
        <p:nvSpPr>
          <p:cNvPr id="6" name="Text 4"/>
          <p:cNvSpPr/>
          <p:nvPr/>
        </p:nvSpPr>
        <p:spPr>
          <a:xfrm>
            <a:off x="457200" y="1051560"/>
            <a:ext cx="1371600" cy="384048"/>
          </a:xfrm>
          <a:prstGeom prst="rect">
            <a:avLst/>
          </a:prstGeom>
          <a:noFill/>
          <a:ln/>
        </p:spPr>
        <p:txBody>
          <a:bodyPr wrap="square" lIns="0" tIns="0" rIns="0" bIns="0" rtlCol="0" anchor="ctr"/>
          <a:lstStyle/>
          <a:p>
            <a:pPr marL="0" indent="0" algn="ctr">
              <a:buNone/>
            </a:pPr>
            <a:r>
              <a:rPr lang="en-US" sz="1200" b="1" dirty="0">
                <a:solidFill>
                  <a:srgbClr val="FFFFFF"/>
                </a:solidFill>
              </a:rPr>
              <a:t>Step 1</a:t>
            </a:r>
            <a:endParaRPr lang="en-US" sz="1200" dirty="0"/>
          </a:p>
        </p:txBody>
      </p:sp>
      <p:sp>
        <p:nvSpPr>
          <p:cNvPr id="7" name="Shape 5"/>
          <p:cNvSpPr/>
          <p:nvPr/>
        </p:nvSpPr>
        <p:spPr>
          <a:xfrm>
            <a:off x="1920240" y="1051560"/>
            <a:ext cx="6675120" cy="384048"/>
          </a:xfrm>
          <a:prstGeom prst="rect">
            <a:avLst/>
          </a:prstGeom>
          <a:solidFill>
            <a:srgbClr val="FFFFFF"/>
          </a:solidFill>
          <a:ln w="12700">
            <a:solidFill>
              <a:srgbClr val="CADCFC"/>
            </a:solidFill>
            <a:prstDash val="solid"/>
          </a:ln>
        </p:spPr>
        <p:txBody>
          <a:bodyPr/>
          <a:lstStyle/>
          <a:p>
            <a:endParaRPr lang="en-US"/>
          </a:p>
        </p:txBody>
      </p:sp>
      <p:sp>
        <p:nvSpPr>
          <p:cNvPr id="8" name="Text 6"/>
          <p:cNvSpPr/>
          <p:nvPr/>
        </p:nvSpPr>
        <p:spPr>
          <a:xfrm>
            <a:off x="2057400" y="1088136"/>
            <a:ext cx="6492240" cy="310896"/>
          </a:xfrm>
          <a:prstGeom prst="rect">
            <a:avLst/>
          </a:prstGeom>
          <a:noFill/>
          <a:ln/>
        </p:spPr>
        <p:txBody>
          <a:bodyPr wrap="square" lIns="0" tIns="0" rIns="0" bIns="0" rtlCol="0" anchor="ctr"/>
          <a:lstStyle/>
          <a:p>
            <a:pPr marL="0" indent="0" algn="l">
              <a:buNone/>
            </a:pPr>
            <a:r>
              <a:rPr lang="en-US" sz="1300" dirty="0">
                <a:solidFill>
                  <a:srgbClr val="334155"/>
                </a:solidFill>
              </a:rPr>
              <a:t>Merge 5 tables on customer_id, order_id, product_id</a:t>
            </a:r>
            <a:endParaRPr lang="en-US" sz="1300" dirty="0"/>
          </a:p>
        </p:txBody>
      </p:sp>
      <p:sp>
        <p:nvSpPr>
          <p:cNvPr id="9" name="Shape 7"/>
          <p:cNvSpPr/>
          <p:nvPr/>
        </p:nvSpPr>
        <p:spPr>
          <a:xfrm>
            <a:off x="457200" y="1572768"/>
            <a:ext cx="1371600" cy="384048"/>
          </a:xfrm>
          <a:prstGeom prst="rect">
            <a:avLst/>
          </a:prstGeom>
          <a:solidFill>
            <a:srgbClr val="028090"/>
          </a:solidFill>
          <a:ln w="12700">
            <a:solidFill>
              <a:srgbClr val="028090"/>
            </a:solidFill>
            <a:prstDash val="solid"/>
          </a:ln>
        </p:spPr>
        <p:txBody>
          <a:bodyPr/>
          <a:lstStyle/>
          <a:p>
            <a:endParaRPr lang="en-US"/>
          </a:p>
        </p:txBody>
      </p:sp>
      <p:sp>
        <p:nvSpPr>
          <p:cNvPr id="10" name="Text 8"/>
          <p:cNvSpPr/>
          <p:nvPr/>
        </p:nvSpPr>
        <p:spPr>
          <a:xfrm>
            <a:off x="457200" y="1572768"/>
            <a:ext cx="1371600" cy="384048"/>
          </a:xfrm>
          <a:prstGeom prst="rect">
            <a:avLst/>
          </a:prstGeom>
          <a:noFill/>
          <a:ln/>
        </p:spPr>
        <p:txBody>
          <a:bodyPr wrap="square" lIns="0" tIns="0" rIns="0" bIns="0" rtlCol="0" anchor="ctr"/>
          <a:lstStyle/>
          <a:p>
            <a:pPr marL="0" indent="0" algn="ctr">
              <a:buNone/>
            </a:pPr>
            <a:r>
              <a:rPr lang="en-US" sz="1200" b="1" dirty="0">
                <a:solidFill>
                  <a:srgbClr val="FFFFFF"/>
                </a:solidFill>
              </a:rPr>
              <a:t>Step 2</a:t>
            </a:r>
            <a:endParaRPr lang="en-US" sz="1200" dirty="0"/>
          </a:p>
        </p:txBody>
      </p:sp>
      <p:sp>
        <p:nvSpPr>
          <p:cNvPr id="11" name="Shape 9"/>
          <p:cNvSpPr/>
          <p:nvPr/>
        </p:nvSpPr>
        <p:spPr>
          <a:xfrm>
            <a:off x="1920240" y="1572768"/>
            <a:ext cx="6675120" cy="384048"/>
          </a:xfrm>
          <a:prstGeom prst="rect">
            <a:avLst/>
          </a:prstGeom>
          <a:solidFill>
            <a:srgbClr val="FFFFFF"/>
          </a:solidFill>
          <a:ln w="12700">
            <a:solidFill>
              <a:srgbClr val="CADCFC"/>
            </a:solidFill>
            <a:prstDash val="solid"/>
          </a:ln>
        </p:spPr>
        <p:txBody>
          <a:bodyPr/>
          <a:lstStyle/>
          <a:p>
            <a:endParaRPr lang="en-US"/>
          </a:p>
        </p:txBody>
      </p:sp>
      <p:sp>
        <p:nvSpPr>
          <p:cNvPr id="12" name="Text 10"/>
          <p:cNvSpPr/>
          <p:nvPr/>
        </p:nvSpPr>
        <p:spPr>
          <a:xfrm>
            <a:off x="2057400" y="1609344"/>
            <a:ext cx="6492240" cy="310896"/>
          </a:xfrm>
          <a:prstGeom prst="rect">
            <a:avLst/>
          </a:prstGeom>
          <a:noFill/>
          <a:ln/>
        </p:spPr>
        <p:txBody>
          <a:bodyPr wrap="square" lIns="0" tIns="0" rIns="0" bIns="0" rtlCol="0" anchor="ctr"/>
          <a:lstStyle/>
          <a:p>
            <a:pPr marL="0" indent="0" algn="l">
              <a:buNone/>
            </a:pPr>
            <a:r>
              <a:rPr lang="en-US" sz="1300" dirty="0">
                <a:solidFill>
                  <a:srgbClr val="334155"/>
                </a:solidFill>
              </a:rPr>
              <a:t>Retain only delivered orders for completed transaction records</a:t>
            </a:r>
            <a:endParaRPr lang="en-US" sz="1300" dirty="0"/>
          </a:p>
        </p:txBody>
      </p:sp>
      <p:sp>
        <p:nvSpPr>
          <p:cNvPr id="13" name="Shape 11"/>
          <p:cNvSpPr/>
          <p:nvPr/>
        </p:nvSpPr>
        <p:spPr>
          <a:xfrm>
            <a:off x="457200" y="2093976"/>
            <a:ext cx="1371600" cy="384048"/>
          </a:xfrm>
          <a:prstGeom prst="rect">
            <a:avLst/>
          </a:prstGeom>
          <a:solidFill>
            <a:srgbClr val="028090"/>
          </a:solidFill>
          <a:ln w="12700">
            <a:solidFill>
              <a:srgbClr val="028090"/>
            </a:solidFill>
            <a:prstDash val="solid"/>
          </a:ln>
        </p:spPr>
        <p:txBody>
          <a:bodyPr/>
          <a:lstStyle/>
          <a:p>
            <a:endParaRPr lang="en-US"/>
          </a:p>
        </p:txBody>
      </p:sp>
      <p:sp>
        <p:nvSpPr>
          <p:cNvPr id="14" name="Text 12"/>
          <p:cNvSpPr/>
          <p:nvPr/>
        </p:nvSpPr>
        <p:spPr>
          <a:xfrm>
            <a:off x="457200" y="2093976"/>
            <a:ext cx="1371600" cy="384048"/>
          </a:xfrm>
          <a:prstGeom prst="rect">
            <a:avLst/>
          </a:prstGeom>
          <a:noFill/>
          <a:ln/>
        </p:spPr>
        <p:txBody>
          <a:bodyPr wrap="square" lIns="0" tIns="0" rIns="0" bIns="0" rtlCol="0" anchor="ctr"/>
          <a:lstStyle/>
          <a:p>
            <a:pPr marL="0" indent="0" algn="ctr">
              <a:buNone/>
            </a:pPr>
            <a:r>
              <a:rPr lang="en-US" sz="1200" b="1" dirty="0">
                <a:solidFill>
                  <a:srgbClr val="FFFFFF"/>
                </a:solidFill>
              </a:rPr>
              <a:t>Step 3</a:t>
            </a:r>
            <a:endParaRPr lang="en-US" sz="1200" dirty="0"/>
          </a:p>
        </p:txBody>
      </p:sp>
      <p:sp>
        <p:nvSpPr>
          <p:cNvPr id="15" name="Shape 13"/>
          <p:cNvSpPr/>
          <p:nvPr/>
        </p:nvSpPr>
        <p:spPr>
          <a:xfrm>
            <a:off x="1920240" y="2093976"/>
            <a:ext cx="6675120" cy="384048"/>
          </a:xfrm>
          <a:prstGeom prst="rect">
            <a:avLst/>
          </a:prstGeom>
          <a:solidFill>
            <a:srgbClr val="FFFFFF"/>
          </a:solidFill>
          <a:ln w="12700">
            <a:solidFill>
              <a:srgbClr val="CADCFC"/>
            </a:solidFill>
            <a:prstDash val="solid"/>
          </a:ln>
        </p:spPr>
        <p:txBody>
          <a:bodyPr/>
          <a:lstStyle/>
          <a:p>
            <a:endParaRPr lang="en-US"/>
          </a:p>
        </p:txBody>
      </p:sp>
      <p:sp>
        <p:nvSpPr>
          <p:cNvPr id="16" name="Text 14"/>
          <p:cNvSpPr/>
          <p:nvPr/>
        </p:nvSpPr>
        <p:spPr>
          <a:xfrm>
            <a:off x="2057400" y="2130552"/>
            <a:ext cx="6492240" cy="310896"/>
          </a:xfrm>
          <a:prstGeom prst="rect">
            <a:avLst/>
          </a:prstGeom>
          <a:noFill/>
          <a:ln/>
        </p:spPr>
        <p:txBody>
          <a:bodyPr wrap="square" lIns="0" tIns="0" rIns="0" bIns="0" rtlCol="0" anchor="ctr"/>
          <a:lstStyle/>
          <a:p>
            <a:pPr marL="0" indent="0" algn="l">
              <a:buNone/>
            </a:pPr>
            <a:r>
              <a:rPr lang="en-US" sz="1300" dirty="0">
                <a:solidFill>
                  <a:srgbClr val="334155"/>
                </a:solidFill>
              </a:rPr>
              <a:t>Parse &amp; convert all timestamp columns to datetime format</a:t>
            </a:r>
            <a:endParaRPr lang="en-US" sz="1300" dirty="0"/>
          </a:p>
        </p:txBody>
      </p:sp>
      <p:sp>
        <p:nvSpPr>
          <p:cNvPr id="17" name="Shape 15"/>
          <p:cNvSpPr/>
          <p:nvPr/>
        </p:nvSpPr>
        <p:spPr>
          <a:xfrm>
            <a:off x="457200" y="2615184"/>
            <a:ext cx="1371600" cy="384048"/>
          </a:xfrm>
          <a:prstGeom prst="rect">
            <a:avLst/>
          </a:prstGeom>
          <a:solidFill>
            <a:srgbClr val="028090"/>
          </a:solidFill>
          <a:ln w="12700">
            <a:solidFill>
              <a:srgbClr val="028090"/>
            </a:solidFill>
            <a:prstDash val="solid"/>
          </a:ln>
        </p:spPr>
        <p:txBody>
          <a:bodyPr/>
          <a:lstStyle/>
          <a:p>
            <a:endParaRPr lang="en-US"/>
          </a:p>
        </p:txBody>
      </p:sp>
      <p:sp>
        <p:nvSpPr>
          <p:cNvPr id="18" name="Text 16"/>
          <p:cNvSpPr/>
          <p:nvPr/>
        </p:nvSpPr>
        <p:spPr>
          <a:xfrm>
            <a:off x="457200" y="2615184"/>
            <a:ext cx="1371600" cy="384048"/>
          </a:xfrm>
          <a:prstGeom prst="rect">
            <a:avLst/>
          </a:prstGeom>
          <a:noFill/>
          <a:ln/>
        </p:spPr>
        <p:txBody>
          <a:bodyPr wrap="square" lIns="0" tIns="0" rIns="0" bIns="0" rtlCol="0" anchor="ctr"/>
          <a:lstStyle/>
          <a:p>
            <a:pPr marL="0" indent="0" algn="ctr">
              <a:buNone/>
            </a:pPr>
            <a:r>
              <a:rPr lang="en-US" sz="1200" b="1" dirty="0">
                <a:solidFill>
                  <a:srgbClr val="FFFFFF"/>
                </a:solidFill>
              </a:rPr>
              <a:t>Step 4</a:t>
            </a:r>
            <a:endParaRPr lang="en-US" sz="1200" dirty="0"/>
          </a:p>
        </p:txBody>
      </p:sp>
      <p:sp>
        <p:nvSpPr>
          <p:cNvPr id="19" name="Shape 17"/>
          <p:cNvSpPr/>
          <p:nvPr/>
        </p:nvSpPr>
        <p:spPr>
          <a:xfrm>
            <a:off x="1920240" y="2615184"/>
            <a:ext cx="6675120" cy="384048"/>
          </a:xfrm>
          <a:prstGeom prst="rect">
            <a:avLst/>
          </a:prstGeom>
          <a:solidFill>
            <a:srgbClr val="FFFFFF"/>
          </a:solidFill>
          <a:ln w="12700">
            <a:solidFill>
              <a:srgbClr val="CADCFC"/>
            </a:solidFill>
            <a:prstDash val="solid"/>
          </a:ln>
        </p:spPr>
        <p:txBody>
          <a:bodyPr/>
          <a:lstStyle/>
          <a:p>
            <a:endParaRPr lang="en-US"/>
          </a:p>
        </p:txBody>
      </p:sp>
      <p:sp>
        <p:nvSpPr>
          <p:cNvPr id="20" name="Text 18"/>
          <p:cNvSpPr/>
          <p:nvPr/>
        </p:nvSpPr>
        <p:spPr>
          <a:xfrm>
            <a:off x="2057400" y="2651760"/>
            <a:ext cx="6492240" cy="310896"/>
          </a:xfrm>
          <a:prstGeom prst="rect">
            <a:avLst/>
          </a:prstGeom>
          <a:noFill/>
          <a:ln/>
        </p:spPr>
        <p:txBody>
          <a:bodyPr wrap="square" lIns="0" tIns="0" rIns="0" bIns="0" rtlCol="0" anchor="ctr"/>
          <a:lstStyle/>
          <a:p>
            <a:pPr marL="0" indent="0" algn="l">
              <a:buNone/>
            </a:pPr>
            <a:r>
              <a:rPr lang="en-US" sz="1300" dirty="0">
                <a:solidFill>
                  <a:srgbClr val="334155"/>
                </a:solidFill>
              </a:rPr>
              <a:t>Fill missing product category names with placeholder 'unknown'</a:t>
            </a:r>
            <a:endParaRPr lang="en-US" sz="1300" dirty="0"/>
          </a:p>
        </p:txBody>
      </p:sp>
      <p:sp>
        <p:nvSpPr>
          <p:cNvPr id="21" name="Shape 19"/>
          <p:cNvSpPr/>
          <p:nvPr/>
        </p:nvSpPr>
        <p:spPr>
          <a:xfrm>
            <a:off x="457200" y="3136392"/>
            <a:ext cx="1371600" cy="384048"/>
          </a:xfrm>
          <a:prstGeom prst="rect">
            <a:avLst/>
          </a:prstGeom>
          <a:solidFill>
            <a:srgbClr val="028090"/>
          </a:solidFill>
          <a:ln w="12700">
            <a:solidFill>
              <a:srgbClr val="028090"/>
            </a:solidFill>
            <a:prstDash val="solid"/>
          </a:ln>
        </p:spPr>
        <p:txBody>
          <a:bodyPr/>
          <a:lstStyle/>
          <a:p>
            <a:endParaRPr lang="en-US"/>
          </a:p>
        </p:txBody>
      </p:sp>
      <p:sp>
        <p:nvSpPr>
          <p:cNvPr id="22" name="Text 20"/>
          <p:cNvSpPr/>
          <p:nvPr/>
        </p:nvSpPr>
        <p:spPr>
          <a:xfrm>
            <a:off x="457200" y="3136392"/>
            <a:ext cx="1371600" cy="384048"/>
          </a:xfrm>
          <a:prstGeom prst="rect">
            <a:avLst/>
          </a:prstGeom>
          <a:noFill/>
          <a:ln/>
        </p:spPr>
        <p:txBody>
          <a:bodyPr wrap="square" lIns="0" tIns="0" rIns="0" bIns="0" rtlCol="0" anchor="ctr"/>
          <a:lstStyle/>
          <a:p>
            <a:pPr marL="0" indent="0" algn="ctr">
              <a:buNone/>
            </a:pPr>
            <a:r>
              <a:rPr lang="en-US" sz="1200" b="1" dirty="0">
                <a:solidFill>
                  <a:srgbClr val="FFFFFF"/>
                </a:solidFill>
              </a:rPr>
              <a:t>Step 5</a:t>
            </a:r>
            <a:endParaRPr lang="en-US" sz="1200" dirty="0"/>
          </a:p>
        </p:txBody>
      </p:sp>
      <p:sp>
        <p:nvSpPr>
          <p:cNvPr id="23" name="Shape 21"/>
          <p:cNvSpPr/>
          <p:nvPr/>
        </p:nvSpPr>
        <p:spPr>
          <a:xfrm>
            <a:off x="1920240" y="3136392"/>
            <a:ext cx="6675120" cy="384048"/>
          </a:xfrm>
          <a:prstGeom prst="rect">
            <a:avLst/>
          </a:prstGeom>
          <a:solidFill>
            <a:srgbClr val="FFFFFF"/>
          </a:solidFill>
          <a:ln w="12700">
            <a:solidFill>
              <a:srgbClr val="CADCFC"/>
            </a:solidFill>
            <a:prstDash val="solid"/>
          </a:ln>
        </p:spPr>
        <p:txBody>
          <a:bodyPr/>
          <a:lstStyle/>
          <a:p>
            <a:endParaRPr lang="en-US"/>
          </a:p>
        </p:txBody>
      </p:sp>
      <p:sp>
        <p:nvSpPr>
          <p:cNvPr id="24" name="Text 22"/>
          <p:cNvSpPr/>
          <p:nvPr/>
        </p:nvSpPr>
        <p:spPr>
          <a:xfrm>
            <a:off x="2057400" y="3172968"/>
            <a:ext cx="6492240" cy="310896"/>
          </a:xfrm>
          <a:prstGeom prst="rect">
            <a:avLst/>
          </a:prstGeom>
          <a:noFill/>
          <a:ln/>
        </p:spPr>
        <p:txBody>
          <a:bodyPr wrap="square" lIns="0" tIns="0" rIns="0" bIns="0" rtlCol="0" anchor="ctr"/>
          <a:lstStyle/>
          <a:p>
            <a:pPr marL="0" indent="0" algn="l">
              <a:buNone/>
            </a:pPr>
            <a:r>
              <a:rPr lang="en-US" sz="1300" dirty="0">
                <a:solidFill>
                  <a:srgbClr val="334155"/>
                </a:solidFill>
              </a:rPr>
              <a:t>Remove duplicate records &amp; drop rows with missing payment info</a:t>
            </a:r>
            <a:endParaRPr lang="en-US" sz="1300" dirty="0"/>
          </a:p>
        </p:txBody>
      </p:sp>
      <p:sp>
        <p:nvSpPr>
          <p:cNvPr id="25" name="Shape 23"/>
          <p:cNvSpPr/>
          <p:nvPr/>
        </p:nvSpPr>
        <p:spPr>
          <a:xfrm>
            <a:off x="457200" y="3657600"/>
            <a:ext cx="1371600" cy="384048"/>
          </a:xfrm>
          <a:prstGeom prst="rect">
            <a:avLst/>
          </a:prstGeom>
          <a:solidFill>
            <a:srgbClr val="028090"/>
          </a:solidFill>
          <a:ln w="12700">
            <a:solidFill>
              <a:srgbClr val="028090"/>
            </a:solidFill>
            <a:prstDash val="solid"/>
          </a:ln>
        </p:spPr>
        <p:txBody>
          <a:bodyPr/>
          <a:lstStyle/>
          <a:p>
            <a:endParaRPr lang="en-US"/>
          </a:p>
        </p:txBody>
      </p:sp>
      <p:sp>
        <p:nvSpPr>
          <p:cNvPr id="26" name="Text 24"/>
          <p:cNvSpPr/>
          <p:nvPr/>
        </p:nvSpPr>
        <p:spPr>
          <a:xfrm>
            <a:off x="457200" y="3657600"/>
            <a:ext cx="1371600" cy="384048"/>
          </a:xfrm>
          <a:prstGeom prst="rect">
            <a:avLst/>
          </a:prstGeom>
          <a:noFill/>
          <a:ln/>
        </p:spPr>
        <p:txBody>
          <a:bodyPr wrap="square" lIns="0" tIns="0" rIns="0" bIns="0" rtlCol="0" anchor="ctr"/>
          <a:lstStyle/>
          <a:p>
            <a:pPr marL="0" indent="0" algn="ctr">
              <a:buNone/>
            </a:pPr>
            <a:r>
              <a:rPr lang="en-US" sz="1200" b="1" dirty="0">
                <a:solidFill>
                  <a:srgbClr val="FFFFFF"/>
                </a:solidFill>
              </a:rPr>
              <a:t>Step 6</a:t>
            </a:r>
            <a:endParaRPr lang="en-US" sz="1200" dirty="0"/>
          </a:p>
        </p:txBody>
      </p:sp>
      <p:sp>
        <p:nvSpPr>
          <p:cNvPr id="27" name="Shape 25"/>
          <p:cNvSpPr/>
          <p:nvPr/>
        </p:nvSpPr>
        <p:spPr>
          <a:xfrm>
            <a:off x="1920240" y="3657600"/>
            <a:ext cx="6675120" cy="384048"/>
          </a:xfrm>
          <a:prstGeom prst="rect">
            <a:avLst/>
          </a:prstGeom>
          <a:solidFill>
            <a:srgbClr val="FFFFFF"/>
          </a:solidFill>
          <a:ln w="12700">
            <a:solidFill>
              <a:srgbClr val="CADCFC"/>
            </a:solidFill>
            <a:prstDash val="solid"/>
          </a:ln>
        </p:spPr>
        <p:txBody>
          <a:bodyPr/>
          <a:lstStyle/>
          <a:p>
            <a:endParaRPr lang="en-US"/>
          </a:p>
        </p:txBody>
      </p:sp>
      <p:sp>
        <p:nvSpPr>
          <p:cNvPr id="28" name="Text 26"/>
          <p:cNvSpPr/>
          <p:nvPr/>
        </p:nvSpPr>
        <p:spPr>
          <a:xfrm>
            <a:off x="2057400" y="3694176"/>
            <a:ext cx="6492240" cy="310896"/>
          </a:xfrm>
          <a:prstGeom prst="rect">
            <a:avLst/>
          </a:prstGeom>
          <a:noFill/>
          <a:ln/>
        </p:spPr>
        <p:txBody>
          <a:bodyPr wrap="square" lIns="0" tIns="0" rIns="0" bIns="0" rtlCol="0" anchor="ctr"/>
          <a:lstStyle/>
          <a:p>
            <a:pPr marL="0" indent="0" algn="l">
              <a:buNone/>
            </a:pPr>
            <a:r>
              <a:rPr lang="en-US" sz="1300" dirty="0">
                <a:solidFill>
                  <a:srgbClr val="334155"/>
                </a:solidFill>
              </a:rPr>
              <a:t>Impute remaining numerical missing values with column medians</a:t>
            </a:r>
            <a:endParaRPr lang="en-US" sz="1300" dirty="0"/>
          </a:p>
        </p:txBody>
      </p:sp>
      <p:sp>
        <p:nvSpPr>
          <p:cNvPr id="29" name="Shape 27"/>
          <p:cNvSpPr/>
          <p:nvPr/>
        </p:nvSpPr>
        <p:spPr>
          <a:xfrm>
            <a:off x="457200" y="4178808"/>
            <a:ext cx="1371600" cy="384048"/>
          </a:xfrm>
          <a:prstGeom prst="rect">
            <a:avLst/>
          </a:prstGeom>
          <a:solidFill>
            <a:srgbClr val="02C39A"/>
          </a:solidFill>
          <a:ln w="12700">
            <a:solidFill>
              <a:srgbClr val="02C39A"/>
            </a:solidFill>
            <a:prstDash val="solid"/>
          </a:ln>
        </p:spPr>
        <p:txBody>
          <a:bodyPr/>
          <a:lstStyle/>
          <a:p>
            <a:endParaRPr lang="en-US"/>
          </a:p>
        </p:txBody>
      </p:sp>
      <p:sp>
        <p:nvSpPr>
          <p:cNvPr id="30" name="Text 28"/>
          <p:cNvSpPr/>
          <p:nvPr/>
        </p:nvSpPr>
        <p:spPr>
          <a:xfrm>
            <a:off x="457200" y="4178808"/>
            <a:ext cx="1371600" cy="384048"/>
          </a:xfrm>
          <a:prstGeom prst="rect">
            <a:avLst/>
          </a:prstGeom>
          <a:noFill/>
          <a:ln/>
        </p:spPr>
        <p:txBody>
          <a:bodyPr wrap="square" lIns="0" tIns="0" rIns="0" bIns="0" rtlCol="0" anchor="ctr"/>
          <a:lstStyle/>
          <a:p>
            <a:pPr marL="0" indent="0" algn="ctr">
              <a:buNone/>
            </a:pPr>
            <a:r>
              <a:rPr lang="en-US" sz="1200" b="1" dirty="0">
                <a:solidFill>
                  <a:srgbClr val="FFFFFF"/>
                </a:solidFill>
              </a:rPr>
              <a:t>Output</a:t>
            </a:r>
            <a:endParaRPr lang="en-US" sz="1200" dirty="0"/>
          </a:p>
        </p:txBody>
      </p:sp>
      <p:sp>
        <p:nvSpPr>
          <p:cNvPr id="31" name="Shape 29"/>
          <p:cNvSpPr/>
          <p:nvPr/>
        </p:nvSpPr>
        <p:spPr>
          <a:xfrm>
            <a:off x="1920240" y="4178808"/>
            <a:ext cx="6675120" cy="384048"/>
          </a:xfrm>
          <a:prstGeom prst="rect">
            <a:avLst/>
          </a:prstGeom>
          <a:solidFill>
            <a:srgbClr val="EEF3FA"/>
          </a:solidFill>
          <a:ln w="12700">
            <a:solidFill>
              <a:srgbClr val="CADCFC"/>
            </a:solidFill>
            <a:prstDash val="solid"/>
          </a:ln>
        </p:spPr>
        <p:txBody>
          <a:bodyPr/>
          <a:lstStyle/>
          <a:p>
            <a:endParaRPr lang="en-US"/>
          </a:p>
        </p:txBody>
      </p:sp>
      <p:sp>
        <p:nvSpPr>
          <p:cNvPr id="32" name="Text 30"/>
          <p:cNvSpPr/>
          <p:nvPr/>
        </p:nvSpPr>
        <p:spPr>
          <a:xfrm>
            <a:off x="2057400" y="4215384"/>
            <a:ext cx="6492240" cy="310896"/>
          </a:xfrm>
          <a:prstGeom prst="rect">
            <a:avLst/>
          </a:prstGeom>
          <a:noFill/>
          <a:ln/>
        </p:spPr>
        <p:txBody>
          <a:bodyPr wrap="square" lIns="0" tIns="0" rIns="0" bIns="0" rtlCol="0" anchor="ctr"/>
          <a:lstStyle/>
          <a:p>
            <a:pPr marL="0" indent="0" algn="l">
              <a:buNone/>
            </a:pPr>
            <a:r>
              <a:rPr lang="en-US" sz="1300" dirty="0">
                <a:solidFill>
                  <a:srgbClr val="334155"/>
                </a:solidFill>
              </a:rPr>
              <a:t>Cleaned dataset saved as intermediate CSV for downstream processing</a:t>
            </a:r>
            <a:endParaRPr lang="en-US" sz="1300" dirty="0"/>
          </a:p>
        </p:txBody>
      </p:sp>
      <p:sp>
        <p:nvSpPr>
          <p:cNvPr id="33" name="Shape 31"/>
          <p:cNvSpPr/>
          <p:nvPr/>
        </p:nvSpPr>
        <p:spPr>
          <a:xfrm>
            <a:off x="0" y="4869180"/>
            <a:ext cx="9144000" cy="274320"/>
          </a:xfrm>
          <a:prstGeom prst="rect">
            <a:avLst/>
          </a:prstGeom>
          <a:solidFill>
            <a:srgbClr val="1E2761"/>
          </a:solidFill>
          <a:ln w="12700">
            <a:solidFill>
              <a:srgbClr val="1E2761"/>
            </a:solidFill>
            <a:prstDash val="solid"/>
          </a:ln>
        </p:spPr>
        <p:txBody>
          <a:bodyPr/>
          <a:lstStyle/>
          <a:p>
            <a:endParaRPr lang="en-US"/>
          </a:p>
        </p:txBody>
      </p:sp>
      <p:sp>
        <p:nvSpPr>
          <p:cNvPr id="34" name="Text 32"/>
          <p:cNvSpPr/>
          <p:nvPr/>
        </p:nvSpPr>
        <p:spPr>
          <a:xfrm>
            <a:off x="0" y="4869180"/>
            <a:ext cx="9144000" cy="274320"/>
          </a:xfrm>
          <a:prstGeom prst="rect">
            <a:avLst/>
          </a:prstGeom>
          <a:noFill/>
          <a:ln/>
        </p:spPr>
        <p:txBody>
          <a:bodyPr wrap="square" lIns="0" tIns="0" rIns="0" bIns="0" rtlCol="0" anchor="ctr"/>
          <a:lstStyle/>
          <a:p>
            <a:pPr marL="0" indent="0" algn="ctr">
              <a:buNone/>
            </a:pPr>
            <a:r>
              <a:rPr lang="en-US" sz="900" dirty="0">
                <a:solidFill>
                  <a:srgbClr val="CADCFC"/>
                </a:solidFill>
              </a:rPr>
              <a:t>Smart Discount Targeting System  |  NUCES CS3005  |  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28090"/>
          </a:solidFill>
          <a:ln w="12700">
            <a:solidFill>
              <a:srgbClr val="028090"/>
            </a:solidFill>
            <a:prstDash val="solid"/>
          </a:ln>
        </p:spPr>
        <p:txBody>
          <a:bodyPr/>
          <a:lstStyle/>
          <a:p>
            <a:endParaRPr lang="en-US"/>
          </a:p>
        </p:txBody>
      </p:sp>
      <p:sp>
        <p:nvSpPr>
          <p:cNvPr id="3" name="Text 1"/>
          <p:cNvSpPr/>
          <p:nvPr/>
        </p:nvSpPr>
        <p:spPr>
          <a:xfrm>
            <a:off x="457200" y="54864"/>
            <a:ext cx="7772400" cy="566928"/>
          </a:xfrm>
          <a:prstGeom prst="rect">
            <a:avLst/>
          </a:prstGeom>
          <a:noFill/>
          <a:ln/>
        </p:spPr>
        <p:txBody>
          <a:bodyPr wrap="square" rtlCol="0" anchor="ctr"/>
          <a:lstStyle/>
          <a:p>
            <a:pPr marL="0" indent="0" algn="l">
              <a:buNone/>
            </a:pPr>
            <a:r>
              <a:rPr lang="en-US" sz="3000" b="1" dirty="0">
                <a:solidFill>
                  <a:srgbClr val="1E2761"/>
                </a:solidFill>
              </a:rPr>
              <a:t>Feature Engineering</a:t>
            </a:r>
            <a:endParaRPr lang="en-US" sz="3000" dirty="0"/>
          </a:p>
        </p:txBody>
      </p:sp>
      <p:sp>
        <p:nvSpPr>
          <p:cNvPr id="4" name="Text 2"/>
          <p:cNvSpPr/>
          <p:nvPr/>
        </p:nvSpPr>
        <p:spPr>
          <a:xfrm>
            <a:off x="457200" y="541020"/>
            <a:ext cx="8229600" cy="274320"/>
          </a:xfrm>
          <a:prstGeom prst="rect">
            <a:avLst/>
          </a:prstGeom>
          <a:noFill/>
          <a:ln/>
        </p:spPr>
        <p:txBody>
          <a:bodyPr wrap="square" rtlCol="0" anchor="ctr"/>
          <a:lstStyle/>
          <a:p>
            <a:pPr marL="0" indent="0" algn="l">
              <a:buNone/>
            </a:pPr>
            <a:r>
              <a:rPr lang="en-US" sz="1300" i="1" dirty="0">
                <a:solidFill>
                  <a:srgbClr val="028090"/>
                </a:solidFill>
              </a:rPr>
              <a:t>25+ behavioral features aggregated per customer</a:t>
            </a:r>
            <a:endParaRPr lang="en-US" sz="1300" dirty="0"/>
          </a:p>
        </p:txBody>
      </p:sp>
      <p:sp>
        <p:nvSpPr>
          <p:cNvPr id="5" name="Shape 3"/>
          <p:cNvSpPr/>
          <p:nvPr/>
        </p:nvSpPr>
        <p:spPr>
          <a:xfrm>
            <a:off x="457200" y="1005840"/>
            <a:ext cx="2286000" cy="658368"/>
          </a:xfrm>
          <a:prstGeom prst="rect">
            <a:avLst/>
          </a:prstGeom>
          <a:solidFill>
            <a:srgbClr val="1E2761"/>
          </a:solidFill>
          <a:ln w="12700">
            <a:solidFill>
              <a:srgbClr val="1E2761"/>
            </a:solidFill>
            <a:prstDash val="solid"/>
          </a:ln>
          <a:effectLst>
            <a:outerShdw blurRad="101600" dist="38100" dir="8100000" algn="bl" rotWithShape="0">
              <a:srgbClr val="1E2761">
                <a:alpha val="15000"/>
              </a:srgbClr>
            </a:outerShdw>
          </a:effectLst>
        </p:spPr>
        <p:txBody>
          <a:bodyPr/>
          <a:lstStyle/>
          <a:p>
            <a:endParaRPr lang="en-US"/>
          </a:p>
        </p:txBody>
      </p:sp>
      <p:sp>
        <p:nvSpPr>
          <p:cNvPr id="6" name="Text 4"/>
          <p:cNvSpPr/>
          <p:nvPr/>
        </p:nvSpPr>
        <p:spPr>
          <a:xfrm>
            <a:off x="457200" y="1005840"/>
            <a:ext cx="2286000" cy="658368"/>
          </a:xfrm>
          <a:prstGeom prst="rect">
            <a:avLst/>
          </a:prstGeom>
          <a:noFill/>
          <a:ln/>
        </p:spPr>
        <p:txBody>
          <a:bodyPr wrap="square" lIns="50800" tIns="50800" rIns="50800" bIns="50800" rtlCol="0" anchor="ctr"/>
          <a:lstStyle/>
          <a:p>
            <a:pPr marL="0" indent="0" algn="ctr">
              <a:buNone/>
            </a:pPr>
            <a:r>
              <a:rPr lang="en-US" sz="1200" b="1" dirty="0">
                <a:solidFill>
                  <a:srgbClr val="FFFFFF"/>
                </a:solidFill>
              </a:rPr>
              <a:t>Recency / Frequency</a:t>
            </a:r>
            <a:endParaRPr lang="en-US" sz="1200" dirty="0"/>
          </a:p>
        </p:txBody>
      </p:sp>
      <p:sp>
        <p:nvSpPr>
          <p:cNvPr id="7" name="Shape 5"/>
          <p:cNvSpPr/>
          <p:nvPr/>
        </p:nvSpPr>
        <p:spPr>
          <a:xfrm>
            <a:off x="2880360" y="1005840"/>
            <a:ext cx="3291840" cy="658368"/>
          </a:xfrm>
          <a:prstGeom prst="rect">
            <a:avLst/>
          </a:prstGeom>
          <a:solidFill>
            <a:srgbClr val="FFFFFF"/>
          </a:solidFill>
          <a:ln w="12700">
            <a:solidFill>
              <a:srgbClr val="CADCFC"/>
            </a:solidFill>
            <a:prstDash val="solid"/>
          </a:ln>
        </p:spPr>
        <p:txBody>
          <a:bodyPr/>
          <a:lstStyle/>
          <a:p>
            <a:endParaRPr lang="en-US"/>
          </a:p>
        </p:txBody>
      </p:sp>
      <p:sp>
        <p:nvSpPr>
          <p:cNvPr id="8" name="Text 6"/>
          <p:cNvSpPr/>
          <p:nvPr/>
        </p:nvSpPr>
        <p:spPr>
          <a:xfrm>
            <a:off x="2999232" y="1078992"/>
            <a:ext cx="3108960" cy="512064"/>
          </a:xfrm>
          <a:prstGeom prst="rect">
            <a:avLst/>
          </a:prstGeom>
          <a:noFill/>
          <a:ln/>
        </p:spPr>
        <p:txBody>
          <a:bodyPr wrap="square" rtlCol="0" anchor="ctr"/>
          <a:lstStyle/>
          <a:p>
            <a:pPr marL="0" indent="0" algn="l">
              <a:buNone/>
            </a:pPr>
            <a:r>
              <a:rPr lang="en-US" sz="1200" i="1" dirty="0">
                <a:solidFill>
                  <a:srgbClr val="334155"/>
                </a:solidFill>
              </a:rPr>
              <a:t>recency (days), total_orders, orders_per_month</a:t>
            </a:r>
            <a:endParaRPr lang="en-US" sz="1200" dirty="0"/>
          </a:p>
        </p:txBody>
      </p:sp>
      <p:sp>
        <p:nvSpPr>
          <p:cNvPr id="9" name="Shape 7"/>
          <p:cNvSpPr/>
          <p:nvPr/>
        </p:nvSpPr>
        <p:spPr>
          <a:xfrm>
            <a:off x="6309360" y="1005840"/>
            <a:ext cx="2468880" cy="658368"/>
          </a:xfrm>
          <a:prstGeom prst="rect">
            <a:avLst/>
          </a:prstGeom>
          <a:solidFill>
            <a:srgbClr val="EEF3FA"/>
          </a:solidFill>
          <a:ln w="12700">
            <a:solidFill>
              <a:srgbClr val="CADCFC"/>
            </a:solidFill>
            <a:prstDash val="solid"/>
          </a:ln>
        </p:spPr>
        <p:txBody>
          <a:bodyPr/>
          <a:lstStyle/>
          <a:p>
            <a:endParaRPr lang="en-US"/>
          </a:p>
        </p:txBody>
      </p:sp>
      <p:sp>
        <p:nvSpPr>
          <p:cNvPr id="10" name="Text 8"/>
          <p:cNvSpPr/>
          <p:nvPr/>
        </p:nvSpPr>
        <p:spPr>
          <a:xfrm>
            <a:off x="6419088" y="1078992"/>
            <a:ext cx="2286000" cy="512064"/>
          </a:xfrm>
          <a:prstGeom prst="rect">
            <a:avLst/>
          </a:prstGeom>
          <a:noFill/>
          <a:ln/>
        </p:spPr>
        <p:txBody>
          <a:bodyPr wrap="square" rtlCol="0" anchor="ctr"/>
          <a:lstStyle/>
          <a:p>
            <a:pPr marL="0" indent="0" algn="l">
              <a:buNone/>
            </a:pPr>
            <a:r>
              <a:rPr lang="en-US" sz="1200" b="1" dirty="0">
                <a:solidFill>
                  <a:srgbClr val="028090"/>
                </a:solidFill>
              </a:rPr>
              <a:t>Purchase activity patterns</a:t>
            </a:r>
            <a:endParaRPr lang="en-US" sz="1200" dirty="0"/>
          </a:p>
        </p:txBody>
      </p:sp>
      <p:sp>
        <p:nvSpPr>
          <p:cNvPr id="11" name="Shape 9"/>
          <p:cNvSpPr/>
          <p:nvPr/>
        </p:nvSpPr>
        <p:spPr>
          <a:xfrm>
            <a:off x="457200" y="1783080"/>
            <a:ext cx="2286000" cy="658368"/>
          </a:xfrm>
          <a:prstGeom prst="rect">
            <a:avLst/>
          </a:prstGeom>
          <a:solidFill>
            <a:srgbClr val="028090"/>
          </a:solidFill>
          <a:ln w="12700">
            <a:solidFill>
              <a:srgbClr val="028090"/>
            </a:solidFill>
            <a:prstDash val="solid"/>
          </a:ln>
          <a:effectLst>
            <a:outerShdw blurRad="101600" dist="38100" dir="8100000" algn="bl" rotWithShape="0">
              <a:srgbClr val="1E2761">
                <a:alpha val="15000"/>
              </a:srgbClr>
            </a:outerShdw>
          </a:effectLst>
        </p:spPr>
        <p:txBody>
          <a:bodyPr/>
          <a:lstStyle/>
          <a:p>
            <a:endParaRPr lang="en-US"/>
          </a:p>
        </p:txBody>
      </p:sp>
      <p:sp>
        <p:nvSpPr>
          <p:cNvPr id="12" name="Text 10"/>
          <p:cNvSpPr/>
          <p:nvPr/>
        </p:nvSpPr>
        <p:spPr>
          <a:xfrm>
            <a:off x="457200" y="1783080"/>
            <a:ext cx="2286000" cy="658368"/>
          </a:xfrm>
          <a:prstGeom prst="rect">
            <a:avLst/>
          </a:prstGeom>
          <a:noFill/>
          <a:ln/>
        </p:spPr>
        <p:txBody>
          <a:bodyPr wrap="square" lIns="50800" tIns="50800" rIns="50800" bIns="50800" rtlCol="0" anchor="ctr"/>
          <a:lstStyle/>
          <a:p>
            <a:pPr marL="0" indent="0" algn="ctr">
              <a:buNone/>
            </a:pPr>
            <a:r>
              <a:rPr lang="en-US" sz="1200" b="1" dirty="0">
                <a:solidFill>
                  <a:srgbClr val="FFFFFF"/>
                </a:solidFill>
              </a:rPr>
              <a:t>Monetary</a:t>
            </a:r>
            <a:endParaRPr lang="en-US" sz="1200" dirty="0"/>
          </a:p>
        </p:txBody>
      </p:sp>
      <p:sp>
        <p:nvSpPr>
          <p:cNvPr id="13" name="Shape 11"/>
          <p:cNvSpPr/>
          <p:nvPr/>
        </p:nvSpPr>
        <p:spPr>
          <a:xfrm>
            <a:off x="2880360" y="1783080"/>
            <a:ext cx="3291840" cy="658368"/>
          </a:xfrm>
          <a:prstGeom prst="rect">
            <a:avLst/>
          </a:prstGeom>
          <a:solidFill>
            <a:srgbClr val="FFFFFF"/>
          </a:solidFill>
          <a:ln w="12700">
            <a:solidFill>
              <a:srgbClr val="CADCFC"/>
            </a:solidFill>
            <a:prstDash val="solid"/>
          </a:ln>
        </p:spPr>
        <p:txBody>
          <a:bodyPr/>
          <a:lstStyle/>
          <a:p>
            <a:endParaRPr lang="en-US"/>
          </a:p>
        </p:txBody>
      </p:sp>
      <p:sp>
        <p:nvSpPr>
          <p:cNvPr id="14" name="Text 12"/>
          <p:cNvSpPr/>
          <p:nvPr/>
        </p:nvSpPr>
        <p:spPr>
          <a:xfrm>
            <a:off x="2999232" y="1856232"/>
            <a:ext cx="3108960" cy="512064"/>
          </a:xfrm>
          <a:prstGeom prst="rect">
            <a:avLst/>
          </a:prstGeom>
          <a:noFill/>
          <a:ln/>
        </p:spPr>
        <p:txBody>
          <a:bodyPr wrap="square" rtlCol="0" anchor="ctr"/>
          <a:lstStyle/>
          <a:p>
            <a:pPr marL="0" indent="0" algn="l">
              <a:buNone/>
            </a:pPr>
            <a:r>
              <a:rPr lang="en-US" sz="1200" i="1" dirty="0">
                <a:solidFill>
                  <a:srgbClr val="334155"/>
                </a:solidFill>
              </a:rPr>
              <a:t>total_spent, avg_order_value, avg_item_price</a:t>
            </a:r>
            <a:endParaRPr lang="en-US" sz="1200" dirty="0"/>
          </a:p>
        </p:txBody>
      </p:sp>
      <p:sp>
        <p:nvSpPr>
          <p:cNvPr id="15" name="Shape 13"/>
          <p:cNvSpPr/>
          <p:nvPr/>
        </p:nvSpPr>
        <p:spPr>
          <a:xfrm>
            <a:off x="6309360" y="1783080"/>
            <a:ext cx="2468880" cy="658368"/>
          </a:xfrm>
          <a:prstGeom prst="rect">
            <a:avLst/>
          </a:prstGeom>
          <a:solidFill>
            <a:srgbClr val="EEF3FA"/>
          </a:solidFill>
          <a:ln w="12700">
            <a:solidFill>
              <a:srgbClr val="CADCFC"/>
            </a:solidFill>
            <a:prstDash val="solid"/>
          </a:ln>
        </p:spPr>
        <p:txBody>
          <a:bodyPr/>
          <a:lstStyle/>
          <a:p>
            <a:endParaRPr lang="en-US"/>
          </a:p>
        </p:txBody>
      </p:sp>
      <p:sp>
        <p:nvSpPr>
          <p:cNvPr id="16" name="Text 14"/>
          <p:cNvSpPr/>
          <p:nvPr/>
        </p:nvSpPr>
        <p:spPr>
          <a:xfrm>
            <a:off x="6419088" y="1856232"/>
            <a:ext cx="2286000" cy="512064"/>
          </a:xfrm>
          <a:prstGeom prst="rect">
            <a:avLst/>
          </a:prstGeom>
          <a:noFill/>
          <a:ln/>
        </p:spPr>
        <p:txBody>
          <a:bodyPr wrap="square" rtlCol="0" anchor="ctr"/>
          <a:lstStyle/>
          <a:p>
            <a:pPr marL="0" indent="0" algn="l">
              <a:buNone/>
            </a:pPr>
            <a:r>
              <a:rPr lang="en-US" sz="1200" b="1" dirty="0">
                <a:solidFill>
                  <a:srgbClr val="028090"/>
                </a:solidFill>
              </a:rPr>
              <a:t>Spending behavior</a:t>
            </a:r>
            <a:endParaRPr lang="en-US" sz="1200" dirty="0"/>
          </a:p>
        </p:txBody>
      </p:sp>
      <p:sp>
        <p:nvSpPr>
          <p:cNvPr id="17" name="Shape 15"/>
          <p:cNvSpPr/>
          <p:nvPr/>
        </p:nvSpPr>
        <p:spPr>
          <a:xfrm>
            <a:off x="457200" y="2560320"/>
            <a:ext cx="2286000" cy="658368"/>
          </a:xfrm>
          <a:prstGeom prst="rect">
            <a:avLst/>
          </a:prstGeom>
          <a:solidFill>
            <a:srgbClr val="028090"/>
          </a:solidFill>
          <a:ln w="12700">
            <a:solidFill>
              <a:srgbClr val="028090"/>
            </a:solidFill>
            <a:prstDash val="solid"/>
          </a:ln>
          <a:effectLst>
            <a:outerShdw blurRad="101600" dist="38100" dir="8100000" algn="bl" rotWithShape="0">
              <a:srgbClr val="1E2761">
                <a:alpha val="15000"/>
              </a:srgbClr>
            </a:outerShdw>
          </a:effectLst>
        </p:spPr>
        <p:txBody>
          <a:bodyPr/>
          <a:lstStyle/>
          <a:p>
            <a:endParaRPr lang="en-US"/>
          </a:p>
        </p:txBody>
      </p:sp>
      <p:sp>
        <p:nvSpPr>
          <p:cNvPr id="18" name="Text 16"/>
          <p:cNvSpPr/>
          <p:nvPr/>
        </p:nvSpPr>
        <p:spPr>
          <a:xfrm>
            <a:off x="457200" y="2560320"/>
            <a:ext cx="2286000" cy="658368"/>
          </a:xfrm>
          <a:prstGeom prst="rect">
            <a:avLst/>
          </a:prstGeom>
          <a:noFill/>
          <a:ln/>
        </p:spPr>
        <p:txBody>
          <a:bodyPr wrap="square" lIns="50800" tIns="50800" rIns="50800" bIns="50800" rtlCol="0" anchor="ctr"/>
          <a:lstStyle/>
          <a:p>
            <a:pPr marL="0" indent="0" algn="ctr">
              <a:buNone/>
            </a:pPr>
            <a:r>
              <a:rPr lang="en-US" sz="1200" b="1" dirty="0">
                <a:solidFill>
                  <a:srgbClr val="FFFFFF"/>
                </a:solidFill>
              </a:rPr>
              <a:t>Price Sensitivity</a:t>
            </a:r>
            <a:endParaRPr lang="en-US" sz="1200" dirty="0"/>
          </a:p>
        </p:txBody>
      </p:sp>
      <p:sp>
        <p:nvSpPr>
          <p:cNvPr id="19" name="Shape 17"/>
          <p:cNvSpPr/>
          <p:nvPr/>
        </p:nvSpPr>
        <p:spPr>
          <a:xfrm>
            <a:off x="2880360" y="2560320"/>
            <a:ext cx="3291840" cy="658368"/>
          </a:xfrm>
          <a:prstGeom prst="rect">
            <a:avLst/>
          </a:prstGeom>
          <a:solidFill>
            <a:srgbClr val="FFFFFF"/>
          </a:solidFill>
          <a:ln w="12700">
            <a:solidFill>
              <a:srgbClr val="CADCFC"/>
            </a:solidFill>
            <a:prstDash val="solid"/>
          </a:ln>
        </p:spPr>
        <p:txBody>
          <a:bodyPr/>
          <a:lstStyle/>
          <a:p>
            <a:endParaRPr lang="en-US"/>
          </a:p>
        </p:txBody>
      </p:sp>
      <p:sp>
        <p:nvSpPr>
          <p:cNvPr id="20" name="Text 18"/>
          <p:cNvSpPr/>
          <p:nvPr/>
        </p:nvSpPr>
        <p:spPr>
          <a:xfrm>
            <a:off x="2999232" y="2633472"/>
            <a:ext cx="3108960" cy="512064"/>
          </a:xfrm>
          <a:prstGeom prst="rect">
            <a:avLst/>
          </a:prstGeom>
          <a:noFill/>
          <a:ln/>
        </p:spPr>
        <p:txBody>
          <a:bodyPr wrap="square" rtlCol="0" anchor="ctr"/>
          <a:lstStyle/>
          <a:p>
            <a:pPr marL="0" indent="0" algn="l">
              <a:buNone/>
            </a:pPr>
            <a:r>
              <a:rPr lang="en-US" sz="1200" i="1" dirty="0">
                <a:solidFill>
                  <a:srgbClr val="334155"/>
                </a:solidFill>
              </a:rPr>
              <a:t>cheap_order_ratio, avg_installments, high_installment_ratio</a:t>
            </a:r>
            <a:endParaRPr lang="en-US" sz="1200" dirty="0"/>
          </a:p>
        </p:txBody>
      </p:sp>
      <p:sp>
        <p:nvSpPr>
          <p:cNvPr id="21" name="Shape 19"/>
          <p:cNvSpPr/>
          <p:nvPr/>
        </p:nvSpPr>
        <p:spPr>
          <a:xfrm>
            <a:off x="6309360" y="2560320"/>
            <a:ext cx="2468880" cy="658368"/>
          </a:xfrm>
          <a:prstGeom prst="rect">
            <a:avLst/>
          </a:prstGeom>
          <a:solidFill>
            <a:srgbClr val="EEF3FA"/>
          </a:solidFill>
          <a:ln w="12700">
            <a:solidFill>
              <a:srgbClr val="CADCFC"/>
            </a:solidFill>
            <a:prstDash val="solid"/>
          </a:ln>
        </p:spPr>
        <p:txBody>
          <a:bodyPr/>
          <a:lstStyle/>
          <a:p>
            <a:endParaRPr lang="en-US"/>
          </a:p>
        </p:txBody>
      </p:sp>
      <p:sp>
        <p:nvSpPr>
          <p:cNvPr id="22" name="Text 20"/>
          <p:cNvSpPr/>
          <p:nvPr/>
        </p:nvSpPr>
        <p:spPr>
          <a:xfrm>
            <a:off x="6419088" y="2633472"/>
            <a:ext cx="2286000" cy="512064"/>
          </a:xfrm>
          <a:prstGeom prst="rect">
            <a:avLst/>
          </a:prstGeom>
          <a:noFill/>
          <a:ln/>
        </p:spPr>
        <p:txBody>
          <a:bodyPr wrap="square" rtlCol="0" anchor="ctr"/>
          <a:lstStyle/>
          <a:p>
            <a:pPr marL="0" indent="0" algn="l">
              <a:buNone/>
            </a:pPr>
            <a:r>
              <a:rPr lang="en-US" sz="1200" b="1" dirty="0">
                <a:solidFill>
                  <a:srgbClr val="028090"/>
                </a:solidFill>
              </a:rPr>
              <a:t>Discount responsiveness proxies</a:t>
            </a:r>
            <a:endParaRPr lang="en-US" sz="1200" dirty="0"/>
          </a:p>
        </p:txBody>
      </p:sp>
      <p:sp>
        <p:nvSpPr>
          <p:cNvPr id="23" name="Shape 21"/>
          <p:cNvSpPr/>
          <p:nvPr/>
        </p:nvSpPr>
        <p:spPr>
          <a:xfrm>
            <a:off x="457200" y="3337560"/>
            <a:ext cx="2286000" cy="658368"/>
          </a:xfrm>
          <a:prstGeom prst="rect">
            <a:avLst/>
          </a:prstGeom>
          <a:solidFill>
            <a:srgbClr val="243380"/>
          </a:solidFill>
          <a:ln w="12700">
            <a:solidFill>
              <a:srgbClr val="243380"/>
            </a:solidFill>
            <a:prstDash val="solid"/>
          </a:ln>
          <a:effectLst>
            <a:outerShdw blurRad="101600" dist="38100" dir="8100000" algn="bl" rotWithShape="0">
              <a:srgbClr val="1E2761">
                <a:alpha val="15000"/>
              </a:srgbClr>
            </a:outerShdw>
          </a:effectLst>
        </p:spPr>
        <p:txBody>
          <a:bodyPr/>
          <a:lstStyle/>
          <a:p>
            <a:endParaRPr lang="en-US"/>
          </a:p>
        </p:txBody>
      </p:sp>
      <p:sp>
        <p:nvSpPr>
          <p:cNvPr id="24" name="Text 22"/>
          <p:cNvSpPr/>
          <p:nvPr/>
        </p:nvSpPr>
        <p:spPr>
          <a:xfrm>
            <a:off x="457200" y="3337560"/>
            <a:ext cx="2286000" cy="658368"/>
          </a:xfrm>
          <a:prstGeom prst="rect">
            <a:avLst/>
          </a:prstGeom>
          <a:noFill/>
          <a:ln/>
        </p:spPr>
        <p:txBody>
          <a:bodyPr wrap="square" lIns="50800" tIns="50800" rIns="50800" bIns="50800" rtlCol="0" anchor="ctr"/>
          <a:lstStyle/>
          <a:p>
            <a:pPr marL="0" indent="0" algn="ctr">
              <a:buNone/>
            </a:pPr>
            <a:r>
              <a:rPr lang="en-US" sz="1200" b="1" dirty="0">
                <a:solidFill>
                  <a:srgbClr val="FFFFFF"/>
                </a:solidFill>
              </a:rPr>
              <a:t>Promotional Behavior</a:t>
            </a:r>
            <a:endParaRPr lang="en-US" sz="1200" dirty="0"/>
          </a:p>
        </p:txBody>
      </p:sp>
      <p:sp>
        <p:nvSpPr>
          <p:cNvPr id="25" name="Shape 23"/>
          <p:cNvSpPr/>
          <p:nvPr/>
        </p:nvSpPr>
        <p:spPr>
          <a:xfrm>
            <a:off x="2880360" y="3337560"/>
            <a:ext cx="3291840" cy="658368"/>
          </a:xfrm>
          <a:prstGeom prst="rect">
            <a:avLst/>
          </a:prstGeom>
          <a:solidFill>
            <a:srgbClr val="FFFFFF"/>
          </a:solidFill>
          <a:ln w="12700">
            <a:solidFill>
              <a:srgbClr val="CADCFC"/>
            </a:solidFill>
            <a:prstDash val="solid"/>
          </a:ln>
        </p:spPr>
        <p:txBody>
          <a:bodyPr/>
          <a:lstStyle/>
          <a:p>
            <a:endParaRPr lang="en-US"/>
          </a:p>
        </p:txBody>
      </p:sp>
      <p:sp>
        <p:nvSpPr>
          <p:cNvPr id="26" name="Text 24"/>
          <p:cNvSpPr/>
          <p:nvPr/>
        </p:nvSpPr>
        <p:spPr>
          <a:xfrm>
            <a:off x="2999232" y="3410712"/>
            <a:ext cx="3108960" cy="512064"/>
          </a:xfrm>
          <a:prstGeom prst="rect">
            <a:avLst/>
          </a:prstGeom>
          <a:noFill/>
          <a:ln/>
        </p:spPr>
        <p:txBody>
          <a:bodyPr wrap="square" rtlCol="0" anchor="ctr"/>
          <a:lstStyle/>
          <a:p>
            <a:pPr marL="0" indent="0" algn="l">
              <a:buNone/>
            </a:pPr>
            <a:r>
              <a:rPr lang="en-US" sz="1200" i="1" dirty="0">
                <a:solidFill>
                  <a:srgbClr val="334155"/>
                </a:solidFill>
              </a:rPr>
              <a:t>promo_month_order_ratio (Nov/Dec)</a:t>
            </a:r>
            <a:endParaRPr lang="en-US" sz="1200" dirty="0"/>
          </a:p>
        </p:txBody>
      </p:sp>
      <p:sp>
        <p:nvSpPr>
          <p:cNvPr id="27" name="Shape 25"/>
          <p:cNvSpPr/>
          <p:nvPr/>
        </p:nvSpPr>
        <p:spPr>
          <a:xfrm>
            <a:off x="6309360" y="3337560"/>
            <a:ext cx="2468880" cy="658368"/>
          </a:xfrm>
          <a:prstGeom prst="rect">
            <a:avLst/>
          </a:prstGeom>
          <a:solidFill>
            <a:srgbClr val="EEF3FA"/>
          </a:solidFill>
          <a:ln w="12700">
            <a:solidFill>
              <a:srgbClr val="CADCFC"/>
            </a:solidFill>
            <a:prstDash val="solid"/>
          </a:ln>
        </p:spPr>
        <p:txBody>
          <a:bodyPr/>
          <a:lstStyle/>
          <a:p>
            <a:endParaRPr lang="en-US"/>
          </a:p>
        </p:txBody>
      </p:sp>
      <p:sp>
        <p:nvSpPr>
          <p:cNvPr id="28" name="Text 26"/>
          <p:cNvSpPr/>
          <p:nvPr/>
        </p:nvSpPr>
        <p:spPr>
          <a:xfrm>
            <a:off x="6419088" y="3410712"/>
            <a:ext cx="2286000" cy="512064"/>
          </a:xfrm>
          <a:prstGeom prst="rect">
            <a:avLst/>
          </a:prstGeom>
          <a:noFill/>
          <a:ln/>
        </p:spPr>
        <p:txBody>
          <a:bodyPr wrap="square" rtlCol="0" anchor="ctr"/>
          <a:lstStyle/>
          <a:p>
            <a:pPr marL="0" indent="0" algn="l">
              <a:buNone/>
            </a:pPr>
            <a:r>
              <a:rPr lang="en-US" sz="1200" b="1" dirty="0">
                <a:solidFill>
                  <a:srgbClr val="028090"/>
                </a:solidFill>
              </a:rPr>
              <a:t>Seasonal discount activity</a:t>
            </a:r>
            <a:endParaRPr lang="en-US" sz="1200" dirty="0"/>
          </a:p>
        </p:txBody>
      </p:sp>
      <p:sp>
        <p:nvSpPr>
          <p:cNvPr id="29" name="Shape 27"/>
          <p:cNvSpPr/>
          <p:nvPr/>
        </p:nvSpPr>
        <p:spPr>
          <a:xfrm>
            <a:off x="457200" y="4114800"/>
            <a:ext cx="2286000" cy="658368"/>
          </a:xfrm>
          <a:prstGeom prst="rect">
            <a:avLst/>
          </a:prstGeom>
          <a:solidFill>
            <a:srgbClr val="1E2761"/>
          </a:solidFill>
          <a:ln w="12700">
            <a:solidFill>
              <a:srgbClr val="1E2761"/>
            </a:solidFill>
            <a:prstDash val="solid"/>
          </a:ln>
          <a:effectLst>
            <a:outerShdw blurRad="101600" dist="38100" dir="8100000" algn="bl" rotWithShape="0">
              <a:srgbClr val="1E2761">
                <a:alpha val="15000"/>
              </a:srgbClr>
            </a:outerShdw>
          </a:effectLst>
        </p:spPr>
        <p:txBody>
          <a:bodyPr/>
          <a:lstStyle/>
          <a:p>
            <a:endParaRPr lang="en-US"/>
          </a:p>
        </p:txBody>
      </p:sp>
      <p:sp>
        <p:nvSpPr>
          <p:cNvPr id="30" name="Text 28"/>
          <p:cNvSpPr/>
          <p:nvPr/>
        </p:nvSpPr>
        <p:spPr>
          <a:xfrm>
            <a:off x="457200" y="4114800"/>
            <a:ext cx="2286000" cy="658368"/>
          </a:xfrm>
          <a:prstGeom prst="rect">
            <a:avLst/>
          </a:prstGeom>
          <a:noFill/>
          <a:ln/>
        </p:spPr>
        <p:txBody>
          <a:bodyPr wrap="square" lIns="50800" tIns="50800" rIns="50800" bIns="50800" rtlCol="0" anchor="ctr"/>
          <a:lstStyle/>
          <a:p>
            <a:pPr marL="0" indent="0" algn="ctr">
              <a:buNone/>
            </a:pPr>
            <a:r>
              <a:rPr lang="en-US" sz="1200" b="1" dirty="0">
                <a:solidFill>
                  <a:srgbClr val="FFFFFF"/>
                </a:solidFill>
              </a:rPr>
              <a:t>Payment Preferences</a:t>
            </a:r>
            <a:endParaRPr lang="en-US" sz="1200" dirty="0"/>
          </a:p>
        </p:txBody>
      </p:sp>
      <p:sp>
        <p:nvSpPr>
          <p:cNvPr id="31" name="Shape 29"/>
          <p:cNvSpPr/>
          <p:nvPr/>
        </p:nvSpPr>
        <p:spPr>
          <a:xfrm>
            <a:off x="2880360" y="4114800"/>
            <a:ext cx="3291840" cy="658368"/>
          </a:xfrm>
          <a:prstGeom prst="rect">
            <a:avLst/>
          </a:prstGeom>
          <a:solidFill>
            <a:srgbClr val="FFFFFF"/>
          </a:solidFill>
          <a:ln w="12700">
            <a:solidFill>
              <a:srgbClr val="CADCFC"/>
            </a:solidFill>
            <a:prstDash val="solid"/>
          </a:ln>
        </p:spPr>
        <p:txBody>
          <a:bodyPr/>
          <a:lstStyle/>
          <a:p>
            <a:endParaRPr lang="en-US"/>
          </a:p>
        </p:txBody>
      </p:sp>
      <p:sp>
        <p:nvSpPr>
          <p:cNvPr id="32" name="Text 30"/>
          <p:cNvSpPr/>
          <p:nvPr/>
        </p:nvSpPr>
        <p:spPr>
          <a:xfrm>
            <a:off x="2999232" y="4187952"/>
            <a:ext cx="3108960" cy="512064"/>
          </a:xfrm>
          <a:prstGeom prst="rect">
            <a:avLst/>
          </a:prstGeom>
          <a:noFill/>
          <a:ln/>
        </p:spPr>
        <p:txBody>
          <a:bodyPr wrap="square" rtlCol="0" anchor="ctr"/>
          <a:lstStyle/>
          <a:p>
            <a:pPr marL="0" indent="0" algn="l">
              <a:buNone/>
            </a:pPr>
            <a:r>
              <a:rPr lang="en-US" sz="1200" i="1" dirty="0">
                <a:solidFill>
                  <a:srgbClr val="334155"/>
                </a:solidFill>
              </a:rPr>
              <a:t>preferred_payment_type (one-hot encoded)</a:t>
            </a:r>
            <a:endParaRPr lang="en-US" sz="1200" dirty="0"/>
          </a:p>
        </p:txBody>
      </p:sp>
      <p:sp>
        <p:nvSpPr>
          <p:cNvPr id="33" name="Shape 31"/>
          <p:cNvSpPr/>
          <p:nvPr/>
        </p:nvSpPr>
        <p:spPr>
          <a:xfrm>
            <a:off x="6309360" y="4114800"/>
            <a:ext cx="2468880" cy="658368"/>
          </a:xfrm>
          <a:prstGeom prst="rect">
            <a:avLst/>
          </a:prstGeom>
          <a:solidFill>
            <a:srgbClr val="EEF3FA"/>
          </a:solidFill>
          <a:ln w="12700">
            <a:solidFill>
              <a:srgbClr val="CADCFC"/>
            </a:solidFill>
            <a:prstDash val="solid"/>
          </a:ln>
        </p:spPr>
        <p:txBody>
          <a:bodyPr/>
          <a:lstStyle/>
          <a:p>
            <a:endParaRPr lang="en-US"/>
          </a:p>
        </p:txBody>
      </p:sp>
      <p:sp>
        <p:nvSpPr>
          <p:cNvPr id="34" name="Text 32"/>
          <p:cNvSpPr/>
          <p:nvPr/>
        </p:nvSpPr>
        <p:spPr>
          <a:xfrm>
            <a:off x="6419088" y="4187952"/>
            <a:ext cx="2286000" cy="512064"/>
          </a:xfrm>
          <a:prstGeom prst="rect">
            <a:avLst/>
          </a:prstGeom>
          <a:noFill/>
          <a:ln/>
        </p:spPr>
        <p:txBody>
          <a:bodyPr wrap="square" rtlCol="0" anchor="ctr"/>
          <a:lstStyle/>
          <a:p>
            <a:pPr marL="0" indent="0" algn="l">
              <a:buNone/>
            </a:pPr>
            <a:r>
              <a:rPr lang="en-US" sz="1200" b="1" dirty="0">
                <a:solidFill>
                  <a:srgbClr val="028090"/>
                </a:solidFill>
              </a:rPr>
              <a:t>Payment method tendencies</a:t>
            </a:r>
            <a:endParaRPr lang="en-US" sz="1200" dirty="0"/>
          </a:p>
        </p:txBody>
      </p:sp>
      <p:sp>
        <p:nvSpPr>
          <p:cNvPr id="36" name="Text 34"/>
          <p:cNvSpPr/>
          <p:nvPr/>
        </p:nvSpPr>
        <p:spPr>
          <a:xfrm>
            <a:off x="990600" y="790194"/>
            <a:ext cx="2286000" cy="201168"/>
          </a:xfrm>
          <a:prstGeom prst="rect">
            <a:avLst/>
          </a:prstGeom>
          <a:noFill/>
          <a:ln/>
        </p:spPr>
        <p:txBody>
          <a:bodyPr wrap="square" rtlCol="0" anchor="ctr"/>
          <a:lstStyle/>
          <a:p>
            <a:pPr marL="0" indent="0" algn="l">
              <a:buNone/>
            </a:pPr>
            <a:r>
              <a:rPr lang="en-US" sz="1100" b="1" dirty="0">
                <a:solidFill>
                  <a:srgbClr val="64748B"/>
                </a:solidFill>
              </a:rPr>
              <a:t>Feature Group</a:t>
            </a:r>
            <a:endParaRPr lang="en-US" sz="1100" dirty="0"/>
          </a:p>
        </p:txBody>
      </p:sp>
      <p:sp>
        <p:nvSpPr>
          <p:cNvPr id="37" name="Text 35"/>
          <p:cNvSpPr/>
          <p:nvPr/>
        </p:nvSpPr>
        <p:spPr>
          <a:xfrm>
            <a:off x="3977640" y="795528"/>
            <a:ext cx="3291840" cy="201168"/>
          </a:xfrm>
          <a:prstGeom prst="rect">
            <a:avLst/>
          </a:prstGeom>
          <a:noFill/>
          <a:ln/>
        </p:spPr>
        <p:txBody>
          <a:bodyPr wrap="square" rtlCol="0" anchor="ctr"/>
          <a:lstStyle/>
          <a:p>
            <a:pPr marL="0" indent="0" algn="l">
              <a:buNone/>
            </a:pPr>
            <a:r>
              <a:rPr lang="en-US" sz="1100" b="1" dirty="0">
                <a:solidFill>
                  <a:srgbClr val="64748B"/>
                </a:solidFill>
              </a:rPr>
              <a:t>Examples</a:t>
            </a:r>
            <a:endParaRPr lang="en-US" sz="1100" dirty="0"/>
          </a:p>
        </p:txBody>
      </p:sp>
      <p:sp>
        <p:nvSpPr>
          <p:cNvPr id="38" name="Text 36"/>
          <p:cNvSpPr/>
          <p:nvPr/>
        </p:nvSpPr>
        <p:spPr>
          <a:xfrm>
            <a:off x="7078980" y="800862"/>
            <a:ext cx="2468880" cy="201168"/>
          </a:xfrm>
          <a:prstGeom prst="rect">
            <a:avLst/>
          </a:prstGeom>
          <a:noFill/>
          <a:ln/>
        </p:spPr>
        <p:txBody>
          <a:bodyPr wrap="square" rtlCol="0" anchor="ctr"/>
          <a:lstStyle/>
          <a:p>
            <a:pPr marL="0" indent="0" algn="l">
              <a:buNone/>
            </a:pPr>
            <a:r>
              <a:rPr lang="en-US" sz="1100" b="1" dirty="0">
                <a:solidFill>
                  <a:srgbClr val="64748B"/>
                </a:solidFill>
              </a:rPr>
              <a:t>Relevance</a:t>
            </a:r>
            <a:endParaRPr lang="en-US" sz="1100" dirty="0"/>
          </a:p>
        </p:txBody>
      </p:sp>
      <p:sp>
        <p:nvSpPr>
          <p:cNvPr id="39" name="Shape 37"/>
          <p:cNvSpPr/>
          <p:nvPr/>
        </p:nvSpPr>
        <p:spPr>
          <a:xfrm>
            <a:off x="0" y="4869180"/>
            <a:ext cx="9144000" cy="274320"/>
          </a:xfrm>
          <a:prstGeom prst="rect">
            <a:avLst/>
          </a:prstGeom>
          <a:solidFill>
            <a:srgbClr val="1E2761"/>
          </a:solidFill>
          <a:ln w="12700">
            <a:solidFill>
              <a:srgbClr val="1E2761"/>
            </a:solidFill>
            <a:prstDash val="solid"/>
          </a:ln>
        </p:spPr>
        <p:txBody>
          <a:bodyPr/>
          <a:lstStyle/>
          <a:p>
            <a:endParaRPr lang="en-US"/>
          </a:p>
        </p:txBody>
      </p:sp>
      <p:sp>
        <p:nvSpPr>
          <p:cNvPr id="40" name="Text 38"/>
          <p:cNvSpPr/>
          <p:nvPr/>
        </p:nvSpPr>
        <p:spPr>
          <a:xfrm>
            <a:off x="0" y="4869180"/>
            <a:ext cx="9144000" cy="274320"/>
          </a:xfrm>
          <a:prstGeom prst="rect">
            <a:avLst/>
          </a:prstGeom>
          <a:noFill/>
          <a:ln/>
        </p:spPr>
        <p:txBody>
          <a:bodyPr wrap="square" lIns="0" tIns="0" rIns="0" bIns="0" rtlCol="0" anchor="ctr"/>
          <a:lstStyle/>
          <a:p>
            <a:pPr marL="0" indent="0" algn="ctr">
              <a:buNone/>
            </a:pPr>
            <a:r>
              <a:rPr lang="en-US" sz="900" dirty="0">
                <a:solidFill>
                  <a:srgbClr val="CADCFC"/>
                </a:solidFill>
              </a:rPr>
              <a:t>Smart Discount Targeting System  |  NUCES CS3005  |  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28090"/>
          </a:solidFill>
          <a:ln w="12700">
            <a:solidFill>
              <a:srgbClr val="028090"/>
            </a:solidFill>
            <a:prstDash val="solid"/>
          </a:ln>
        </p:spPr>
        <p:txBody>
          <a:bodyPr/>
          <a:lstStyle/>
          <a:p>
            <a:endParaRPr lang="en-US"/>
          </a:p>
        </p:txBody>
      </p:sp>
      <p:sp>
        <p:nvSpPr>
          <p:cNvPr id="3" name="Text 1"/>
          <p:cNvSpPr/>
          <p:nvPr/>
        </p:nvSpPr>
        <p:spPr>
          <a:xfrm>
            <a:off x="457200" y="164592"/>
            <a:ext cx="7772400" cy="566928"/>
          </a:xfrm>
          <a:prstGeom prst="rect">
            <a:avLst/>
          </a:prstGeom>
          <a:noFill/>
          <a:ln/>
        </p:spPr>
        <p:txBody>
          <a:bodyPr wrap="square" rtlCol="0" anchor="ctr"/>
          <a:lstStyle/>
          <a:p>
            <a:pPr marL="0" indent="0" algn="l">
              <a:buNone/>
            </a:pPr>
            <a:r>
              <a:rPr lang="en-US" sz="3000" b="1" dirty="0">
                <a:solidFill>
                  <a:srgbClr val="1E2761"/>
                </a:solidFill>
              </a:rPr>
              <a:t>Customer Segmentation — K-Means Clustering</a:t>
            </a:r>
            <a:endParaRPr lang="en-US" sz="3000" dirty="0"/>
          </a:p>
        </p:txBody>
      </p:sp>
      <p:sp>
        <p:nvSpPr>
          <p:cNvPr id="4" name="Text 2"/>
          <p:cNvSpPr/>
          <p:nvPr/>
        </p:nvSpPr>
        <p:spPr>
          <a:xfrm>
            <a:off x="457200" y="713232"/>
            <a:ext cx="8229600" cy="274320"/>
          </a:xfrm>
          <a:prstGeom prst="rect">
            <a:avLst/>
          </a:prstGeom>
          <a:noFill/>
          <a:ln/>
        </p:spPr>
        <p:txBody>
          <a:bodyPr wrap="square" rtlCol="0" anchor="ctr"/>
          <a:lstStyle/>
          <a:p>
            <a:pPr marL="0" indent="0" algn="l">
              <a:buNone/>
            </a:pPr>
            <a:r>
              <a:rPr lang="en-US" sz="1300" i="1" dirty="0">
                <a:solidFill>
                  <a:srgbClr val="028090"/>
                </a:solidFill>
              </a:rPr>
              <a:t>Silhouette analysis &amp; elbow method to determine optimal k</a:t>
            </a:r>
            <a:endParaRPr lang="en-US" sz="1300" dirty="0"/>
          </a:p>
        </p:txBody>
      </p:sp>
      <p:graphicFrame>
        <p:nvGraphicFramePr>
          <p:cNvPr id="5" name="Chart 0"/>
          <p:cNvGraphicFramePr/>
          <p:nvPr/>
        </p:nvGraphicFramePr>
        <p:xfrm>
          <a:off x="457200" y="1005840"/>
          <a:ext cx="5029200" cy="2926080"/>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 3"/>
          <p:cNvSpPr/>
          <p:nvPr/>
        </p:nvSpPr>
        <p:spPr>
          <a:xfrm>
            <a:off x="5760720" y="1005840"/>
            <a:ext cx="3017520" cy="384048"/>
          </a:xfrm>
          <a:prstGeom prst="rect">
            <a:avLst/>
          </a:prstGeom>
          <a:noFill/>
          <a:ln/>
        </p:spPr>
        <p:txBody>
          <a:bodyPr wrap="square" rtlCol="0" anchor="ctr"/>
          <a:lstStyle/>
          <a:p>
            <a:pPr marL="0" indent="0">
              <a:buNone/>
            </a:pPr>
            <a:r>
              <a:rPr lang="en-US" sz="1600" b="1" dirty="0">
                <a:solidFill>
                  <a:srgbClr val="1E2761"/>
                </a:solidFill>
              </a:rPr>
              <a:t>Why k = 3?</a:t>
            </a:r>
            <a:endParaRPr lang="en-US" sz="1600" dirty="0"/>
          </a:p>
        </p:txBody>
      </p:sp>
      <p:sp>
        <p:nvSpPr>
          <p:cNvPr id="7" name="Shape 4"/>
          <p:cNvSpPr/>
          <p:nvPr/>
        </p:nvSpPr>
        <p:spPr>
          <a:xfrm>
            <a:off x="5760720" y="1508760"/>
            <a:ext cx="3017520" cy="530352"/>
          </a:xfrm>
          <a:prstGeom prst="rect">
            <a:avLst/>
          </a:prstGeom>
          <a:solidFill>
            <a:srgbClr val="FFFFFF"/>
          </a:solidFill>
          <a:ln w="12700">
            <a:solidFill>
              <a:srgbClr val="CADCFC"/>
            </a:solidFill>
            <a:prstDash val="solid"/>
          </a:ln>
          <a:effectLst>
            <a:outerShdw blurRad="101600" dist="38100" dir="8100000" algn="bl" rotWithShape="0">
              <a:srgbClr val="1E2761">
                <a:alpha val="15000"/>
              </a:srgbClr>
            </a:outerShdw>
          </a:effectLst>
        </p:spPr>
        <p:txBody>
          <a:bodyPr/>
          <a:lstStyle/>
          <a:p>
            <a:endParaRPr lang="en-US"/>
          </a:p>
        </p:txBody>
      </p:sp>
      <p:sp>
        <p:nvSpPr>
          <p:cNvPr id="8" name="Text 5"/>
          <p:cNvSpPr/>
          <p:nvPr/>
        </p:nvSpPr>
        <p:spPr>
          <a:xfrm>
            <a:off x="5852160" y="1545336"/>
            <a:ext cx="2834640" cy="219456"/>
          </a:xfrm>
          <a:prstGeom prst="rect">
            <a:avLst/>
          </a:prstGeom>
          <a:noFill/>
          <a:ln/>
        </p:spPr>
        <p:txBody>
          <a:bodyPr wrap="square" rtlCol="0" anchor="ctr"/>
          <a:lstStyle/>
          <a:p>
            <a:pPr marL="0" indent="0">
              <a:buNone/>
            </a:pPr>
            <a:r>
              <a:rPr lang="en-US" sz="1200" b="1" dirty="0">
                <a:solidFill>
                  <a:srgbClr val="1E2761"/>
                </a:solidFill>
              </a:rPr>
              <a:t>k=2</a:t>
            </a:r>
            <a:endParaRPr lang="en-US" sz="1200" dirty="0"/>
          </a:p>
        </p:txBody>
      </p:sp>
      <p:sp>
        <p:nvSpPr>
          <p:cNvPr id="9" name="Text 6"/>
          <p:cNvSpPr/>
          <p:nvPr/>
        </p:nvSpPr>
        <p:spPr>
          <a:xfrm>
            <a:off x="5852160" y="1764792"/>
            <a:ext cx="2834640" cy="219456"/>
          </a:xfrm>
          <a:prstGeom prst="rect">
            <a:avLst/>
          </a:prstGeom>
          <a:noFill/>
          <a:ln/>
        </p:spPr>
        <p:txBody>
          <a:bodyPr wrap="square" rtlCol="0" anchor="ctr"/>
          <a:lstStyle/>
          <a:p>
            <a:pPr marL="0" indent="0">
              <a:buNone/>
            </a:pPr>
            <a:r>
              <a:rPr lang="en-US" sz="1100" i="1" dirty="0">
                <a:solidFill>
                  <a:srgbClr val="64748B"/>
                </a:solidFill>
              </a:rPr>
              <a:t>Only 2 tiers; not actionable for business</a:t>
            </a:r>
            <a:endParaRPr lang="en-US" sz="1100" dirty="0"/>
          </a:p>
        </p:txBody>
      </p:sp>
      <p:sp>
        <p:nvSpPr>
          <p:cNvPr id="10" name="Shape 7"/>
          <p:cNvSpPr/>
          <p:nvPr/>
        </p:nvSpPr>
        <p:spPr>
          <a:xfrm>
            <a:off x="5760720" y="2103120"/>
            <a:ext cx="3017520" cy="530352"/>
          </a:xfrm>
          <a:prstGeom prst="rect">
            <a:avLst/>
          </a:prstGeom>
          <a:solidFill>
            <a:srgbClr val="028090"/>
          </a:solidFill>
          <a:ln w="12700">
            <a:solidFill>
              <a:srgbClr val="028090"/>
            </a:solidFill>
            <a:prstDash val="solid"/>
          </a:ln>
          <a:effectLst>
            <a:outerShdw blurRad="101600" dist="38100" dir="8100000" algn="bl" rotWithShape="0">
              <a:srgbClr val="1E2761">
                <a:alpha val="15000"/>
              </a:srgbClr>
            </a:outerShdw>
          </a:effectLst>
        </p:spPr>
        <p:txBody>
          <a:bodyPr/>
          <a:lstStyle/>
          <a:p>
            <a:endParaRPr lang="en-US"/>
          </a:p>
        </p:txBody>
      </p:sp>
      <p:sp>
        <p:nvSpPr>
          <p:cNvPr id="11" name="Text 8"/>
          <p:cNvSpPr/>
          <p:nvPr/>
        </p:nvSpPr>
        <p:spPr>
          <a:xfrm>
            <a:off x="5852160" y="2139696"/>
            <a:ext cx="2834640" cy="219456"/>
          </a:xfrm>
          <a:prstGeom prst="rect">
            <a:avLst/>
          </a:prstGeom>
          <a:noFill/>
          <a:ln/>
        </p:spPr>
        <p:txBody>
          <a:bodyPr wrap="square" rtlCol="0" anchor="ctr"/>
          <a:lstStyle/>
          <a:p>
            <a:pPr marL="0" indent="0">
              <a:buNone/>
            </a:pPr>
            <a:r>
              <a:rPr lang="en-US" sz="1200" b="1" dirty="0">
                <a:solidFill>
                  <a:srgbClr val="FFFFFF"/>
                </a:solidFill>
              </a:rPr>
              <a:t>k=3</a:t>
            </a:r>
            <a:endParaRPr lang="en-US" sz="1200" dirty="0"/>
          </a:p>
        </p:txBody>
      </p:sp>
      <p:sp>
        <p:nvSpPr>
          <p:cNvPr id="12" name="Text 9"/>
          <p:cNvSpPr/>
          <p:nvPr/>
        </p:nvSpPr>
        <p:spPr>
          <a:xfrm>
            <a:off x="5852160" y="2359152"/>
            <a:ext cx="2834640" cy="219456"/>
          </a:xfrm>
          <a:prstGeom prst="rect">
            <a:avLst/>
          </a:prstGeom>
          <a:noFill/>
          <a:ln/>
        </p:spPr>
        <p:txBody>
          <a:bodyPr wrap="square" rtlCol="0" anchor="ctr"/>
          <a:lstStyle/>
          <a:p>
            <a:pPr marL="0" indent="0">
              <a:buNone/>
            </a:pPr>
            <a:r>
              <a:rPr lang="en-US" sz="1100" dirty="0">
                <a:solidFill>
                  <a:srgbClr val="CADCFC"/>
                </a:solidFill>
              </a:rPr>
              <a:t>0.350 — Selected ✓</a:t>
            </a:r>
            <a:endParaRPr lang="en-US" sz="1100" dirty="0"/>
          </a:p>
        </p:txBody>
      </p:sp>
      <p:sp>
        <p:nvSpPr>
          <p:cNvPr id="13" name="Shape 10"/>
          <p:cNvSpPr/>
          <p:nvPr/>
        </p:nvSpPr>
        <p:spPr>
          <a:xfrm>
            <a:off x="5760720" y="2697480"/>
            <a:ext cx="3017520" cy="530352"/>
          </a:xfrm>
          <a:prstGeom prst="rect">
            <a:avLst/>
          </a:prstGeom>
          <a:solidFill>
            <a:srgbClr val="FFFFFF"/>
          </a:solidFill>
          <a:ln w="12700">
            <a:solidFill>
              <a:srgbClr val="CADCFC"/>
            </a:solidFill>
            <a:prstDash val="solid"/>
          </a:ln>
          <a:effectLst>
            <a:outerShdw blurRad="101600" dist="38100" dir="8100000" algn="bl" rotWithShape="0">
              <a:srgbClr val="1E2761">
                <a:alpha val="15000"/>
              </a:srgbClr>
            </a:outerShdw>
          </a:effectLst>
        </p:spPr>
        <p:txBody>
          <a:bodyPr/>
          <a:lstStyle/>
          <a:p>
            <a:endParaRPr lang="en-US"/>
          </a:p>
        </p:txBody>
      </p:sp>
      <p:sp>
        <p:nvSpPr>
          <p:cNvPr id="14" name="Text 11"/>
          <p:cNvSpPr/>
          <p:nvPr/>
        </p:nvSpPr>
        <p:spPr>
          <a:xfrm>
            <a:off x="5852160" y="2734056"/>
            <a:ext cx="2834640" cy="219456"/>
          </a:xfrm>
          <a:prstGeom prst="rect">
            <a:avLst/>
          </a:prstGeom>
          <a:noFill/>
          <a:ln/>
        </p:spPr>
        <p:txBody>
          <a:bodyPr wrap="square" rtlCol="0" anchor="ctr"/>
          <a:lstStyle/>
          <a:p>
            <a:pPr marL="0" indent="0">
              <a:buNone/>
            </a:pPr>
            <a:r>
              <a:rPr lang="en-US" sz="1200" b="1" dirty="0">
                <a:solidFill>
                  <a:srgbClr val="1E2761"/>
                </a:solidFill>
              </a:rPr>
              <a:t>k=4</a:t>
            </a:r>
            <a:endParaRPr lang="en-US" sz="1200" dirty="0"/>
          </a:p>
        </p:txBody>
      </p:sp>
      <p:sp>
        <p:nvSpPr>
          <p:cNvPr id="15" name="Text 12"/>
          <p:cNvSpPr/>
          <p:nvPr/>
        </p:nvSpPr>
        <p:spPr>
          <a:xfrm>
            <a:off x="5852160" y="2953512"/>
            <a:ext cx="2834640" cy="219456"/>
          </a:xfrm>
          <a:prstGeom prst="rect">
            <a:avLst/>
          </a:prstGeom>
          <a:noFill/>
          <a:ln/>
        </p:spPr>
        <p:txBody>
          <a:bodyPr wrap="square" rtlCol="0" anchor="ctr"/>
          <a:lstStyle/>
          <a:p>
            <a:pPr marL="0" indent="0">
              <a:buNone/>
            </a:pPr>
            <a:r>
              <a:rPr lang="en-US" sz="1100" i="1" dirty="0">
                <a:solidFill>
                  <a:srgbClr val="64748B"/>
                </a:solidFill>
              </a:rPr>
              <a:t>More fragments; reduced interpretability</a:t>
            </a:r>
            <a:endParaRPr lang="en-US" sz="1100" dirty="0"/>
          </a:p>
        </p:txBody>
      </p:sp>
      <p:sp>
        <p:nvSpPr>
          <p:cNvPr id="16" name="Shape 13"/>
          <p:cNvSpPr/>
          <p:nvPr/>
        </p:nvSpPr>
        <p:spPr>
          <a:xfrm>
            <a:off x="5760720" y="3291840"/>
            <a:ext cx="3017520" cy="530352"/>
          </a:xfrm>
          <a:prstGeom prst="rect">
            <a:avLst/>
          </a:prstGeom>
          <a:solidFill>
            <a:srgbClr val="FFFFFF"/>
          </a:solidFill>
          <a:ln w="12700">
            <a:solidFill>
              <a:srgbClr val="CADCFC"/>
            </a:solidFill>
            <a:prstDash val="solid"/>
          </a:ln>
          <a:effectLst>
            <a:outerShdw blurRad="101600" dist="38100" dir="8100000" algn="bl" rotWithShape="0">
              <a:srgbClr val="1E2761">
                <a:alpha val="15000"/>
              </a:srgbClr>
            </a:outerShdw>
          </a:effectLst>
        </p:spPr>
        <p:txBody>
          <a:bodyPr/>
          <a:lstStyle/>
          <a:p>
            <a:endParaRPr lang="en-US"/>
          </a:p>
        </p:txBody>
      </p:sp>
      <p:sp>
        <p:nvSpPr>
          <p:cNvPr id="17" name="Text 14"/>
          <p:cNvSpPr/>
          <p:nvPr/>
        </p:nvSpPr>
        <p:spPr>
          <a:xfrm>
            <a:off x="5852160" y="3328416"/>
            <a:ext cx="2834640" cy="219456"/>
          </a:xfrm>
          <a:prstGeom prst="rect">
            <a:avLst/>
          </a:prstGeom>
          <a:noFill/>
          <a:ln/>
        </p:spPr>
        <p:txBody>
          <a:bodyPr wrap="square" rtlCol="0" anchor="ctr"/>
          <a:lstStyle/>
          <a:p>
            <a:pPr marL="0" indent="0">
              <a:buNone/>
            </a:pPr>
            <a:r>
              <a:rPr lang="en-US" sz="1200" b="1" dirty="0">
                <a:solidFill>
                  <a:srgbClr val="1E2761"/>
                </a:solidFill>
              </a:rPr>
              <a:t>k=5+</a:t>
            </a:r>
            <a:endParaRPr lang="en-US" sz="1200" dirty="0"/>
          </a:p>
        </p:txBody>
      </p:sp>
      <p:sp>
        <p:nvSpPr>
          <p:cNvPr id="18" name="Text 15"/>
          <p:cNvSpPr/>
          <p:nvPr/>
        </p:nvSpPr>
        <p:spPr>
          <a:xfrm>
            <a:off x="5852160" y="3547872"/>
            <a:ext cx="2834640" cy="219456"/>
          </a:xfrm>
          <a:prstGeom prst="rect">
            <a:avLst/>
          </a:prstGeom>
          <a:noFill/>
          <a:ln/>
        </p:spPr>
        <p:txBody>
          <a:bodyPr wrap="square" rtlCol="0" anchor="ctr"/>
          <a:lstStyle/>
          <a:p>
            <a:pPr marL="0" indent="0">
              <a:buNone/>
            </a:pPr>
            <a:r>
              <a:rPr lang="en-US" sz="1100" i="1" dirty="0">
                <a:solidFill>
                  <a:srgbClr val="64748B"/>
                </a:solidFill>
              </a:rPr>
              <a:t>Diminishing returns; over-segmentation</a:t>
            </a:r>
            <a:endParaRPr lang="en-US" sz="1100" dirty="0"/>
          </a:p>
        </p:txBody>
      </p:sp>
      <p:sp>
        <p:nvSpPr>
          <p:cNvPr id="19" name="Shape 16"/>
          <p:cNvSpPr/>
          <p:nvPr/>
        </p:nvSpPr>
        <p:spPr>
          <a:xfrm>
            <a:off x="5760720" y="4069080"/>
            <a:ext cx="3017520" cy="548640"/>
          </a:xfrm>
          <a:prstGeom prst="rect">
            <a:avLst/>
          </a:prstGeom>
          <a:solidFill>
            <a:srgbClr val="1E2761"/>
          </a:solidFill>
          <a:ln w="12700">
            <a:solidFill>
              <a:srgbClr val="1E2761"/>
            </a:solidFill>
            <a:prstDash val="solid"/>
          </a:ln>
          <a:effectLst>
            <a:outerShdw blurRad="101600" dist="38100" dir="8100000" algn="bl" rotWithShape="0">
              <a:srgbClr val="1E2761">
                <a:alpha val="15000"/>
              </a:srgbClr>
            </a:outerShdw>
          </a:effectLst>
        </p:spPr>
        <p:txBody>
          <a:bodyPr/>
          <a:lstStyle/>
          <a:p>
            <a:endParaRPr lang="en-US"/>
          </a:p>
        </p:txBody>
      </p:sp>
      <p:sp>
        <p:nvSpPr>
          <p:cNvPr id="20" name="Text 17"/>
          <p:cNvSpPr/>
          <p:nvPr/>
        </p:nvSpPr>
        <p:spPr>
          <a:xfrm>
            <a:off x="5852160" y="4087368"/>
            <a:ext cx="2834640" cy="512064"/>
          </a:xfrm>
          <a:prstGeom prst="rect">
            <a:avLst/>
          </a:prstGeom>
          <a:noFill/>
          <a:ln/>
        </p:spPr>
        <p:txBody>
          <a:bodyPr wrap="square" rtlCol="0" anchor="ctr"/>
          <a:lstStyle/>
          <a:p>
            <a:pPr marL="0" indent="0" algn="ctr">
              <a:buNone/>
            </a:pPr>
            <a:r>
              <a:rPr lang="en-US" sz="1200" dirty="0">
                <a:solidFill>
                  <a:srgbClr val="CADCFC"/>
                </a:solidFill>
              </a:rPr>
              <a:t>Features standardized with</a:t>
            </a:r>
            <a:endParaRPr lang="en-US" sz="1200" dirty="0"/>
          </a:p>
          <a:p>
            <a:pPr marL="0" indent="0" algn="ctr">
              <a:buNone/>
            </a:pPr>
            <a:r>
              <a:rPr lang="en-US" sz="1200" dirty="0">
                <a:solidFill>
                  <a:srgbClr val="CADCFC"/>
                </a:solidFill>
              </a:rPr>
              <a:t>StandardScaler before clustering</a:t>
            </a:r>
            <a:endParaRPr lang="en-US" sz="1200" dirty="0"/>
          </a:p>
        </p:txBody>
      </p:sp>
      <p:sp>
        <p:nvSpPr>
          <p:cNvPr id="21" name="Shape 18"/>
          <p:cNvSpPr/>
          <p:nvPr/>
        </p:nvSpPr>
        <p:spPr>
          <a:xfrm>
            <a:off x="0" y="4869180"/>
            <a:ext cx="9144000" cy="274320"/>
          </a:xfrm>
          <a:prstGeom prst="rect">
            <a:avLst/>
          </a:prstGeom>
          <a:solidFill>
            <a:srgbClr val="1E2761"/>
          </a:solidFill>
          <a:ln w="12700">
            <a:solidFill>
              <a:srgbClr val="1E2761"/>
            </a:solidFill>
            <a:prstDash val="solid"/>
          </a:ln>
        </p:spPr>
        <p:txBody>
          <a:bodyPr/>
          <a:lstStyle/>
          <a:p>
            <a:endParaRPr lang="en-US"/>
          </a:p>
        </p:txBody>
      </p:sp>
      <p:sp>
        <p:nvSpPr>
          <p:cNvPr id="22" name="Text 19"/>
          <p:cNvSpPr/>
          <p:nvPr/>
        </p:nvSpPr>
        <p:spPr>
          <a:xfrm>
            <a:off x="0" y="4869180"/>
            <a:ext cx="9144000" cy="274320"/>
          </a:xfrm>
          <a:prstGeom prst="rect">
            <a:avLst/>
          </a:prstGeom>
          <a:noFill/>
          <a:ln/>
        </p:spPr>
        <p:txBody>
          <a:bodyPr wrap="square" lIns="0" tIns="0" rIns="0" bIns="0" rtlCol="0" anchor="ctr"/>
          <a:lstStyle/>
          <a:p>
            <a:pPr marL="0" indent="0" algn="ctr">
              <a:buNone/>
            </a:pPr>
            <a:r>
              <a:rPr lang="en-US" sz="900" dirty="0">
                <a:solidFill>
                  <a:srgbClr val="CADCFC"/>
                </a:solidFill>
              </a:rPr>
              <a:t>Smart Discount Targeting System  |  NUCES CS3005  |  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28090"/>
          </a:solidFill>
          <a:ln w="12700">
            <a:solidFill>
              <a:srgbClr val="028090"/>
            </a:solidFill>
            <a:prstDash val="solid"/>
          </a:ln>
        </p:spPr>
        <p:txBody>
          <a:bodyPr/>
          <a:lstStyle/>
          <a:p>
            <a:endParaRPr lang="en-US"/>
          </a:p>
        </p:txBody>
      </p:sp>
      <p:sp>
        <p:nvSpPr>
          <p:cNvPr id="3" name="Text 1"/>
          <p:cNvSpPr/>
          <p:nvPr/>
        </p:nvSpPr>
        <p:spPr>
          <a:xfrm>
            <a:off x="457200" y="164592"/>
            <a:ext cx="7772400" cy="566928"/>
          </a:xfrm>
          <a:prstGeom prst="rect">
            <a:avLst/>
          </a:prstGeom>
          <a:noFill/>
          <a:ln/>
        </p:spPr>
        <p:txBody>
          <a:bodyPr wrap="square" rtlCol="0" anchor="ctr"/>
          <a:lstStyle/>
          <a:p>
            <a:pPr marL="0" indent="0" algn="l">
              <a:buNone/>
            </a:pPr>
            <a:r>
              <a:rPr lang="en-US" sz="3000" b="1" dirty="0">
                <a:solidFill>
                  <a:srgbClr val="1E2761"/>
                </a:solidFill>
              </a:rPr>
              <a:t>Cluster Interpretation &amp; Discount Tier Mapping</a:t>
            </a:r>
            <a:endParaRPr lang="en-US" sz="3000" dirty="0"/>
          </a:p>
        </p:txBody>
      </p:sp>
      <p:sp>
        <p:nvSpPr>
          <p:cNvPr id="4" name="Text 2"/>
          <p:cNvSpPr/>
          <p:nvPr/>
        </p:nvSpPr>
        <p:spPr>
          <a:xfrm>
            <a:off x="457200" y="713232"/>
            <a:ext cx="8229600" cy="274320"/>
          </a:xfrm>
          <a:prstGeom prst="rect">
            <a:avLst/>
          </a:prstGeom>
          <a:noFill/>
          <a:ln/>
        </p:spPr>
        <p:txBody>
          <a:bodyPr wrap="square" rtlCol="0" anchor="ctr"/>
          <a:lstStyle/>
          <a:p>
            <a:pPr marL="0" indent="0" algn="l">
              <a:buNone/>
            </a:pPr>
            <a:r>
              <a:rPr lang="en-US" sz="1300" i="1" dirty="0">
                <a:solidFill>
                  <a:srgbClr val="028090"/>
                </a:solidFill>
              </a:rPr>
              <a:t>3 distinct customer behavioral segments identified</a:t>
            </a:r>
            <a:endParaRPr lang="en-US" sz="1300" dirty="0"/>
          </a:p>
        </p:txBody>
      </p:sp>
      <p:graphicFrame>
        <p:nvGraphicFramePr>
          <p:cNvPr id="5" name="Chart 0"/>
          <p:cNvGraphicFramePr/>
          <p:nvPr>
            <p:extLst>
              <p:ext uri="{D42A27DB-BD31-4B8C-83A1-F6EECF244321}">
                <p14:modId xmlns:p14="http://schemas.microsoft.com/office/powerpoint/2010/main" val="937083597"/>
              </p:ext>
            </p:extLst>
          </p:nvPr>
        </p:nvGraphicFramePr>
        <p:xfrm>
          <a:off x="220980" y="1005840"/>
          <a:ext cx="4259580" cy="3108960"/>
        </p:xfrm>
        <a:graphic>
          <a:graphicData uri="http://schemas.openxmlformats.org/drawingml/2006/chart">
            <c:chart xmlns:c="http://schemas.openxmlformats.org/drawingml/2006/chart" xmlns:r="http://schemas.openxmlformats.org/officeDocument/2006/relationships" r:id="rId3"/>
          </a:graphicData>
        </a:graphic>
      </p:graphicFrame>
      <p:sp>
        <p:nvSpPr>
          <p:cNvPr id="6" name="Shape 3"/>
          <p:cNvSpPr/>
          <p:nvPr/>
        </p:nvSpPr>
        <p:spPr>
          <a:xfrm>
            <a:off x="4754880" y="1005840"/>
            <a:ext cx="4023360" cy="1170432"/>
          </a:xfrm>
          <a:prstGeom prst="rect">
            <a:avLst/>
          </a:prstGeom>
          <a:solidFill>
            <a:srgbClr val="FFFFFF"/>
          </a:solidFill>
          <a:ln w="12700">
            <a:solidFill>
              <a:srgbClr val="CADCFC"/>
            </a:solidFill>
            <a:prstDash val="solid"/>
          </a:ln>
          <a:effectLst>
            <a:outerShdw blurRad="101600" dist="38100" dir="8100000" algn="bl" rotWithShape="0">
              <a:srgbClr val="1E2761">
                <a:alpha val="15000"/>
              </a:srgbClr>
            </a:outerShdw>
          </a:effectLst>
        </p:spPr>
        <p:txBody>
          <a:bodyPr/>
          <a:lstStyle/>
          <a:p>
            <a:endParaRPr lang="en-US"/>
          </a:p>
        </p:txBody>
      </p:sp>
      <p:sp>
        <p:nvSpPr>
          <p:cNvPr id="7" name="Shape 4"/>
          <p:cNvSpPr/>
          <p:nvPr/>
        </p:nvSpPr>
        <p:spPr>
          <a:xfrm>
            <a:off x="4754880" y="1005840"/>
            <a:ext cx="164592" cy="1170432"/>
          </a:xfrm>
          <a:prstGeom prst="rect">
            <a:avLst/>
          </a:prstGeom>
          <a:solidFill>
            <a:srgbClr val="028090"/>
          </a:solidFill>
          <a:ln w="12700">
            <a:solidFill>
              <a:srgbClr val="028090"/>
            </a:solidFill>
            <a:prstDash val="solid"/>
          </a:ln>
        </p:spPr>
        <p:txBody>
          <a:bodyPr/>
          <a:lstStyle/>
          <a:p>
            <a:endParaRPr lang="en-US"/>
          </a:p>
        </p:txBody>
      </p:sp>
      <p:sp>
        <p:nvSpPr>
          <p:cNvPr id="8" name="Text 5"/>
          <p:cNvSpPr/>
          <p:nvPr/>
        </p:nvSpPr>
        <p:spPr>
          <a:xfrm>
            <a:off x="5010912" y="1060704"/>
            <a:ext cx="3566160" cy="274320"/>
          </a:xfrm>
          <a:prstGeom prst="rect">
            <a:avLst/>
          </a:prstGeom>
          <a:noFill/>
          <a:ln/>
        </p:spPr>
        <p:txBody>
          <a:bodyPr wrap="square" rtlCol="0" anchor="ctr"/>
          <a:lstStyle/>
          <a:p>
            <a:pPr marL="0" indent="0">
              <a:buNone/>
            </a:pPr>
            <a:r>
              <a:rPr lang="en-US" sz="1300" b="1" dirty="0">
                <a:solidFill>
                  <a:srgbClr val="028090"/>
                </a:solidFill>
              </a:rPr>
              <a:t>HIGH Discount</a:t>
            </a:r>
            <a:endParaRPr lang="en-US" sz="1300" dirty="0"/>
          </a:p>
        </p:txBody>
      </p:sp>
      <p:sp>
        <p:nvSpPr>
          <p:cNvPr id="9" name="Text 6"/>
          <p:cNvSpPr/>
          <p:nvPr/>
        </p:nvSpPr>
        <p:spPr>
          <a:xfrm>
            <a:off x="5010912" y="1335024"/>
            <a:ext cx="3566160" cy="256032"/>
          </a:xfrm>
          <a:prstGeom prst="rect">
            <a:avLst/>
          </a:prstGeom>
          <a:noFill/>
          <a:ln/>
        </p:spPr>
        <p:txBody>
          <a:bodyPr wrap="square" rtlCol="0" anchor="ctr"/>
          <a:lstStyle/>
          <a:p>
            <a:pPr marL="0" indent="0">
              <a:buNone/>
            </a:pPr>
            <a:r>
              <a:rPr lang="en-US" sz="1200" dirty="0">
                <a:solidFill>
                  <a:srgbClr val="64748B"/>
                </a:solidFill>
              </a:rPr>
              <a:t>Cluster 1  •  74,308 customers</a:t>
            </a:r>
            <a:endParaRPr lang="en-US" sz="1200" dirty="0"/>
          </a:p>
        </p:txBody>
      </p:sp>
      <p:sp>
        <p:nvSpPr>
          <p:cNvPr id="10" name="Text 7"/>
          <p:cNvSpPr/>
          <p:nvPr/>
        </p:nvSpPr>
        <p:spPr>
          <a:xfrm>
            <a:off x="5010912" y="1591056"/>
            <a:ext cx="3566160" cy="502920"/>
          </a:xfrm>
          <a:prstGeom prst="rect">
            <a:avLst/>
          </a:prstGeom>
          <a:noFill/>
          <a:ln/>
        </p:spPr>
        <p:txBody>
          <a:bodyPr wrap="square" rtlCol="0" anchor="ctr"/>
          <a:lstStyle/>
          <a:p>
            <a:pPr marL="0" indent="0">
              <a:buNone/>
            </a:pPr>
            <a:r>
              <a:rPr lang="en-US" sz="1150" dirty="0">
                <a:solidFill>
                  <a:srgbClr val="334155"/>
                </a:solidFill>
              </a:rPr>
              <a:t>Low spenders · Frequent budget purchases · High cheap_order_ratio</a:t>
            </a:r>
            <a:endParaRPr lang="en-US" sz="1150" dirty="0"/>
          </a:p>
        </p:txBody>
      </p:sp>
      <p:sp>
        <p:nvSpPr>
          <p:cNvPr id="11" name="Shape 8"/>
          <p:cNvSpPr/>
          <p:nvPr/>
        </p:nvSpPr>
        <p:spPr>
          <a:xfrm>
            <a:off x="8302752" y="1353312"/>
            <a:ext cx="457200" cy="365760"/>
          </a:xfrm>
          <a:prstGeom prst="rect">
            <a:avLst/>
          </a:prstGeom>
          <a:solidFill>
            <a:srgbClr val="028090"/>
          </a:solidFill>
          <a:ln w="12700">
            <a:solidFill>
              <a:srgbClr val="028090"/>
            </a:solidFill>
            <a:prstDash val="solid"/>
          </a:ln>
        </p:spPr>
        <p:txBody>
          <a:bodyPr/>
          <a:lstStyle/>
          <a:p>
            <a:endParaRPr lang="en-US"/>
          </a:p>
        </p:txBody>
      </p:sp>
      <p:sp>
        <p:nvSpPr>
          <p:cNvPr id="12" name="Text 9"/>
          <p:cNvSpPr/>
          <p:nvPr/>
        </p:nvSpPr>
        <p:spPr>
          <a:xfrm>
            <a:off x="8302752" y="1353312"/>
            <a:ext cx="457200" cy="365760"/>
          </a:xfrm>
          <a:prstGeom prst="rect">
            <a:avLst/>
          </a:prstGeom>
          <a:noFill/>
          <a:ln/>
        </p:spPr>
        <p:txBody>
          <a:bodyPr wrap="square" lIns="0" tIns="0" rIns="0" bIns="0" rtlCol="0" anchor="ctr"/>
          <a:lstStyle/>
          <a:p>
            <a:pPr marL="0" indent="0" algn="ctr">
              <a:buNone/>
            </a:pPr>
            <a:r>
              <a:rPr lang="en-US" sz="1000" b="1" dirty="0">
                <a:solidFill>
                  <a:srgbClr val="FFFFFF"/>
                </a:solidFill>
              </a:rPr>
              <a:t>79.5%</a:t>
            </a:r>
            <a:endParaRPr lang="en-US" sz="1000" dirty="0"/>
          </a:p>
        </p:txBody>
      </p:sp>
      <p:sp>
        <p:nvSpPr>
          <p:cNvPr id="13" name="Shape 10"/>
          <p:cNvSpPr/>
          <p:nvPr/>
        </p:nvSpPr>
        <p:spPr>
          <a:xfrm>
            <a:off x="4754880" y="2304288"/>
            <a:ext cx="4023360" cy="1170432"/>
          </a:xfrm>
          <a:prstGeom prst="rect">
            <a:avLst/>
          </a:prstGeom>
          <a:solidFill>
            <a:srgbClr val="FFFFFF"/>
          </a:solidFill>
          <a:ln w="12700">
            <a:solidFill>
              <a:srgbClr val="CADCFC"/>
            </a:solidFill>
            <a:prstDash val="solid"/>
          </a:ln>
          <a:effectLst>
            <a:outerShdw blurRad="101600" dist="38100" dir="8100000" algn="bl" rotWithShape="0">
              <a:srgbClr val="1E2761">
                <a:alpha val="15000"/>
              </a:srgbClr>
            </a:outerShdw>
          </a:effectLst>
        </p:spPr>
        <p:txBody>
          <a:bodyPr/>
          <a:lstStyle/>
          <a:p>
            <a:endParaRPr lang="en-US"/>
          </a:p>
        </p:txBody>
      </p:sp>
      <p:sp>
        <p:nvSpPr>
          <p:cNvPr id="14" name="Shape 11"/>
          <p:cNvSpPr/>
          <p:nvPr/>
        </p:nvSpPr>
        <p:spPr>
          <a:xfrm>
            <a:off x="4754880" y="2304288"/>
            <a:ext cx="164592" cy="1170432"/>
          </a:xfrm>
          <a:prstGeom prst="rect">
            <a:avLst/>
          </a:prstGeom>
          <a:solidFill>
            <a:srgbClr val="1E2761"/>
          </a:solidFill>
          <a:ln w="12700">
            <a:solidFill>
              <a:srgbClr val="1E2761"/>
            </a:solidFill>
            <a:prstDash val="solid"/>
          </a:ln>
        </p:spPr>
        <p:txBody>
          <a:bodyPr/>
          <a:lstStyle/>
          <a:p>
            <a:endParaRPr lang="en-US"/>
          </a:p>
        </p:txBody>
      </p:sp>
      <p:sp>
        <p:nvSpPr>
          <p:cNvPr id="15" name="Text 12"/>
          <p:cNvSpPr/>
          <p:nvPr/>
        </p:nvSpPr>
        <p:spPr>
          <a:xfrm>
            <a:off x="5010912" y="2359152"/>
            <a:ext cx="3566160" cy="274320"/>
          </a:xfrm>
          <a:prstGeom prst="rect">
            <a:avLst/>
          </a:prstGeom>
          <a:noFill/>
          <a:ln/>
        </p:spPr>
        <p:txBody>
          <a:bodyPr wrap="square" rtlCol="0" anchor="ctr"/>
          <a:lstStyle/>
          <a:p>
            <a:pPr marL="0" indent="0">
              <a:buNone/>
            </a:pPr>
            <a:r>
              <a:rPr lang="en-US" sz="1300" b="1" dirty="0">
                <a:solidFill>
                  <a:srgbClr val="1E2761"/>
                </a:solidFill>
              </a:rPr>
              <a:t>MEDIUM Discount</a:t>
            </a:r>
            <a:endParaRPr lang="en-US" sz="1300" dirty="0"/>
          </a:p>
        </p:txBody>
      </p:sp>
      <p:sp>
        <p:nvSpPr>
          <p:cNvPr id="16" name="Text 13"/>
          <p:cNvSpPr/>
          <p:nvPr/>
        </p:nvSpPr>
        <p:spPr>
          <a:xfrm>
            <a:off x="5010912" y="2633472"/>
            <a:ext cx="3566160" cy="256032"/>
          </a:xfrm>
          <a:prstGeom prst="rect">
            <a:avLst/>
          </a:prstGeom>
          <a:noFill/>
          <a:ln/>
        </p:spPr>
        <p:txBody>
          <a:bodyPr wrap="square" rtlCol="0" anchor="ctr"/>
          <a:lstStyle/>
          <a:p>
            <a:pPr marL="0" indent="0">
              <a:buNone/>
            </a:pPr>
            <a:r>
              <a:rPr lang="en-US" sz="1200" dirty="0">
                <a:solidFill>
                  <a:srgbClr val="64748B"/>
                </a:solidFill>
              </a:rPr>
              <a:t>Cluster 0  •  16,172 customers</a:t>
            </a:r>
            <a:endParaRPr lang="en-US" sz="1200" dirty="0"/>
          </a:p>
        </p:txBody>
      </p:sp>
      <p:sp>
        <p:nvSpPr>
          <p:cNvPr id="17" name="Text 14"/>
          <p:cNvSpPr/>
          <p:nvPr/>
        </p:nvSpPr>
        <p:spPr>
          <a:xfrm>
            <a:off x="5010912" y="2889504"/>
            <a:ext cx="3566160" cy="502920"/>
          </a:xfrm>
          <a:prstGeom prst="rect">
            <a:avLst/>
          </a:prstGeom>
          <a:noFill/>
          <a:ln/>
        </p:spPr>
        <p:txBody>
          <a:bodyPr wrap="square" rtlCol="0" anchor="ctr"/>
          <a:lstStyle/>
          <a:p>
            <a:pPr marL="0" indent="0">
              <a:buNone/>
            </a:pPr>
            <a:r>
              <a:rPr lang="en-US" sz="1150" dirty="0">
                <a:solidFill>
                  <a:srgbClr val="334155"/>
                </a:solidFill>
              </a:rPr>
              <a:t>Moderate spenders · Mixed payment behavior</a:t>
            </a:r>
            <a:endParaRPr lang="en-US" sz="1150" dirty="0"/>
          </a:p>
        </p:txBody>
      </p:sp>
      <p:sp>
        <p:nvSpPr>
          <p:cNvPr id="18" name="Shape 15"/>
          <p:cNvSpPr/>
          <p:nvPr/>
        </p:nvSpPr>
        <p:spPr>
          <a:xfrm>
            <a:off x="8302752" y="2651760"/>
            <a:ext cx="457200" cy="365760"/>
          </a:xfrm>
          <a:prstGeom prst="rect">
            <a:avLst/>
          </a:prstGeom>
          <a:solidFill>
            <a:srgbClr val="1E2761"/>
          </a:solidFill>
          <a:ln w="12700">
            <a:solidFill>
              <a:srgbClr val="1E2761"/>
            </a:solidFill>
            <a:prstDash val="solid"/>
          </a:ln>
        </p:spPr>
        <p:txBody>
          <a:bodyPr/>
          <a:lstStyle/>
          <a:p>
            <a:endParaRPr lang="en-US"/>
          </a:p>
        </p:txBody>
      </p:sp>
      <p:sp>
        <p:nvSpPr>
          <p:cNvPr id="19" name="Text 16"/>
          <p:cNvSpPr/>
          <p:nvPr/>
        </p:nvSpPr>
        <p:spPr>
          <a:xfrm>
            <a:off x="8302752" y="2651760"/>
            <a:ext cx="457200" cy="365760"/>
          </a:xfrm>
          <a:prstGeom prst="rect">
            <a:avLst/>
          </a:prstGeom>
          <a:noFill/>
          <a:ln/>
        </p:spPr>
        <p:txBody>
          <a:bodyPr wrap="square" lIns="0" tIns="0" rIns="0" bIns="0" rtlCol="0" anchor="ctr"/>
          <a:lstStyle/>
          <a:p>
            <a:pPr marL="0" indent="0" algn="ctr">
              <a:buNone/>
            </a:pPr>
            <a:r>
              <a:rPr lang="en-US" sz="1000" b="1" dirty="0">
                <a:solidFill>
                  <a:srgbClr val="FFFFFF"/>
                </a:solidFill>
              </a:rPr>
              <a:t>17.3%</a:t>
            </a:r>
            <a:endParaRPr lang="en-US" sz="1000" dirty="0"/>
          </a:p>
        </p:txBody>
      </p:sp>
      <p:sp>
        <p:nvSpPr>
          <p:cNvPr id="20" name="Shape 17"/>
          <p:cNvSpPr/>
          <p:nvPr/>
        </p:nvSpPr>
        <p:spPr>
          <a:xfrm>
            <a:off x="4754880" y="3602736"/>
            <a:ext cx="4023360" cy="1170432"/>
          </a:xfrm>
          <a:prstGeom prst="rect">
            <a:avLst/>
          </a:prstGeom>
          <a:solidFill>
            <a:srgbClr val="FFFFFF"/>
          </a:solidFill>
          <a:ln w="12700">
            <a:solidFill>
              <a:srgbClr val="CADCFC"/>
            </a:solidFill>
            <a:prstDash val="solid"/>
          </a:ln>
          <a:effectLst>
            <a:outerShdw blurRad="101600" dist="38100" dir="8100000" algn="bl" rotWithShape="0">
              <a:srgbClr val="1E2761">
                <a:alpha val="15000"/>
              </a:srgbClr>
            </a:outerShdw>
          </a:effectLst>
        </p:spPr>
        <p:txBody>
          <a:bodyPr/>
          <a:lstStyle/>
          <a:p>
            <a:endParaRPr lang="en-US"/>
          </a:p>
        </p:txBody>
      </p:sp>
      <p:sp>
        <p:nvSpPr>
          <p:cNvPr id="21" name="Shape 18"/>
          <p:cNvSpPr/>
          <p:nvPr/>
        </p:nvSpPr>
        <p:spPr>
          <a:xfrm>
            <a:off x="4754880" y="3602736"/>
            <a:ext cx="164592" cy="1170432"/>
          </a:xfrm>
          <a:prstGeom prst="rect">
            <a:avLst/>
          </a:prstGeom>
          <a:solidFill>
            <a:srgbClr val="02C39A"/>
          </a:solidFill>
          <a:ln w="12700">
            <a:solidFill>
              <a:srgbClr val="02C39A"/>
            </a:solidFill>
            <a:prstDash val="solid"/>
          </a:ln>
        </p:spPr>
        <p:txBody>
          <a:bodyPr/>
          <a:lstStyle/>
          <a:p>
            <a:endParaRPr lang="en-US"/>
          </a:p>
        </p:txBody>
      </p:sp>
      <p:sp>
        <p:nvSpPr>
          <p:cNvPr id="22" name="Text 19"/>
          <p:cNvSpPr/>
          <p:nvPr/>
        </p:nvSpPr>
        <p:spPr>
          <a:xfrm>
            <a:off x="5010912" y="3657600"/>
            <a:ext cx="3566160" cy="274320"/>
          </a:xfrm>
          <a:prstGeom prst="rect">
            <a:avLst/>
          </a:prstGeom>
          <a:noFill/>
          <a:ln/>
        </p:spPr>
        <p:txBody>
          <a:bodyPr wrap="square" rtlCol="0" anchor="ctr"/>
          <a:lstStyle/>
          <a:p>
            <a:pPr marL="0" indent="0">
              <a:buNone/>
            </a:pPr>
            <a:r>
              <a:rPr lang="en-US" sz="1300" b="1" dirty="0">
                <a:solidFill>
                  <a:srgbClr val="02C39A"/>
                </a:solidFill>
              </a:rPr>
              <a:t>LOW Discount</a:t>
            </a:r>
            <a:endParaRPr lang="en-US" sz="1300" dirty="0"/>
          </a:p>
        </p:txBody>
      </p:sp>
      <p:sp>
        <p:nvSpPr>
          <p:cNvPr id="23" name="Text 20"/>
          <p:cNvSpPr/>
          <p:nvPr/>
        </p:nvSpPr>
        <p:spPr>
          <a:xfrm>
            <a:off x="5010912" y="3931920"/>
            <a:ext cx="3566160" cy="256032"/>
          </a:xfrm>
          <a:prstGeom prst="rect">
            <a:avLst/>
          </a:prstGeom>
          <a:noFill/>
          <a:ln/>
        </p:spPr>
        <p:txBody>
          <a:bodyPr wrap="square" rtlCol="0" anchor="ctr"/>
          <a:lstStyle/>
          <a:p>
            <a:pPr marL="0" indent="0">
              <a:buNone/>
            </a:pPr>
            <a:r>
              <a:rPr lang="en-US" sz="1200" dirty="0">
                <a:solidFill>
                  <a:srgbClr val="64748B"/>
                </a:solidFill>
              </a:rPr>
              <a:t>Cluster 2  •  2,855 customers</a:t>
            </a:r>
            <a:endParaRPr lang="en-US" sz="1200" dirty="0"/>
          </a:p>
        </p:txBody>
      </p:sp>
      <p:sp>
        <p:nvSpPr>
          <p:cNvPr id="24" name="Text 21"/>
          <p:cNvSpPr/>
          <p:nvPr/>
        </p:nvSpPr>
        <p:spPr>
          <a:xfrm>
            <a:off x="5010912" y="4187952"/>
            <a:ext cx="3566160" cy="502920"/>
          </a:xfrm>
          <a:prstGeom prst="rect">
            <a:avLst/>
          </a:prstGeom>
          <a:noFill/>
          <a:ln/>
        </p:spPr>
        <p:txBody>
          <a:bodyPr wrap="square" rtlCol="0" anchor="ctr"/>
          <a:lstStyle/>
          <a:p>
            <a:pPr marL="0" indent="0">
              <a:buNone/>
            </a:pPr>
            <a:r>
              <a:rPr lang="en-US" sz="1150" dirty="0">
                <a:solidFill>
                  <a:srgbClr val="334155"/>
                </a:solidFill>
              </a:rPr>
              <a:t>High value · Low promo dependency · Premium buyers</a:t>
            </a:r>
            <a:endParaRPr lang="en-US" sz="1150" dirty="0"/>
          </a:p>
        </p:txBody>
      </p:sp>
      <p:sp>
        <p:nvSpPr>
          <p:cNvPr id="25" name="Shape 22"/>
          <p:cNvSpPr/>
          <p:nvPr/>
        </p:nvSpPr>
        <p:spPr>
          <a:xfrm>
            <a:off x="8302752" y="3950208"/>
            <a:ext cx="457200" cy="365760"/>
          </a:xfrm>
          <a:prstGeom prst="rect">
            <a:avLst/>
          </a:prstGeom>
          <a:solidFill>
            <a:srgbClr val="02C39A"/>
          </a:solidFill>
          <a:ln w="12700">
            <a:solidFill>
              <a:srgbClr val="02C39A"/>
            </a:solidFill>
            <a:prstDash val="solid"/>
          </a:ln>
        </p:spPr>
        <p:txBody>
          <a:bodyPr/>
          <a:lstStyle/>
          <a:p>
            <a:endParaRPr lang="en-US"/>
          </a:p>
        </p:txBody>
      </p:sp>
      <p:sp>
        <p:nvSpPr>
          <p:cNvPr id="26" name="Text 23"/>
          <p:cNvSpPr/>
          <p:nvPr/>
        </p:nvSpPr>
        <p:spPr>
          <a:xfrm>
            <a:off x="8302752" y="3950208"/>
            <a:ext cx="457200" cy="365760"/>
          </a:xfrm>
          <a:prstGeom prst="rect">
            <a:avLst/>
          </a:prstGeom>
          <a:noFill/>
          <a:ln/>
        </p:spPr>
        <p:txBody>
          <a:bodyPr wrap="square" lIns="0" tIns="0" rIns="0" bIns="0" rtlCol="0" anchor="ctr"/>
          <a:lstStyle/>
          <a:p>
            <a:pPr marL="0" indent="0" algn="ctr">
              <a:buNone/>
            </a:pPr>
            <a:r>
              <a:rPr lang="en-US" sz="1000" b="1" dirty="0">
                <a:solidFill>
                  <a:srgbClr val="FFFFFF"/>
                </a:solidFill>
              </a:rPr>
              <a:t>3.1%</a:t>
            </a:r>
            <a:endParaRPr lang="en-US" sz="1000" dirty="0"/>
          </a:p>
        </p:txBody>
      </p:sp>
      <p:sp>
        <p:nvSpPr>
          <p:cNvPr id="27" name="Shape 24"/>
          <p:cNvSpPr/>
          <p:nvPr/>
        </p:nvSpPr>
        <p:spPr>
          <a:xfrm>
            <a:off x="0" y="4869180"/>
            <a:ext cx="9144000" cy="274320"/>
          </a:xfrm>
          <a:prstGeom prst="rect">
            <a:avLst/>
          </a:prstGeom>
          <a:solidFill>
            <a:srgbClr val="1E2761"/>
          </a:solidFill>
          <a:ln w="12700">
            <a:solidFill>
              <a:srgbClr val="1E2761"/>
            </a:solidFill>
            <a:prstDash val="solid"/>
          </a:ln>
        </p:spPr>
        <p:txBody>
          <a:bodyPr/>
          <a:lstStyle/>
          <a:p>
            <a:endParaRPr lang="en-US"/>
          </a:p>
        </p:txBody>
      </p:sp>
      <p:sp>
        <p:nvSpPr>
          <p:cNvPr id="28" name="Text 25"/>
          <p:cNvSpPr/>
          <p:nvPr/>
        </p:nvSpPr>
        <p:spPr>
          <a:xfrm>
            <a:off x="0" y="4869180"/>
            <a:ext cx="9144000" cy="274320"/>
          </a:xfrm>
          <a:prstGeom prst="rect">
            <a:avLst/>
          </a:prstGeom>
          <a:noFill/>
          <a:ln/>
        </p:spPr>
        <p:txBody>
          <a:bodyPr wrap="square" lIns="0" tIns="0" rIns="0" bIns="0" rtlCol="0" anchor="ctr"/>
          <a:lstStyle/>
          <a:p>
            <a:pPr marL="0" indent="0" algn="ctr">
              <a:buNone/>
            </a:pPr>
            <a:r>
              <a:rPr lang="en-US" sz="900" dirty="0">
                <a:solidFill>
                  <a:srgbClr val="CADCFC"/>
                </a:solidFill>
              </a:rPr>
              <a:t>Smart Discount Targeting System  |  NUCES CS3005  |  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28090"/>
          </a:solidFill>
          <a:ln w="12700">
            <a:solidFill>
              <a:srgbClr val="028090"/>
            </a:solidFill>
            <a:prstDash val="solid"/>
          </a:ln>
        </p:spPr>
        <p:txBody>
          <a:bodyPr/>
          <a:lstStyle/>
          <a:p>
            <a:endParaRPr lang="en-US"/>
          </a:p>
        </p:txBody>
      </p:sp>
      <p:sp>
        <p:nvSpPr>
          <p:cNvPr id="3" name="Text 1"/>
          <p:cNvSpPr/>
          <p:nvPr/>
        </p:nvSpPr>
        <p:spPr>
          <a:xfrm>
            <a:off x="457200" y="164592"/>
            <a:ext cx="7772400" cy="566928"/>
          </a:xfrm>
          <a:prstGeom prst="rect">
            <a:avLst/>
          </a:prstGeom>
          <a:noFill/>
          <a:ln/>
        </p:spPr>
        <p:txBody>
          <a:bodyPr wrap="square" rtlCol="0" anchor="ctr"/>
          <a:lstStyle/>
          <a:p>
            <a:pPr marL="0" indent="0" algn="l">
              <a:buNone/>
            </a:pPr>
            <a:r>
              <a:rPr lang="en-US" sz="3000" b="1" dirty="0">
                <a:solidFill>
                  <a:srgbClr val="1E2761"/>
                </a:solidFill>
              </a:rPr>
              <a:t>PCA Visualization of Customer Segments</a:t>
            </a:r>
            <a:endParaRPr lang="en-US" sz="3000" dirty="0"/>
          </a:p>
        </p:txBody>
      </p:sp>
      <p:sp>
        <p:nvSpPr>
          <p:cNvPr id="4" name="Text 2"/>
          <p:cNvSpPr/>
          <p:nvPr/>
        </p:nvSpPr>
        <p:spPr>
          <a:xfrm>
            <a:off x="457200" y="713232"/>
            <a:ext cx="8229600" cy="274320"/>
          </a:xfrm>
          <a:prstGeom prst="rect">
            <a:avLst/>
          </a:prstGeom>
          <a:noFill/>
          <a:ln/>
        </p:spPr>
        <p:txBody>
          <a:bodyPr wrap="square" rtlCol="0" anchor="ctr"/>
          <a:lstStyle/>
          <a:p>
            <a:pPr marL="0" indent="0" algn="l">
              <a:buNone/>
            </a:pPr>
            <a:r>
              <a:rPr lang="en-US" sz="1300" i="1" dirty="0">
                <a:solidFill>
                  <a:srgbClr val="028090"/>
                </a:solidFill>
              </a:rPr>
              <a:t>Dimensionality reduction confirms cluster separability</a:t>
            </a:r>
            <a:endParaRPr lang="en-US" sz="1300" dirty="0"/>
          </a:p>
        </p:txBody>
      </p:sp>
      <p:sp>
        <p:nvSpPr>
          <p:cNvPr id="6" name="Shape 3"/>
          <p:cNvSpPr/>
          <p:nvPr/>
        </p:nvSpPr>
        <p:spPr>
          <a:xfrm>
            <a:off x="6217920" y="1005840"/>
            <a:ext cx="2560320" cy="1024128"/>
          </a:xfrm>
          <a:prstGeom prst="rect">
            <a:avLst/>
          </a:prstGeom>
          <a:solidFill>
            <a:srgbClr val="FFFFFF"/>
          </a:solidFill>
          <a:ln w="12700">
            <a:solidFill>
              <a:srgbClr val="CADCFC"/>
            </a:solidFill>
            <a:prstDash val="solid"/>
          </a:ln>
          <a:effectLst>
            <a:outerShdw blurRad="101600" dist="38100" dir="8100000" algn="bl" rotWithShape="0">
              <a:srgbClr val="1E2761">
                <a:alpha val="15000"/>
              </a:srgbClr>
            </a:outerShdw>
          </a:effectLst>
        </p:spPr>
        <p:txBody>
          <a:bodyPr/>
          <a:lstStyle/>
          <a:p>
            <a:endParaRPr lang="en-US"/>
          </a:p>
        </p:txBody>
      </p:sp>
      <p:sp>
        <p:nvSpPr>
          <p:cNvPr id="7" name="Shape 4"/>
          <p:cNvSpPr/>
          <p:nvPr/>
        </p:nvSpPr>
        <p:spPr>
          <a:xfrm>
            <a:off x="6217920" y="1005840"/>
            <a:ext cx="109728" cy="1024128"/>
          </a:xfrm>
          <a:prstGeom prst="rect">
            <a:avLst/>
          </a:prstGeom>
          <a:solidFill>
            <a:srgbClr val="028090"/>
          </a:solidFill>
          <a:ln w="12700">
            <a:solidFill>
              <a:srgbClr val="028090"/>
            </a:solidFill>
            <a:prstDash val="solid"/>
          </a:ln>
        </p:spPr>
        <p:txBody>
          <a:bodyPr/>
          <a:lstStyle/>
          <a:p>
            <a:endParaRPr lang="en-US"/>
          </a:p>
        </p:txBody>
      </p:sp>
      <p:sp>
        <p:nvSpPr>
          <p:cNvPr id="8" name="Text 5"/>
          <p:cNvSpPr/>
          <p:nvPr/>
        </p:nvSpPr>
        <p:spPr>
          <a:xfrm>
            <a:off x="6419088" y="1060704"/>
            <a:ext cx="2331720" cy="274320"/>
          </a:xfrm>
          <a:prstGeom prst="rect">
            <a:avLst/>
          </a:prstGeom>
          <a:noFill/>
          <a:ln/>
        </p:spPr>
        <p:txBody>
          <a:bodyPr wrap="square" rtlCol="0" anchor="ctr"/>
          <a:lstStyle/>
          <a:p>
            <a:pPr marL="0" indent="0">
              <a:buNone/>
            </a:pPr>
            <a:r>
              <a:rPr lang="en-US" sz="1200" b="1" dirty="0">
                <a:solidFill>
                  <a:srgbClr val="028090"/>
                </a:solidFill>
              </a:rPr>
              <a:t>Clear Separation</a:t>
            </a:r>
            <a:endParaRPr lang="en-US" sz="1200" dirty="0"/>
          </a:p>
        </p:txBody>
      </p:sp>
      <p:sp>
        <p:nvSpPr>
          <p:cNvPr id="9" name="Text 6"/>
          <p:cNvSpPr/>
          <p:nvPr/>
        </p:nvSpPr>
        <p:spPr>
          <a:xfrm>
            <a:off x="6419088" y="1335024"/>
            <a:ext cx="2331720" cy="658368"/>
          </a:xfrm>
          <a:prstGeom prst="rect">
            <a:avLst/>
          </a:prstGeom>
          <a:noFill/>
          <a:ln/>
        </p:spPr>
        <p:txBody>
          <a:bodyPr wrap="square" rtlCol="0" anchor="ctr"/>
          <a:lstStyle/>
          <a:p>
            <a:pPr marL="0" indent="0">
              <a:buNone/>
            </a:pPr>
            <a:r>
              <a:rPr lang="en-US" sz="1100" dirty="0">
                <a:solidFill>
                  <a:srgbClr val="334155"/>
                </a:solidFill>
              </a:rPr>
              <a:t>Three clusters form distinct regions in the PCA space, validating that engineered features capture meaningful behavioral differences.</a:t>
            </a:r>
            <a:endParaRPr lang="en-US" sz="1100" dirty="0"/>
          </a:p>
        </p:txBody>
      </p:sp>
      <p:sp>
        <p:nvSpPr>
          <p:cNvPr id="10" name="Shape 7"/>
          <p:cNvSpPr/>
          <p:nvPr/>
        </p:nvSpPr>
        <p:spPr>
          <a:xfrm>
            <a:off x="6217920" y="2176272"/>
            <a:ext cx="2560320" cy="1024128"/>
          </a:xfrm>
          <a:prstGeom prst="rect">
            <a:avLst/>
          </a:prstGeom>
          <a:solidFill>
            <a:srgbClr val="FFFFFF"/>
          </a:solidFill>
          <a:ln w="12700">
            <a:solidFill>
              <a:srgbClr val="CADCFC"/>
            </a:solidFill>
            <a:prstDash val="solid"/>
          </a:ln>
          <a:effectLst>
            <a:outerShdw blurRad="101600" dist="38100" dir="8100000" algn="bl" rotWithShape="0">
              <a:srgbClr val="1E2761">
                <a:alpha val="15000"/>
              </a:srgbClr>
            </a:outerShdw>
          </a:effectLst>
        </p:spPr>
        <p:txBody>
          <a:bodyPr/>
          <a:lstStyle/>
          <a:p>
            <a:endParaRPr lang="en-US"/>
          </a:p>
        </p:txBody>
      </p:sp>
      <p:sp>
        <p:nvSpPr>
          <p:cNvPr id="11" name="Shape 8"/>
          <p:cNvSpPr/>
          <p:nvPr/>
        </p:nvSpPr>
        <p:spPr>
          <a:xfrm>
            <a:off x="6217920" y="2176272"/>
            <a:ext cx="109728" cy="1024128"/>
          </a:xfrm>
          <a:prstGeom prst="rect">
            <a:avLst/>
          </a:prstGeom>
          <a:solidFill>
            <a:srgbClr val="028090"/>
          </a:solidFill>
          <a:ln w="12700">
            <a:solidFill>
              <a:srgbClr val="028090"/>
            </a:solidFill>
            <a:prstDash val="solid"/>
          </a:ln>
        </p:spPr>
        <p:txBody>
          <a:bodyPr/>
          <a:lstStyle/>
          <a:p>
            <a:endParaRPr lang="en-US"/>
          </a:p>
        </p:txBody>
      </p:sp>
      <p:sp>
        <p:nvSpPr>
          <p:cNvPr id="12" name="Text 9"/>
          <p:cNvSpPr/>
          <p:nvPr/>
        </p:nvSpPr>
        <p:spPr>
          <a:xfrm>
            <a:off x="6419088" y="2231136"/>
            <a:ext cx="2331720" cy="274320"/>
          </a:xfrm>
          <a:prstGeom prst="rect">
            <a:avLst/>
          </a:prstGeom>
          <a:noFill/>
          <a:ln/>
        </p:spPr>
        <p:txBody>
          <a:bodyPr wrap="square" rtlCol="0" anchor="ctr"/>
          <a:lstStyle/>
          <a:p>
            <a:pPr marL="0" indent="0">
              <a:buNone/>
            </a:pPr>
            <a:r>
              <a:rPr lang="en-US" sz="1200" b="1" dirty="0">
                <a:solidFill>
                  <a:srgbClr val="028090"/>
                </a:solidFill>
              </a:rPr>
              <a:t>Feature Quality</a:t>
            </a:r>
            <a:endParaRPr lang="en-US" sz="1200" dirty="0"/>
          </a:p>
        </p:txBody>
      </p:sp>
      <p:sp>
        <p:nvSpPr>
          <p:cNvPr id="13" name="Text 10"/>
          <p:cNvSpPr/>
          <p:nvPr/>
        </p:nvSpPr>
        <p:spPr>
          <a:xfrm>
            <a:off x="6419088" y="2505456"/>
            <a:ext cx="2331720" cy="658368"/>
          </a:xfrm>
          <a:prstGeom prst="rect">
            <a:avLst/>
          </a:prstGeom>
          <a:noFill/>
          <a:ln/>
        </p:spPr>
        <p:txBody>
          <a:bodyPr wrap="square" rtlCol="0" anchor="ctr"/>
          <a:lstStyle/>
          <a:p>
            <a:pPr marL="0" indent="0">
              <a:buNone/>
            </a:pPr>
            <a:r>
              <a:rPr lang="en-US" sz="1100" dirty="0">
                <a:solidFill>
                  <a:srgbClr val="334155"/>
                </a:solidFill>
              </a:rPr>
              <a:t>The 25+ behavioral features compress well into 2 principal components with visible cluster separation.</a:t>
            </a:r>
            <a:endParaRPr lang="en-US" sz="1100" dirty="0"/>
          </a:p>
        </p:txBody>
      </p:sp>
      <p:sp>
        <p:nvSpPr>
          <p:cNvPr id="14" name="Shape 11"/>
          <p:cNvSpPr/>
          <p:nvPr/>
        </p:nvSpPr>
        <p:spPr>
          <a:xfrm>
            <a:off x="6217920" y="3346704"/>
            <a:ext cx="2560320" cy="1024128"/>
          </a:xfrm>
          <a:prstGeom prst="rect">
            <a:avLst/>
          </a:prstGeom>
          <a:solidFill>
            <a:srgbClr val="FFFFFF"/>
          </a:solidFill>
          <a:ln w="12700">
            <a:solidFill>
              <a:srgbClr val="CADCFC"/>
            </a:solidFill>
            <a:prstDash val="solid"/>
          </a:ln>
          <a:effectLst>
            <a:outerShdw blurRad="101600" dist="38100" dir="8100000" algn="bl" rotWithShape="0">
              <a:srgbClr val="1E2761">
                <a:alpha val="15000"/>
              </a:srgbClr>
            </a:outerShdw>
          </a:effectLst>
        </p:spPr>
        <p:txBody>
          <a:bodyPr/>
          <a:lstStyle/>
          <a:p>
            <a:endParaRPr lang="en-US"/>
          </a:p>
        </p:txBody>
      </p:sp>
      <p:sp>
        <p:nvSpPr>
          <p:cNvPr id="15" name="Shape 12"/>
          <p:cNvSpPr/>
          <p:nvPr/>
        </p:nvSpPr>
        <p:spPr>
          <a:xfrm>
            <a:off x="6217920" y="3346704"/>
            <a:ext cx="109728" cy="1024128"/>
          </a:xfrm>
          <a:prstGeom prst="rect">
            <a:avLst/>
          </a:prstGeom>
          <a:solidFill>
            <a:srgbClr val="028090"/>
          </a:solidFill>
          <a:ln w="12700">
            <a:solidFill>
              <a:srgbClr val="028090"/>
            </a:solidFill>
            <a:prstDash val="solid"/>
          </a:ln>
        </p:spPr>
        <p:txBody>
          <a:bodyPr/>
          <a:lstStyle/>
          <a:p>
            <a:endParaRPr lang="en-US"/>
          </a:p>
        </p:txBody>
      </p:sp>
      <p:sp>
        <p:nvSpPr>
          <p:cNvPr id="16" name="Text 13"/>
          <p:cNvSpPr/>
          <p:nvPr/>
        </p:nvSpPr>
        <p:spPr>
          <a:xfrm>
            <a:off x="6419088" y="3401568"/>
            <a:ext cx="2331720" cy="274320"/>
          </a:xfrm>
          <a:prstGeom prst="rect">
            <a:avLst/>
          </a:prstGeom>
          <a:noFill/>
          <a:ln/>
        </p:spPr>
        <p:txBody>
          <a:bodyPr wrap="square" rtlCol="0" anchor="ctr"/>
          <a:lstStyle/>
          <a:p>
            <a:pPr marL="0" indent="0">
              <a:buNone/>
            </a:pPr>
            <a:r>
              <a:rPr lang="en-US" sz="1200" b="1" dirty="0">
                <a:solidFill>
                  <a:srgbClr val="028090"/>
                </a:solidFill>
              </a:rPr>
              <a:t>Boundary Analysis</a:t>
            </a:r>
            <a:endParaRPr lang="en-US" sz="1200" dirty="0"/>
          </a:p>
        </p:txBody>
      </p:sp>
      <p:sp>
        <p:nvSpPr>
          <p:cNvPr id="17" name="Text 14"/>
          <p:cNvSpPr/>
          <p:nvPr/>
        </p:nvSpPr>
        <p:spPr>
          <a:xfrm>
            <a:off x="6419088" y="3675888"/>
            <a:ext cx="2331720" cy="658368"/>
          </a:xfrm>
          <a:prstGeom prst="rect">
            <a:avLst/>
          </a:prstGeom>
          <a:noFill/>
          <a:ln/>
        </p:spPr>
        <p:txBody>
          <a:bodyPr wrap="square" rtlCol="0" anchor="ctr"/>
          <a:lstStyle/>
          <a:p>
            <a:pPr marL="0" indent="0">
              <a:buNone/>
            </a:pPr>
            <a:r>
              <a:rPr lang="en-US" sz="1100" dirty="0">
                <a:solidFill>
                  <a:srgbClr val="334155"/>
                </a:solidFill>
              </a:rPr>
              <a:t>Clusters 0 and 1 show some boundary overlap — consistent with adjacent discount tiers having similar behaviors.</a:t>
            </a:r>
            <a:endParaRPr lang="en-US" sz="1100" dirty="0"/>
          </a:p>
        </p:txBody>
      </p:sp>
      <p:sp>
        <p:nvSpPr>
          <p:cNvPr id="18" name="Shape 15"/>
          <p:cNvSpPr/>
          <p:nvPr/>
        </p:nvSpPr>
        <p:spPr>
          <a:xfrm>
            <a:off x="0" y="4869180"/>
            <a:ext cx="9144000" cy="274320"/>
          </a:xfrm>
          <a:prstGeom prst="rect">
            <a:avLst/>
          </a:prstGeom>
          <a:solidFill>
            <a:srgbClr val="1E2761"/>
          </a:solidFill>
          <a:ln w="12700">
            <a:solidFill>
              <a:srgbClr val="1E2761"/>
            </a:solidFill>
            <a:prstDash val="solid"/>
          </a:ln>
        </p:spPr>
        <p:txBody>
          <a:bodyPr/>
          <a:lstStyle/>
          <a:p>
            <a:endParaRPr lang="en-US"/>
          </a:p>
        </p:txBody>
      </p:sp>
      <p:sp>
        <p:nvSpPr>
          <p:cNvPr id="19" name="Text 16"/>
          <p:cNvSpPr/>
          <p:nvPr/>
        </p:nvSpPr>
        <p:spPr>
          <a:xfrm>
            <a:off x="0" y="4869180"/>
            <a:ext cx="9144000" cy="274320"/>
          </a:xfrm>
          <a:prstGeom prst="rect">
            <a:avLst/>
          </a:prstGeom>
          <a:noFill/>
          <a:ln/>
        </p:spPr>
        <p:txBody>
          <a:bodyPr wrap="square" lIns="0" tIns="0" rIns="0" bIns="0" rtlCol="0" anchor="ctr"/>
          <a:lstStyle/>
          <a:p>
            <a:pPr marL="0" indent="0" algn="ctr">
              <a:buNone/>
            </a:pPr>
            <a:r>
              <a:rPr lang="en-US" sz="900" dirty="0">
                <a:solidFill>
                  <a:srgbClr val="CADCFC"/>
                </a:solidFill>
              </a:rPr>
              <a:t>Smart Discount Targeting System  |  NUCES CS3005  |  11</a:t>
            </a:r>
            <a:endParaRPr lang="en-US" sz="900" dirty="0"/>
          </a:p>
        </p:txBody>
      </p:sp>
      <p:pic>
        <p:nvPicPr>
          <p:cNvPr id="20" name="Image 3" descr="preencoded.png">
            <a:extLst>
              <a:ext uri="{FF2B5EF4-FFF2-40B4-BE49-F238E27FC236}">
                <a16:creationId xmlns:a16="http://schemas.microsoft.com/office/drawing/2014/main" id="{AF28251C-5F9B-D5DC-F0DC-759BF0B39B67}"/>
              </a:ext>
            </a:extLst>
          </p:cNvPr>
          <p:cNvPicPr>
            <a:picLocks noChangeAspect="1"/>
          </p:cNvPicPr>
          <p:nvPr/>
        </p:nvPicPr>
        <p:blipFill>
          <a:blip r:embed="rId3"/>
          <a:stretch>
            <a:fillRect/>
          </a:stretch>
        </p:blipFill>
        <p:spPr>
          <a:xfrm>
            <a:off x="213361" y="1170432"/>
            <a:ext cx="5510783" cy="32004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28090"/>
          </a:solidFill>
          <a:ln w="12700">
            <a:solidFill>
              <a:srgbClr val="028090"/>
            </a:solidFill>
            <a:prstDash val="solid"/>
          </a:ln>
        </p:spPr>
        <p:txBody>
          <a:bodyPr/>
          <a:lstStyle/>
          <a:p>
            <a:endParaRPr lang="en-US"/>
          </a:p>
        </p:txBody>
      </p:sp>
      <p:sp>
        <p:nvSpPr>
          <p:cNvPr id="3" name="Text 1"/>
          <p:cNvSpPr/>
          <p:nvPr/>
        </p:nvSpPr>
        <p:spPr>
          <a:xfrm>
            <a:off x="457200" y="164592"/>
            <a:ext cx="7772400" cy="566928"/>
          </a:xfrm>
          <a:prstGeom prst="rect">
            <a:avLst/>
          </a:prstGeom>
          <a:noFill/>
          <a:ln/>
        </p:spPr>
        <p:txBody>
          <a:bodyPr wrap="square" rtlCol="0" anchor="ctr"/>
          <a:lstStyle/>
          <a:p>
            <a:pPr marL="0" indent="0" algn="l">
              <a:buNone/>
            </a:pPr>
            <a:r>
              <a:rPr lang="en-US" sz="3000" b="1" dirty="0">
                <a:solidFill>
                  <a:srgbClr val="1E2761"/>
                </a:solidFill>
              </a:rPr>
              <a:t>Association Rule Mining</a:t>
            </a:r>
            <a:endParaRPr lang="en-US" sz="3000" dirty="0"/>
          </a:p>
        </p:txBody>
      </p:sp>
      <p:sp>
        <p:nvSpPr>
          <p:cNvPr id="4" name="Text 2"/>
          <p:cNvSpPr/>
          <p:nvPr/>
        </p:nvSpPr>
        <p:spPr>
          <a:xfrm>
            <a:off x="457200" y="713232"/>
            <a:ext cx="8229600" cy="274320"/>
          </a:xfrm>
          <a:prstGeom prst="rect">
            <a:avLst/>
          </a:prstGeom>
          <a:noFill/>
          <a:ln/>
        </p:spPr>
        <p:txBody>
          <a:bodyPr wrap="square" rtlCol="0" anchor="ctr"/>
          <a:lstStyle/>
          <a:p>
            <a:pPr marL="0" indent="0" algn="l">
              <a:buNone/>
            </a:pPr>
            <a:r>
              <a:rPr lang="en-US" sz="1300" i="1" dirty="0">
                <a:solidFill>
                  <a:srgbClr val="028090"/>
                </a:solidFill>
              </a:rPr>
              <a:t>Apriori algorithm on order-category baskets</a:t>
            </a:r>
            <a:endParaRPr lang="en-US" sz="1300" dirty="0"/>
          </a:p>
        </p:txBody>
      </p:sp>
      <p:sp>
        <p:nvSpPr>
          <p:cNvPr id="5" name="Shape 3"/>
          <p:cNvSpPr/>
          <p:nvPr/>
        </p:nvSpPr>
        <p:spPr>
          <a:xfrm>
            <a:off x="457200" y="1005840"/>
            <a:ext cx="8229600" cy="640080"/>
          </a:xfrm>
          <a:prstGeom prst="rect">
            <a:avLst/>
          </a:prstGeom>
          <a:solidFill>
            <a:srgbClr val="1E2761"/>
          </a:solidFill>
          <a:ln w="12700">
            <a:solidFill>
              <a:srgbClr val="1E2761"/>
            </a:solidFill>
            <a:prstDash val="solid"/>
          </a:ln>
          <a:effectLst>
            <a:outerShdw blurRad="101600" dist="38100" dir="8100000" algn="bl" rotWithShape="0">
              <a:srgbClr val="1E2761">
                <a:alpha val="15000"/>
              </a:srgbClr>
            </a:outerShdw>
          </a:effectLst>
        </p:spPr>
        <p:txBody>
          <a:bodyPr/>
          <a:lstStyle/>
          <a:p>
            <a:endParaRPr lang="en-US"/>
          </a:p>
        </p:txBody>
      </p:sp>
      <p:sp>
        <p:nvSpPr>
          <p:cNvPr id="6" name="Text 4"/>
          <p:cNvSpPr/>
          <p:nvPr/>
        </p:nvSpPr>
        <p:spPr>
          <a:xfrm>
            <a:off x="640080" y="1005840"/>
            <a:ext cx="7863840" cy="640080"/>
          </a:xfrm>
          <a:prstGeom prst="rect">
            <a:avLst/>
          </a:prstGeom>
          <a:noFill/>
          <a:ln/>
        </p:spPr>
        <p:txBody>
          <a:bodyPr wrap="square" rtlCol="0" anchor="ctr"/>
          <a:lstStyle/>
          <a:p>
            <a:pPr marL="0" indent="0">
              <a:buNone/>
            </a:pPr>
            <a:r>
              <a:rPr lang="en-US" sz="1300" dirty="0">
                <a:solidFill>
                  <a:srgbClr val="FFFFFF"/>
                </a:solidFill>
              </a:rPr>
              <a:t>Method: Apriori algorithm applied to order-category basket matrix (one row = one order, one column = product category)</a:t>
            </a:r>
            <a:endParaRPr lang="en-US" sz="1300" dirty="0"/>
          </a:p>
        </p:txBody>
      </p:sp>
      <p:graphicFrame>
        <p:nvGraphicFramePr>
          <p:cNvPr id="7" name="Chart 0"/>
          <p:cNvGraphicFramePr/>
          <p:nvPr>
            <p:extLst>
              <p:ext uri="{D42A27DB-BD31-4B8C-83A1-F6EECF244321}">
                <p14:modId xmlns:p14="http://schemas.microsoft.com/office/powerpoint/2010/main" val="1251625500"/>
              </p:ext>
            </p:extLst>
          </p:nvPr>
        </p:nvGraphicFramePr>
        <p:xfrm>
          <a:off x="457200" y="1783080"/>
          <a:ext cx="5669280" cy="2834640"/>
        </p:xfrm>
        <a:graphic>
          <a:graphicData uri="http://schemas.openxmlformats.org/drawingml/2006/chart">
            <c:chart xmlns:c="http://schemas.openxmlformats.org/drawingml/2006/chart" xmlns:r="http://schemas.openxmlformats.org/officeDocument/2006/relationships" r:id="rId3"/>
          </a:graphicData>
        </a:graphic>
      </p:graphicFrame>
      <p:sp>
        <p:nvSpPr>
          <p:cNvPr id="8" name="Shape 5"/>
          <p:cNvSpPr/>
          <p:nvPr/>
        </p:nvSpPr>
        <p:spPr>
          <a:xfrm>
            <a:off x="6309360" y="1783080"/>
            <a:ext cx="2468880" cy="2834640"/>
          </a:xfrm>
          <a:prstGeom prst="rect">
            <a:avLst/>
          </a:prstGeom>
          <a:solidFill>
            <a:srgbClr val="FFFFFF"/>
          </a:solidFill>
          <a:ln w="12700">
            <a:solidFill>
              <a:srgbClr val="CADCFC"/>
            </a:solidFill>
            <a:prstDash val="solid"/>
          </a:ln>
          <a:effectLst>
            <a:outerShdw blurRad="101600" dist="38100" dir="8100000" algn="bl" rotWithShape="0">
              <a:srgbClr val="1E2761">
                <a:alpha val="15000"/>
              </a:srgbClr>
            </a:outerShdw>
          </a:effectLst>
        </p:spPr>
        <p:txBody>
          <a:bodyPr/>
          <a:lstStyle/>
          <a:p>
            <a:endParaRPr lang="en-US"/>
          </a:p>
        </p:txBody>
      </p:sp>
      <p:sp>
        <p:nvSpPr>
          <p:cNvPr id="9" name="Text 6"/>
          <p:cNvSpPr/>
          <p:nvPr/>
        </p:nvSpPr>
        <p:spPr>
          <a:xfrm>
            <a:off x="6400800" y="1920240"/>
            <a:ext cx="2286000" cy="320040"/>
          </a:xfrm>
          <a:prstGeom prst="rect">
            <a:avLst/>
          </a:prstGeom>
          <a:noFill/>
          <a:ln/>
        </p:spPr>
        <p:txBody>
          <a:bodyPr wrap="square" rtlCol="0" anchor="ctr"/>
          <a:lstStyle/>
          <a:p>
            <a:pPr marL="0" indent="0">
              <a:buNone/>
            </a:pPr>
            <a:r>
              <a:rPr lang="en-US" sz="1400" b="1" dirty="0">
                <a:solidFill>
                  <a:srgbClr val="028090"/>
                </a:solidFill>
              </a:rPr>
              <a:t>Key Finding</a:t>
            </a:r>
            <a:endParaRPr lang="en-US" sz="1400" dirty="0"/>
          </a:p>
        </p:txBody>
      </p:sp>
      <p:sp>
        <p:nvSpPr>
          <p:cNvPr id="10" name="Shape 7"/>
          <p:cNvSpPr/>
          <p:nvPr/>
        </p:nvSpPr>
        <p:spPr>
          <a:xfrm>
            <a:off x="6400800" y="2267712"/>
            <a:ext cx="2194560" cy="36576"/>
          </a:xfrm>
          <a:prstGeom prst="rect">
            <a:avLst/>
          </a:prstGeom>
          <a:solidFill>
            <a:srgbClr val="CADCFC"/>
          </a:solidFill>
          <a:ln w="12700">
            <a:solidFill>
              <a:srgbClr val="CADCFC"/>
            </a:solidFill>
            <a:prstDash val="solid"/>
          </a:ln>
        </p:spPr>
        <p:txBody>
          <a:bodyPr/>
          <a:lstStyle/>
          <a:p>
            <a:endParaRPr lang="en-US"/>
          </a:p>
        </p:txBody>
      </p:sp>
      <p:sp>
        <p:nvSpPr>
          <p:cNvPr id="11" name="Text 8"/>
          <p:cNvSpPr/>
          <p:nvPr/>
        </p:nvSpPr>
        <p:spPr>
          <a:xfrm>
            <a:off x="6400800" y="2377440"/>
            <a:ext cx="2286000" cy="1371600"/>
          </a:xfrm>
          <a:prstGeom prst="rect">
            <a:avLst/>
          </a:prstGeom>
          <a:noFill/>
          <a:ln/>
        </p:spPr>
        <p:txBody>
          <a:bodyPr wrap="square" rtlCol="0" anchor="ctr"/>
          <a:lstStyle/>
          <a:p>
            <a:pPr marL="0" indent="0">
              <a:buNone/>
            </a:pPr>
            <a:r>
              <a:rPr lang="en-US" sz="1200" dirty="0">
                <a:solidFill>
                  <a:srgbClr val="334155"/>
                </a:solidFill>
              </a:rPr>
              <a:t>98%+ of orders contain products from a single category only.</a:t>
            </a:r>
            <a:endParaRPr lang="en-US" sz="1200" dirty="0"/>
          </a:p>
          <a:p>
            <a:pPr marL="0" indent="0">
              <a:buNone/>
            </a:pPr>
            <a:endParaRPr lang="en-US" sz="1200" dirty="0"/>
          </a:p>
          <a:p>
            <a:pPr marL="0" indent="0">
              <a:buNone/>
            </a:pPr>
            <a:r>
              <a:rPr lang="en-US" sz="1200" dirty="0">
                <a:solidFill>
                  <a:srgbClr val="334155"/>
                </a:solidFill>
              </a:rPr>
              <a:t>No meaningful multi-category association rules emerged — cross-category bundling is NOT viable for this dataset.</a:t>
            </a:r>
            <a:endParaRPr lang="en-US" sz="1200" dirty="0"/>
          </a:p>
        </p:txBody>
      </p:sp>
      <p:sp>
        <p:nvSpPr>
          <p:cNvPr id="12" name="Shape 9"/>
          <p:cNvSpPr/>
          <p:nvPr/>
        </p:nvSpPr>
        <p:spPr>
          <a:xfrm>
            <a:off x="6309360" y="3977640"/>
            <a:ext cx="2468880" cy="594360"/>
          </a:xfrm>
          <a:prstGeom prst="rect">
            <a:avLst/>
          </a:prstGeom>
          <a:solidFill>
            <a:srgbClr val="028090"/>
          </a:solidFill>
          <a:ln w="12700">
            <a:solidFill>
              <a:srgbClr val="028090"/>
            </a:solidFill>
            <a:prstDash val="solid"/>
          </a:ln>
        </p:spPr>
        <p:txBody>
          <a:bodyPr/>
          <a:lstStyle/>
          <a:p>
            <a:endParaRPr lang="en-US"/>
          </a:p>
        </p:txBody>
      </p:sp>
      <p:sp>
        <p:nvSpPr>
          <p:cNvPr id="13" name="Text 10"/>
          <p:cNvSpPr/>
          <p:nvPr/>
        </p:nvSpPr>
        <p:spPr>
          <a:xfrm>
            <a:off x="6400800" y="4005072"/>
            <a:ext cx="2331720" cy="548640"/>
          </a:xfrm>
          <a:prstGeom prst="rect">
            <a:avLst/>
          </a:prstGeom>
          <a:noFill/>
          <a:ln/>
        </p:spPr>
        <p:txBody>
          <a:bodyPr wrap="square" rtlCol="0" anchor="ctr"/>
          <a:lstStyle/>
          <a:p>
            <a:pPr marL="0" indent="0">
              <a:buNone/>
            </a:pPr>
            <a:r>
              <a:rPr lang="en-US" sz="1100" dirty="0">
                <a:solidFill>
                  <a:srgbClr val="FFFFFF"/>
                </a:solidFill>
              </a:rPr>
              <a:t>Recommendation: Focus discount campaigns on individual high-demand categories, not bundles.</a:t>
            </a:r>
            <a:endParaRPr lang="en-US" sz="1100" dirty="0"/>
          </a:p>
        </p:txBody>
      </p:sp>
      <p:sp>
        <p:nvSpPr>
          <p:cNvPr id="14" name="Shape 11"/>
          <p:cNvSpPr/>
          <p:nvPr/>
        </p:nvSpPr>
        <p:spPr>
          <a:xfrm>
            <a:off x="0" y="4869180"/>
            <a:ext cx="9144000" cy="274320"/>
          </a:xfrm>
          <a:prstGeom prst="rect">
            <a:avLst/>
          </a:prstGeom>
          <a:solidFill>
            <a:srgbClr val="1E2761"/>
          </a:solidFill>
          <a:ln w="12700">
            <a:solidFill>
              <a:srgbClr val="1E2761"/>
            </a:solidFill>
            <a:prstDash val="solid"/>
          </a:ln>
        </p:spPr>
        <p:txBody>
          <a:bodyPr/>
          <a:lstStyle/>
          <a:p>
            <a:endParaRPr lang="en-US"/>
          </a:p>
        </p:txBody>
      </p:sp>
      <p:sp>
        <p:nvSpPr>
          <p:cNvPr id="15" name="Text 12"/>
          <p:cNvSpPr/>
          <p:nvPr/>
        </p:nvSpPr>
        <p:spPr>
          <a:xfrm>
            <a:off x="0" y="4869180"/>
            <a:ext cx="9144000" cy="274320"/>
          </a:xfrm>
          <a:prstGeom prst="rect">
            <a:avLst/>
          </a:prstGeom>
          <a:noFill/>
          <a:ln/>
        </p:spPr>
        <p:txBody>
          <a:bodyPr wrap="square" lIns="0" tIns="0" rIns="0" bIns="0" rtlCol="0" anchor="ctr"/>
          <a:lstStyle/>
          <a:p>
            <a:pPr marL="0" indent="0" algn="ctr">
              <a:buNone/>
            </a:pPr>
            <a:r>
              <a:rPr lang="en-US" sz="900" dirty="0">
                <a:solidFill>
                  <a:srgbClr val="CADCFC"/>
                </a:solidFill>
              </a:rPr>
              <a:t>Smart Discount Targeting System  |  NUCES CS3005  |  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28090"/>
          </a:solidFill>
          <a:ln w="12700">
            <a:solidFill>
              <a:srgbClr val="028090"/>
            </a:solidFill>
            <a:prstDash val="solid"/>
          </a:ln>
        </p:spPr>
        <p:txBody>
          <a:bodyPr/>
          <a:lstStyle/>
          <a:p>
            <a:endParaRPr lang="en-US"/>
          </a:p>
        </p:txBody>
      </p:sp>
      <p:sp>
        <p:nvSpPr>
          <p:cNvPr id="3" name="Text 1"/>
          <p:cNvSpPr/>
          <p:nvPr/>
        </p:nvSpPr>
        <p:spPr>
          <a:xfrm>
            <a:off x="457200" y="73287"/>
            <a:ext cx="7772400" cy="566928"/>
          </a:xfrm>
          <a:prstGeom prst="rect">
            <a:avLst/>
          </a:prstGeom>
          <a:noFill/>
          <a:ln/>
        </p:spPr>
        <p:txBody>
          <a:bodyPr wrap="square" rtlCol="0" anchor="ctr"/>
          <a:lstStyle/>
          <a:p>
            <a:pPr marL="0" indent="0" algn="l">
              <a:buNone/>
            </a:pPr>
            <a:r>
              <a:rPr lang="en-US" sz="3000" b="1" dirty="0">
                <a:solidFill>
                  <a:srgbClr val="1E2761"/>
                </a:solidFill>
              </a:rPr>
              <a:t>Predictive Modelling — Sensitivity Score</a:t>
            </a:r>
            <a:endParaRPr lang="en-US" sz="3000" dirty="0"/>
          </a:p>
        </p:txBody>
      </p:sp>
      <p:sp>
        <p:nvSpPr>
          <p:cNvPr id="4" name="Text 2"/>
          <p:cNvSpPr/>
          <p:nvPr/>
        </p:nvSpPr>
        <p:spPr>
          <a:xfrm>
            <a:off x="457200" y="531313"/>
            <a:ext cx="8229600" cy="274320"/>
          </a:xfrm>
          <a:prstGeom prst="rect">
            <a:avLst/>
          </a:prstGeom>
          <a:noFill/>
          <a:ln/>
        </p:spPr>
        <p:txBody>
          <a:bodyPr wrap="square" rtlCol="0" anchor="ctr"/>
          <a:lstStyle/>
          <a:p>
            <a:pPr marL="0" indent="0" algn="l">
              <a:buNone/>
            </a:pPr>
            <a:r>
              <a:rPr lang="en-US" sz="1300" i="1" dirty="0">
                <a:solidFill>
                  <a:srgbClr val="028090"/>
                </a:solidFill>
              </a:rPr>
              <a:t>Behavior-based composite score drives classification</a:t>
            </a:r>
            <a:endParaRPr lang="en-US" sz="1300" dirty="0"/>
          </a:p>
        </p:txBody>
      </p:sp>
      <p:sp>
        <p:nvSpPr>
          <p:cNvPr id="6" name="Shape 4"/>
          <p:cNvSpPr/>
          <p:nvPr/>
        </p:nvSpPr>
        <p:spPr>
          <a:xfrm>
            <a:off x="457200" y="1417320"/>
            <a:ext cx="8321040" cy="566928"/>
          </a:xfrm>
          <a:prstGeom prst="rect">
            <a:avLst/>
          </a:prstGeom>
          <a:solidFill>
            <a:srgbClr val="FFFFFF"/>
          </a:solidFill>
          <a:ln w="12700">
            <a:solidFill>
              <a:srgbClr val="CADCFC"/>
            </a:solidFill>
            <a:prstDash val="solid"/>
          </a:ln>
          <a:effectLst>
            <a:outerShdw blurRad="101600" dist="38100" dir="8100000" algn="bl" rotWithShape="0">
              <a:srgbClr val="1E2761">
                <a:alpha val="15000"/>
              </a:srgbClr>
            </a:outerShdw>
          </a:effectLst>
        </p:spPr>
        <p:txBody>
          <a:bodyPr/>
          <a:lstStyle/>
          <a:p>
            <a:endParaRPr lang="en-US"/>
          </a:p>
        </p:txBody>
      </p:sp>
      <p:sp>
        <p:nvSpPr>
          <p:cNvPr id="7" name="Shape 5"/>
          <p:cNvSpPr/>
          <p:nvPr/>
        </p:nvSpPr>
        <p:spPr>
          <a:xfrm>
            <a:off x="457200" y="1417320"/>
            <a:ext cx="2496312" cy="566928"/>
          </a:xfrm>
          <a:prstGeom prst="rect">
            <a:avLst/>
          </a:prstGeom>
          <a:solidFill>
            <a:srgbClr val="028090">
              <a:alpha val="15000"/>
            </a:srgbClr>
          </a:solidFill>
          <a:ln w="12700">
            <a:solidFill>
              <a:srgbClr val="028090">
                <a:alpha val="15000"/>
              </a:srgbClr>
            </a:solidFill>
            <a:prstDash val="solid"/>
          </a:ln>
        </p:spPr>
        <p:txBody>
          <a:bodyPr/>
          <a:lstStyle/>
          <a:p>
            <a:endParaRPr lang="en-US"/>
          </a:p>
        </p:txBody>
      </p:sp>
      <p:sp>
        <p:nvSpPr>
          <p:cNvPr id="8" name="Text 6"/>
          <p:cNvSpPr/>
          <p:nvPr/>
        </p:nvSpPr>
        <p:spPr>
          <a:xfrm>
            <a:off x="594360" y="1508760"/>
            <a:ext cx="3657600" cy="384048"/>
          </a:xfrm>
          <a:prstGeom prst="rect">
            <a:avLst/>
          </a:prstGeom>
          <a:noFill/>
          <a:ln/>
        </p:spPr>
        <p:txBody>
          <a:bodyPr wrap="square" rtlCol="0" anchor="ctr"/>
          <a:lstStyle/>
          <a:p>
            <a:pPr marL="0" indent="0">
              <a:buNone/>
            </a:pPr>
            <a:r>
              <a:rPr lang="en-US" sz="1300" b="1" dirty="0">
                <a:solidFill>
                  <a:srgbClr val="334155"/>
                </a:solidFill>
              </a:rPr>
              <a:t>Promotional Month Order Ratio</a:t>
            </a:r>
            <a:endParaRPr lang="en-US" sz="1300" dirty="0"/>
          </a:p>
        </p:txBody>
      </p:sp>
      <p:sp>
        <p:nvSpPr>
          <p:cNvPr id="9" name="Shape 7"/>
          <p:cNvSpPr/>
          <p:nvPr/>
        </p:nvSpPr>
        <p:spPr>
          <a:xfrm>
            <a:off x="4343400" y="1527048"/>
            <a:ext cx="1097280" cy="347472"/>
          </a:xfrm>
          <a:prstGeom prst="rect">
            <a:avLst/>
          </a:prstGeom>
          <a:solidFill>
            <a:srgbClr val="028090"/>
          </a:solidFill>
          <a:ln w="12700">
            <a:solidFill>
              <a:srgbClr val="028090"/>
            </a:solidFill>
            <a:prstDash val="solid"/>
          </a:ln>
        </p:spPr>
        <p:txBody>
          <a:bodyPr/>
          <a:lstStyle/>
          <a:p>
            <a:endParaRPr lang="en-US"/>
          </a:p>
        </p:txBody>
      </p:sp>
      <p:sp>
        <p:nvSpPr>
          <p:cNvPr id="10" name="Text 8"/>
          <p:cNvSpPr/>
          <p:nvPr/>
        </p:nvSpPr>
        <p:spPr>
          <a:xfrm>
            <a:off x="4343400" y="1527048"/>
            <a:ext cx="1097280" cy="347472"/>
          </a:xfrm>
          <a:prstGeom prst="rect">
            <a:avLst/>
          </a:prstGeom>
          <a:noFill/>
          <a:ln/>
        </p:spPr>
        <p:txBody>
          <a:bodyPr wrap="square" lIns="0" tIns="0" rIns="0" bIns="0" rtlCol="0" anchor="ctr"/>
          <a:lstStyle/>
          <a:p>
            <a:pPr marL="0" indent="0" algn="ctr">
              <a:buNone/>
            </a:pPr>
            <a:r>
              <a:rPr lang="en-US" sz="1200" b="1" dirty="0">
                <a:solidFill>
                  <a:srgbClr val="FFFFFF"/>
                </a:solidFill>
              </a:rPr>
              <a:t>0.30 (30%)</a:t>
            </a:r>
            <a:endParaRPr lang="en-US" sz="1200" dirty="0"/>
          </a:p>
        </p:txBody>
      </p:sp>
      <p:sp>
        <p:nvSpPr>
          <p:cNvPr id="11" name="Text 9"/>
          <p:cNvSpPr/>
          <p:nvPr/>
        </p:nvSpPr>
        <p:spPr>
          <a:xfrm>
            <a:off x="5577840" y="1508760"/>
            <a:ext cx="3017520" cy="384048"/>
          </a:xfrm>
          <a:prstGeom prst="rect">
            <a:avLst/>
          </a:prstGeom>
          <a:noFill/>
          <a:ln/>
        </p:spPr>
        <p:txBody>
          <a:bodyPr wrap="square" rtlCol="0" anchor="ctr"/>
          <a:lstStyle/>
          <a:p>
            <a:pPr marL="0" indent="0">
              <a:buNone/>
            </a:pPr>
            <a:r>
              <a:rPr lang="en-US" sz="1200" i="1" dirty="0">
                <a:solidFill>
                  <a:srgbClr val="64748B"/>
                </a:solidFill>
              </a:rPr>
              <a:t>Strongest signal of price responsiveness</a:t>
            </a:r>
            <a:endParaRPr lang="en-US" sz="1200" dirty="0"/>
          </a:p>
        </p:txBody>
      </p:sp>
      <p:sp>
        <p:nvSpPr>
          <p:cNvPr id="12" name="Shape 10"/>
          <p:cNvSpPr/>
          <p:nvPr/>
        </p:nvSpPr>
        <p:spPr>
          <a:xfrm>
            <a:off x="457200" y="2075688"/>
            <a:ext cx="8321040" cy="566928"/>
          </a:xfrm>
          <a:prstGeom prst="rect">
            <a:avLst/>
          </a:prstGeom>
          <a:solidFill>
            <a:srgbClr val="FFFFFF"/>
          </a:solidFill>
          <a:ln w="12700">
            <a:solidFill>
              <a:srgbClr val="CADCFC"/>
            </a:solidFill>
            <a:prstDash val="solid"/>
          </a:ln>
          <a:effectLst>
            <a:outerShdw blurRad="101600" dist="38100" dir="8100000" algn="bl" rotWithShape="0">
              <a:srgbClr val="1E2761">
                <a:alpha val="15000"/>
              </a:srgbClr>
            </a:outerShdw>
          </a:effectLst>
        </p:spPr>
        <p:txBody>
          <a:bodyPr/>
          <a:lstStyle/>
          <a:p>
            <a:endParaRPr lang="en-US"/>
          </a:p>
        </p:txBody>
      </p:sp>
      <p:sp>
        <p:nvSpPr>
          <p:cNvPr id="13" name="Shape 11"/>
          <p:cNvSpPr/>
          <p:nvPr/>
        </p:nvSpPr>
        <p:spPr>
          <a:xfrm>
            <a:off x="457200" y="2075688"/>
            <a:ext cx="2080260" cy="566928"/>
          </a:xfrm>
          <a:prstGeom prst="rect">
            <a:avLst/>
          </a:prstGeom>
          <a:solidFill>
            <a:srgbClr val="028090">
              <a:alpha val="15000"/>
            </a:srgbClr>
          </a:solidFill>
          <a:ln w="12700">
            <a:solidFill>
              <a:srgbClr val="028090">
                <a:alpha val="15000"/>
              </a:srgbClr>
            </a:solidFill>
            <a:prstDash val="solid"/>
          </a:ln>
        </p:spPr>
        <p:txBody>
          <a:bodyPr/>
          <a:lstStyle/>
          <a:p>
            <a:endParaRPr lang="en-US"/>
          </a:p>
        </p:txBody>
      </p:sp>
      <p:sp>
        <p:nvSpPr>
          <p:cNvPr id="14" name="Text 12"/>
          <p:cNvSpPr/>
          <p:nvPr/>
        </p:nvSpPr>
        <p:spPr>
          <a:xfrm>
            <a:off x="594360" y="2167128"/>
            <a:ext cx="3657600" cy="384048"/>
          </a:xfrm>
          <a:prstGeom prst="rect">
            <a:avLst/>
          </a:prstGeom>
          <a:noFill/>
          <a:ln/>
        </p:spPr>
        <p:txBody>
          <a:bodyPr wrap="square" rtlCol="0" anchor="ctr"/>
          <a:lstStyle/>
          <a:p>
            <a:pPr marL="0" indent="0">
              <a:buNone/>
            </a:pPr>
            <a:r>
              <a:rPr lang="en-US" sz="1300" b="1" dirty="0">
                <a:solidFill>
                  <a:srgbClr val="334155"/>
                </a:solidFill>
              </a:rPr>
              <a:t>High Installment Ratio</a:t>
            </a:r>
            <a:endParaRPr lang="en-US" sz="1300" dirty="0"/>
          </a:p>
        </p:txBody>
      </p:sp>
      <p:sp>
        <p:nvSpPr>
          <p:cNvPr id="15" name="Shape 13"/>
          <p:cNvSpPr/>
          <p:nvPr/>
        </p:nvSpPr>
        <p:spPr>
          <a:xfrm>
            <a:off x="4343400" y="2185416"/>
            <a:ext cx="1097280" cy="347472"/>
          </a:xfrm>
          <a:prstGeom prst="rect">
            <a:avLst/>
          </a:prstGeom>
          <a:solidFill>
            <a:srgbClr val="028090"/>
          </a:solidFill>
          <a:ln w="12700">
            <a:solidFill>
              <a:srgbClr val="028090"/>
            </a:solidFill>
            <a:prstDash val="solid"/>
          </a:ln>
        </p:spPr>
        <p:txBody>
          <a:bodyPr/>
          <a:lstStyle/>
          <a:p>
            <a:endParaRPr lang="en-US"/>
          </a:p>
        </p:txBody>
      </p:sp>
      <p:sp>
        <p:nvSpPr>
          <p:cNvPr id="16" name="Text 14"/>
          <p:cNvSpPr/>
          <p:nvPr/>
        </p:nvSpPr>
        <p:spPr>
          <a:xfrm>
            <a:off x="4343400" y="2185416"/>
            <a:ext cx="1097280" cy="347472"/>
          </a:xfrm>
          <a:prstGeom prst="rect">
            <a:avLst/>
          </a:prstGeom>
          <a:noFill/>
          <a:ln/>
        </p:spPr>
        <p:txBody>
          <a:bodyPr wrap="square" lIns="0" tIns="0" rIns="0" bIns="0" rtlCol="0" anchor="ctr"/>
          <a:lstStyle/>
          <a:p>
            <a:pPr marL="0" indent="0" algn="ctr">
              <a:buNone/>
            </a:pPr>
            <a:r>
              <a:rPr lang="en-US" sz="1200" b="1" dirty="0">
                <a:solidFill>
                  <a:srgbClr val="FFFFFF"/>
                </a:solidFill>
              </a:rPr>
              <a:t>0.25 (25%)</a:t>
            </a:r>
            <a:endParaRPr lang="en-US" sz="1200" dirty="0"/>
          </a:p>
        </p:txBody>
      </p:sp>
      <p:sp>
        <p:nvSpPr>
          <p:cNvPr id="17" name="Text 15"/>
          <p:cNvSpPr/>
          <p:nvPr/>
        </p:nvSpPr>
        <p:spPr>
          <a:xfrm>
            <a:off x="5577840" y="2167128"/>
            <a:ext cx="3017520" cy="384048"/>
          </a:xfrm>
          <a:prstGeom prst="rect">
            <a:avLst/>
          </a:prstGeom>
          <a:noFill/>
          <a:ln/>
        </p:spPr>
        <p:txBody>
          <a:bodyPr wrap="square" rtlCol="0" anchor="ctr"/>
          <a:lstStyle/>
          <a:p>
            <a:pPr marL="0" indent="0">
              <a:buNone/>
            </a:pPr>
            <a:r>
              <a:rPr lang="en-US" sz="1200" i="1" dirty="0">
                <a:solidFill>
                  <a:srgbClr val="64748B"/>
                </a:solidFill>
              </a:rPr>
              <a:t>Indicates financial price sensitivity</a:t>
            </a:r>
            <a:endParaRPr lang="en-US" sz="1200" dirty="0"/>
          </a:p>
        </p:txBody>
      </p:sp>
      <p:sp>
        <p:nvSpPr>
          <p:cNvPr id="18" name="Shape 16"/>
          <p:cNvSpPr/>
          <p:nvPr/>
        </p:nvSpPr>
        <p:spPr>
          <a:xfrm>
            <a:off x="457200" y="2734056"/>
            <a:ext cx="8321040" cy="566928"/>
          </a:xfrm>
          <a:prstGeom prst="rect">
            <a:avLst/>
          </a:prstGeom>
          <a:solidFill>
            <a:srgbClr val="FFFFFF"/>
          </a:solidFill>
          <a:ln w="12700">
            <a:solidFill>
              <a:srgbClr val="CADCFC"/>
            </a:solidFill>
            <a:prstDash val="solid"/>
          </a:ln>
          <a:effectLst>
            <a:outerShdw blurRad="101600" dist="38100" dir="8100000" algn="bl" rotWithShape="0">
              <a:srgbClr val="1E2761">
                <a:alpha val="15000"/>
              </a:srgbClr>
            </a:outerShdw>
          </a:effectLst>
        </p:spPr>
        <p:txBody>
          <a:bodyPr/>
          <a:lstStyle/>
          <a:p>
            <a:endParaRPr lang="en-US"/>
          </a:p>
        </p:txBody>
      </p:sp>
      <p:sp>
        <p:nvSpPr>
          <p:cNvPr id="19" name="Shape 17"/>
          <p:cNvSpPr/>
          <p:nvPr/>
        </p:nvSpPr>
        <p:spPr>
          <a:xfrm>
            <a:off x="457200" y="2734056"/>
            <a:ext cx="1664208" cy="566928"/>
          </a:xfrm>
          <a:prstGeom prst="rect">
            <a:avLst/>
          </a:prstGeom>
          <a:solidFill>
            <a:srgbClr val="1E2761">
              <a:alpha val="15000"/>
            </a:srgbClr>
          </a:solidFill>
          <a:ln w="12700">
            <a:solidFill>
              <a:srgbClr val="1E2761">
                <a:alpha val="15000"/>
              </a:srgbClr>
            </a:solidFill>
            <a:prstDash val="solid"/>
          </a:ln>
        </p:spPr>
        <p:txBody>
          <a:bodyPr/>
          <a:lstStyle/>
          <a:p>
            <a:endParaRPr lang="en-US"/>
          </a:p>
        </p:txBody>
      </p:sp>
      <p:sp>
        <p:nvSpPr>
          <p:cNvPr id="20" name="Text 18"/>
          <p:cNvSpPr/>
          <p:nvPr/>
        </p:nvSpPr>
        <p:spPr>
          <a:xfrm>
            <a:off x="594360" y="2825496"/>
            <a:ext cx="3657600" cy="384048"/>
          </a:xfrm>
          <a:prstGeom prst="rect">
            <a:avLst/>
          </a:prstGeom>
          <a:noFill/>
          <a:ln/>
        </p:spPr>
        <p:txBody>
          <a:bodyPr wrap="square" rtlCol="0" anchor="ctr"/>
          <a:lstStyle/>
          <a:p>
            <a:pPr marL="0" indent="0">
              <a:buNone/>
            </a:pPr>
            <a:r>
              <a:rPr lang="en-US" sz="1300" b="1" dirty="0">
                <a:solidFill>
                  <a:srgbClr val="334155"/>
                </a:solidFill>
              </a:rPr>
              <a:t>Average Installments</a:t>
            </a:r>
            <a:endParaRPr lang="en-US" sz="1300" dirty="0"/>
          </a:p>
        </p:txBody>
      </p:sp>
      <p:sp>
        <p:nvSpPr>
          <p:cNvPr id="21" name="Shape 19"/>
          <p:cNvSpPr/>
          <p:nvPr/>
        </p:nvSpPr>
        <p:spPr>
          <a:xfrm>
            <a:off x="4343400" y="2843784"/>
            <a:ext cx="1097280" cy="347472"/>
          </a:xfrm>
          <a:prstGeom prst="rect">
            <a:avLst/>
          </a:prstGeom>
          <a:solidFill>
            <a:srgbClr val="1E2761"/>
          </a:solidFill>
          <a:ln w="12700">
            <a:solidFill>
              <a:srgbClr val="1E2761"/>
            </a:solidFill>
            <a:prstDash val="solid"/>
          </a:ln>
        </p:spPr>
        <p:txBody>
          <a:bodyPr/>
          <a:lstStyle/>
          <a:p>
            <a:endParaRPr lang="en-US"/>
          </a:p>
        </p:txBody>
      </p:sp>
      <p:sp>
        <p:nvSpPr>
          <p:cNvPr id="22" name="Text 20"/>
          <p:cNvSpPr/>
          <p:nvPr/>
        </p:nvSpPr>
        <p:spPr>
          <a:xfrm>
            <a:off x="4343400" y="2843784"/>
            <a:ext cx="1097280" cy="347472"/>
          </a:xfrm>
          <a:prstGeom prst="rect">
            <a:avLst/>
          </a:prstGeom>
          <a:noFill/>
          <a:ln/>
        </p:spPr>
        <p:txBody>
          <a:bodyPr wrap="square" lIns="0" tIns="0" rIns="0" bIns="0" rtlCol="0" anchor="ctr"/>
          <a:lstStyle/>
          <a:p>
            <a:pPr marL="0" indent="0" algn="ctr">
              <a:buNone/>
            </a:pPr>
            <a:r>
              <a:rPr lang="en-US" sz="1200" b="1" dirty="0">
                <a:solidFill>
                  <a:srgbClr val="FFFFFF"/>
                </a:solidFill>
              </a:rPr>
              <a:t>0.20 (20%)</a:t>
            </a:r>
            <a:endParaRPr lang="en-US" sz="1200" dirty="0"/>
          </a:p>
        </p:txBody>
      </p:sp>
      <p:sp>
        <p:nvSpPr>
          <p:cNvPr id="23" name="Text 21"/>
          <p:cNvSpPr/>
          <p:nvPr/>
        </p:nvSpPr>
        <p:spPr>
          <a:xfrm>
            <a:off x="5577840" y="2825496"/>
            <a:ext cx="3017520" cy="384048"/>
          </a:xfrm>
          <a:prstGeom prst="rect">
            <a:avLst/>
          </a:prstGeom>
          <a:noFill/>
          <a:ln/>
        </p:spPr>
        <p:txBody>
          <a:bodyPr wrap="square" rtlCol="0" anchor="ctr"/>
          <a:lstStyle/>
          <a:p>
            <a:pPr marL="0" indent="0">
              <a:buNone/>
            </a:pPr>
            <a:r>
              <a:rPr lang="en-US" sz="1200" i="1" dirty="0">
                <a:solidFill>
                  <a:srgbClr val="64748B"/>
                </a:solidFill>
              </a:rPr>
              <a:t>Reflects payment flexibility preference</a:t>
            </a:r>
            <a:endParaRPr lang="en-US" sz="1200" dirty="0"/>
          </a:p>
        </p:txBody>
      </p:sp>
      <p:sp>
        <p:nvSpPr>
          <p:cNvPr id="24" name="Shape 22"/>
          <p:cNvSpPr/>
          <p:nvPr/>
        </p:nvSpPr>
        <p:spPr>
          <a:xfrm>
            <a:off x="457200" y="3392424"/>
            <a:ext cx="8321040" cy="566928"/>
          </a:xfrm>
          <a:prstGeom prst="rect">
            <a:avLst/>
          </a:prstGeom>
          <a:solidFill>
            <a:srgbClr val="FFFFFF"/>
          </a:solidFill>
          <a:ln w="12700">
            <a:solidFill>
              <a:srgbClr val="CADCFC"/>
            </a:solidFill>
            <a:prstDash val="solid"/>
          </a:ln>
          <a:effectLst>
            <a:outerShdw blurRad="101600" dist="38100" dir="8100000" algn="bl" rotWithShape="0">
              <a:srgbClr val="1E2761">
                <a:alpha val="15000"/>
              </a:srgbClr>
            </a:outerShdw>
          </a:effectLst>
        </p:spPr>
        <p:txBody>
          <a:bodyPr/>
          <a:lstStyle/>
          <a:p>
            <a:endParaRPr lang="en-US"/>
          </a:p>
        </p:txBody>
      </p:sp>
      <p:sp>
        <p:nvSpPr>
          <p:cNvPr id="25" name="Shape 23"/>
          <p:cNvSpPr/>
          <p:nvPr/>
        </p:nvSpPr>
        <p:spPr>
          <a:xfrm>
            <a:off x="457200" y="3392424"/>
            <a:ext cx="1248156" cy="566928"/>
          </a:xfrm>
          <a:prstGeom prst="rect">
            <a:avLst/>
          </a:prstGeom>
          <a:solidFill>
            <a:srgbClr val="1E2761">
              <a:alpha val="15000"/>
            </a:srgbClr>
          </a:solidFill>
          <a:ln w="12700">
            <a:solidFill>
              <a:srgbClr val="1E2761">
                <a:alpha val="15000"/>
              </a:srgbClr>
            </a:solidFill>
            <a:prstDash val="solid"/>
          </a:ln>
        </p:spPr>
        <p:txBody>
          <a:bodyPr/>
          <a:lstStyle/>
          <a:p>
            <a:endParaRPr lang="en-US"/>
          </a:p>
        </p:txBody>
      </p:sp>
      <p:sp>
        <p:nvSpPr>
          <p:cNvPr id="26" name="Text 24"/>
          <p:cNvSpPr/>
          <p:nvPr/>
        </p:nvSpPr>
        <p:spPr>
          <a:xfrm>
            <a:off x="594360" y="3483864"/>
            <a:ext cx="3657600" cy="384048"/>
          </a:xfrm>
          <a:prstGeom prst="rect">
            <a:avLst/>
          </a:prstGeom>
          <a:noFill/>
          <a:ln/>
        </p:spPr>
        <p:txBody>
          <a:bodyPr wrap="square" rtlCol="0" anchor="ctr"/>
          <a:lstStyle/>
          <a:p>
            <a:pPr marL="0" indent="0">
              <a:buNone/>
            </a:pPr>
            <a:r>
              <a:rPr lang="en-US" sz="1300" b="1" dirty="0">
                <a:solidFill>
                  <a:srgbClr val="334155"/>
                </a:solidFill>
              </a:rPr>
              <a:t>Recency (inverted)</a:t>
            </a:r>
            <a:endParaRPr lang="en-US" sz="1300" dirty="0"/>
          </a:p>
        </p:txBody>
      </p:sp>
      <p:sp>
        <p:nvSpPr>
          <p:cNvPr id="27" name="Shape 25"/>
          <p:cNvSpPr/>
          <p:nvPr/>
        </p:nvSpPr>
        <p:spPr>
          <a:xfrm>
            <a:off x="4343400" y="3502152"/>
            <a:ext cx="1097280" cy="347472"/>
          </a:xfrm>
          <a:prstGeom prst="rect">
            <a:avLst/>
          </a:prstGeom>
          <a:solidFill>
            <a:srgbClr val="1E2761"/>
          </a:solidFill>
          <a:ln w="12700">
            <a:solidFill>
              <a:srgbClr val="1E2761"/>
            </a:solidFill>
            <a:prstDash val="solid"/>
          </a:ln>
        </p:spPr>
        <p:txBody>
          <a:bodyPr/>
          <a:lstStyle/>
          <a:p>
            <a:endParaRPr lang="en-US"/>
          </a:p>
        </p:txBody>
      </p:sp>
      <p:sp>
        <p:nvSpPr>
          <p:cNvPr id="28" name="Text 26"/>
          <p:cNvSpPr/>
          <p:nvPr/>
        </p:nvSpPr>
        <p:spPr>
          <a:xfrm>
            <a:off x="4343400" y="3502152"/>
            <a:ext cx="1097280" cy="347472"/>
          </a:xfrm>
          <a:prstGeom prst="rect">
            <a:avLst/>
          </a:prstGeom>
          <a:noFill/>
          <a:ln/>
        </p:spPr>
        <p:txBody>
          <a:bodyPr wrap="square" lIns="0" tIns="0" rIns="0" bIns="0" rtlCol="0" anchor="ctr"/>
          <a:lstStyle/>
          <a:p>
            <a:pPr marL="0" indent="0" algn="ctr">
              <a:buNone/>
            </a:pPr>
            <a:r>
              <a:rPr lang="en-US" sz="1200" b="1" dirty="0">
                <a:solidFill>
                  <a:srgbClr val="FFFFFF"/>
                </a:solidFill>
              </a:rPr>
              <a:t>0.15 (15%)</a:t>
            </a:r>
            <a:endParaRPr lang="en-US" sz="1200" dirty="0"/>
          </a:p>
        </p:txBody>
      </p:sp>
      <p:sp>
        <p:nvSpPr>
          <p:cNvPr id="29" name="Text 27"/>
          <p:cNvSpPr/>
          <p:nvPr/>
        </p:nvSpPr>
        <p:spPr>
          <a:xfrm>
            <a:off x="5577840" y="3483864"/>
            <a:ext cx="3017520" cy="384048"/>
          </a:xfrm>
          <a:prstGeom prst="rect">
            <a:avLst/>
          </a:prstGeom>
          <a:noFill/>
          <a:ln/>
        </p:spPr>
        <p:txBody>
          <a:bodyPr wrap="square" rtlCol="0" anchor="ctr"/>
          <a:lstStyle/>
          <a:p>
            <a:pPr marL="0" indent="0">
              <a:buNone/>
            </a:pPr>
            <a:r>
              <a:rPr lang="en-US" sz="1200" i="1" dirty="0">
                <a:solidFill>
                  <a:srgbClr val="64748B"/>
                </a:solidFill>
              </a:rPr>
              <a:t>Inactive customers more likely to need discounts</a:t>
            </a:r>
            <a:endParaRPr lang="en-US" sz="1200" dirty="0"/>
          </a:p>
        </p:txBody>
      </p:sp>
      <p:sp>
        <p:nvSpPr>
          <p:cNvPr id="30" name="Shape 28"/>
          <p:cNvSpPr/>
          <p:nvPr/>
        </p:nvSpPr>
        <p:spPr>
          <a:xfrm>
            <a:off x="457200" y="4050792"/>
            <a:ext cx="8321040" cy="566928"/>
          </a:xfrm>
          <a:prstGeom prst="rect">
            <a:avLst/>
          </a:prstGeom>
          <a:solidFill>
            <a:srgbClr val="FFFFFF"/>
          </a:solidFill>
          <a:ln w="12700">
            <a:solidFill>
              <a:srgbClr val="CADCFC"/>
            </a:solidFill>
            <a:prstDash val="solid"/>
          </a:ln>
          <a:effectLst>
            <a:outerShdw blurRad="101600" dist="38100" dir="8100000" algn="bl" rotWithShape="0">
              <a:srgbClr val="1E2761">
                <a:alpha val="15000"/>
              </a:srgbClr>
            </a:outerShdw>
          </a:effectLst>
        </p:spPr>
        <p:txBody>
          <a:bodyPr/>
          <a:lstStyle/>
          <a:p>
            <a:endParaRPr lang="en-US"/>
          </a:p>
        </p:txBody>
      </p:sp>
      <p:sp>
        <p:nvSpPr>
          <p:cNvPr id="31" name="Shape 29"/>
          <p:cNvSpPr/>
          <p:nvPr/>
        </p:nvSpPr>
        <p:spPr>
          <a:xfrm>
            <a:off x="457200" y="4050792"/>
            <a:ext cx="832104" cy="566928"/>
          </a:xfrm>
          <a:prstGeom prst="rect">
            <a:avLst/>
          </a:prstGeom>
          <a:solidFill>
            <a:srgbClr val="243380">
              <a:alpha val="15000"/>
            </a:srgbClr>
          </a:solidFill>
          <a:ln w="12700">
            <a:solidFill>
              <a:srgbClr val="243380">
                <a:alpha val="15000"/>
              </a:srgbClr>
            </a:solidFill>
            <a:prstDash val="solid"/>
          </a:ln>
        </p:spPr>
        <p:txBody>
          <a:bodyPr/>
          <a:lstStyle/>
          <a:p>
            <a:endParaRPr lang="en-US"/>
          </a:p>
        </p:txBody>
      </p:sp>
      <p:sp>
        <p:nvSpPr>
          <p:cNvPr id="32" name="Text 30"/>
          <p:cNvSpPr/>
          <p:nvPr/>
        </p:nvSpPr>
        <p:spPr>
          <a:xfrm>
            <a:off x="594360" y="4142232"/>
            <a:ext cx="3657600" cy="384048"/>
          </a:xfrm>
          <a:prstGeom prst="rect">
            <a:avLst/>
          </a:prstGeom>
          <a:noFill/>
          <a:ln/>
        </p:spPr>
        <p:txBody>
          <a:bodyPr wrap="square" rtlCol="0" anchor="ctr"/>
          <a:lstStyle/>
          <a:p>
            <a:pPr marL="0" indent="0">
              <a:buNone/>
            </a:pPr>
            <a:r>
              <a:rPr lang="en-US" sz="1300" b="1" dirty="0">
                <a:solidFill>
                  <a:srgbClr val="334155"/>
                </a:solidFill>
              </a:rPr>
              <a:t>Avg Order Value (inverted)</a:t>
            </a:r>
            <a:endParaRPr lang="en-US" sz="1300" dirty="0"/>
          </a:p>
        </p:txBody>
      </p:sp>
      <p:sp>
        <p:nvSpPr>
          <p:cNvPr id="33" name="Shape 31"/>
          <p:cNvSpPr/>
          <p:nvPr/>
        </p:nvSpPr>
        <p:spPr>
          <a:xfrm>
            <a:off x="4343400" y="4160520"/>
            <a:ext cx="1097280" cy="347472"/>
          </a:xfrm>
          <a:prstGeom prst="rect">
            <a:avLst/>
          </a:prstGeom>
          <a:solidFill>
            <a:srgbClr val="243380"/>
          </a:solidFill>
          <a:ln w="12700">
            <a:solidFill>
              <a:srgbClr val="243380"/>
            </a:solidFill>
            <a:prstDash val="solid"/>
          </a:ln>
        </p:spPr>
        <p:txBody>
          <a:bodyPr/>
          <a:lstStyle/>
          <a:p>
            <a:endParaRPr lang="en-US"/>
          </a:p>
        </p:txBody>
      </p:sp>
      <p:sp>
        <p:nvSpPr>
          <p:cNvPr id="34" name="Text 32"/>
          <p:cNvSpPr/>
          <p:nvPr/>
        </p:nvSpPr>
        <p:spPr>
          <a:xfrm>
            <a:off x="4343400" y="4160520"/>
            <a:ext cx="1097280" cy="347472"/>
          </a:xfrm>
          <a:prstGeom prst="rect">
            <a:avLst/>
          </a:prstGeom>
          <a:noFill/>
          <a:ln/>
        </p:spPr>
        <p:txBody>
          <a:bodyPr wrap="square" lIns="0" tIns="0" rIns="0" bIns="0" rtlCol="0" anchor="ctr"/>
          <a:lstStyle/>
          <a:p>
            <a:pPr marL="0" indent="0" algn="ctr">
              <a:buNone/>
            </a:pPr>
            <a:r>
              <a:rPr lang="en-US" sz="1200" b="1" dirty="0">
                <a:solidFill>
                  <a:srgbClr val="FFFFFF"/>
                </a:solidFill>
              </a:rPr>
              <a:t>0.10 (10%)</a:t>
            </a:r>
            <a:endParaRPr lang="en-US" sz="1200" dirty="0"/>
          </a:p>
        </p:txBody>
      </p:sp>
      <p:sp>
        <p:nvSpPr>
          <p:cNvPr id="35" name="Text 33"/>
          <p:cNvSpPr/>
          <p:nvPr/>
        </p:nvSpPr>
        <p:spPr>
          <a:xfrm>
            <a:off x="5577840" y="4142232"/>
            <a:ext cx="3017520" cy="384048"/>
          </a:xfrm>
          <a:prstGeom prst="rect">
            <a:avLst/>
          </a:prstGeom>
          <a:noFill/>
          <a:ln/>
        </p:spPr>
        <p:txBody>
          <a:bodyPr wrap="square" rtlCol="0" anchor="ctr"/>
          <a:lstStyle/>
          <a:p>
            <a:pPr marL="0" indent="0">
              <a:buNone/>
            </a:pPr>
            <a:r>
              <a:rPr lang="en-US" sz="1200" i="1" dirty="0">
                <a:solidFill>
                  <a:srgbClr val="64748B"/>
                </a:solidFill>
              </a:rPr>
              <a:t>Lower AOV correlates with price-conscious behavior</a:t>
            </a:r>
            <a:endParaRPr lang="en-US" sz="1200" dirty="0"/>
          </a:p>
        </p:txBody>
      </p:sp>
      <p:sp>
        <p:nvSpPr>
          <p:cNvPr id="37" name="Shape 35"/>
          <p:cNvSpPr/>
          <p:nvPr/>
        </p:nvSpPr>
        <p:spPr>
          <a:xfrm>
            <a:off x="0" y="4869180"/>
            <a:ext cx="9144000" cy="274320"/>
          </a:xfrm>
          <a:prstGeom prst="rect">
            <a:avLst/>
          </a:prstGeom>
          <a:solidFill>
            <a:srgbClr val="1E2761"/>
          </a:solidFill>
          <a:ln w="12700">
            <a:solidFill>
              <a:srgbClr val="1E2761"/>
            </a:solidFill>
            <a:prstDash val="solid"/>
          </a:ln>
        </p:spPr>
        <p:txBody>
          <a:bodyPr/>
          <a:lstStyle/>
          <a:p>
            <a:endParaRPr lang="en-US"/>
          </a:p>
        </p:txBody>
      </p:sp>
      <p:sp>
        <p:nvSpPr>
          <p:cNvPr id="38" name="Text 36"/>
          <p:cNvSpPr/>
          <p:nvPr/>
        </p:nvSpPr>
        <p:spPr>
          <a:xfrm>
            <a:off x="0" y="4869180"/>
            <a:ext cx="9144000" cy="274320"/>
          </a:xfrm>
          <a:prstGeom prst="rect">
            <a:avLst/>
          </a:prstGeom>
          <a:noFill/>
          <a:ln/>
        </p:spPr>
        <p:txBody>
          <a:bodyPr wrap="square" lIns="0" tIns="0" rIns="0" bIns="0" rtlCol="0" anchor="ctr"/>
          <a:lstStyle/>
          <a:p>
            <a:pPr marL="0" indent="0" algn="ctr">
              <a:buNone/>
            </a:pPr>
            <a:r>
              <a:rPr lang="en-US" sz="900" dirty="0">
                <a:solidFill>
                  <a:srgbClr val="CADCFC"/>
                </a:solidFill>
              </a:rPr>
              <a:t>Smart Discount Targeting System  |  NUCES CS3005  |  13</a:t>
            </a:r>
            <a:endParaRPr lang="en-US" sz="900" dirty="0"/>
          </a:p>
        </p:txBody>
      </p:sp>
      <p:sp>
        <p:nvSpPr>
          <p:cNvPr id="40" name="Shape 3">
            <a:extLst>
              <a:ext uri="{FF2B5EF4-FFF2-40B4-BE49-F238E27FC236}">
                <a16:creationId xmlns:a16="http://schemas.microsoft.com/office/drawing/2014/main" id="{8C97B83A-719C-DEFC-C7C4-3A636360C70D}"/>
              </a:ext>
            </a:extLst>
          </p:cNvPr>
          <p:cNvSpPr/>
          <p:nvPr/>
        </p:nvSpPr>
        <p:spPr>
          <a:xfrm>
            <a:off x="457200" y="836139"/>
            <a:ext cx="8138160" cy="506955"/>
          </a:xfrm>
          <a:prstGeom prst="rect">
            <a:avLst/>
          </a:prstGeom>
          <a:solidFill>
            <a:srgbClr val="1E2761"/>
          </a:solidFill>
          <a:ln w="12700">
            <a:solidFill>
              <a:srgbClr val="1E2761"/>
            </a:solidFill>
            <a:prstDash val="solid"/>
          </a:ln>
          <a:effectLst>
            <a:outerShdw blurRad="101600" dist="38100" dir="8100000" algn="bl" rotWithShape="0">
              <a:srgbClr val="1E2761">
                <a:alpha val="15000"/>
              </a:srgbClr>
            </a:outerShdw>
          </a:effectLst>
        </p:spPr>
        <p:txBody>
          <a:bodyPr/>
          <a:lstStyle/>
          <a:p>
            <a:r>
              <a:rPr lang="en-US" sz="1300" dirty="0">
                <a:solidFill>
                  <a:schemeClr val="bg1"/>
                </a:solidFill>
                <a:latin typeface="Calibri" pitchFamily="34" charset="0"/>
                <a:ea typeface="Calibri" pitchFamily="34" charset="-122"/>
                <a:cs typeface="Calibri" pitchFamily="34" charset="-120"/>
              </a:rPr>
              <a:t>Rather than predicting cluster labels directly, a novel </a:t>
            </a:r>
            <a:r>
              <a:rPr lang="en-US" sz="1300" dirty="0" err="1">
                <a:solidFill>
                  <a:schemeClr val="bg1"/>
                </a:solidFill>
                <a:latin typeface="Calibri" pitchFamily="34" charset="0"/>
                <a:ea typeface="Calibri" pitchFamily="34" charset="-122"/>
                <a:cs typeface="Calibri" pitchFamily="34" charset="-120"/>
              </a:rPr>
              <a:t>behaviour</a:t>
            </a:r>
            <a:r>
              <a:rPr lang="en-US" sz="1300" dirty="0">
                <a:solidFill>
                  <a:schemeClr val="bg1"/>
                </a:solidFill>
                <a:latin typeface="Calibri" pitchFamily="34" charset="0"/>
                <a:ea typeface="Calibri" pitchFamily="34" charset="-122"/>
                <a:cs typeface="Calibri" pitchFamily="34" charset="-120"/>
              </a:rPr>
              <a:t>-based discount sensitivity score was engineered as a more meaningful, continuous target variable.</a:t>
            </a:r>
            <a:endParaRPr lang="en-US" sz="1300" dirty="0">
              <a:solidFill>
                <a:schemeClr val="bg1"/>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28090"/>
          </a:solidFill>
          <a:ln w="12700">
            <a:solidFill>
              <a:srgbClr val="028090"/>
            </a:solidFill>
            <a:prstDash val="solid"/>
          </a:ln>
        </p:spPr>
        <p:txBody>
          <a:bodyPr/>
          <a:lstStyle/>
          <a:p>
            <a:endParaRPr lang="en-US"/>
          </a:p>
        </p:txBody>
      </p:sp>
      <p:sp>
        <p:nvSpPr>
          <p:cNvPr id="3" name="Text 1"/>
          <p:cNvSpPr/>
          <p:nvPr/>
        </p:nvSpPr>
        <p:spPr>
          <a:xfrm>
            <a:off x="457200" y="164592"/>
            <a:ext cx="7772400" cy="566928"/>
          </a:xfrm>
          <a:prstGeom prst="rect">
            <a:avLst/>
          </a:prstGeom>
          <a:noFill/>
          <a:ln/>
        </p:spPr>
        <p:txBody>
          <a:bodyPr wrap="square" rtlCol="0" anchor="ctr"/>
          <a:lstStyle/>
          <a:p>
            <a:pPr marL="0" indent="0" algn="l">
              <a:buNone/>
            </a:pPr>
            <a:r>
              <a:rPr lang="en-US" sz="3000" b="1" dirty="0">
                <a:solidFill>
                  <a:srgbClr val="1E2761"/>
                </a:solidFill>
              </a:rPr>
              <a:t>Model Training &amp; Feature Importance</a:t>
            </a:r>
            <a:endParaRPr lang="en-US" sz="3000" dirty="0"/>
          </a:p>
        </p:txBody>
      </p:sp>
      <p:sp>
        <p:nvSpPr>
          <p:cNvPr id="4" name="Text 2"/>
          <p:cNvSpPr/>
          <p:nvPr/>
        </p:nvSpPr>
        <p:spPr>
          <a:xfrm>
            <a:off x="457200" y="713232"/>
            <a:ext cx="8229600" cy="274320"/>
          </a:xfrm>
          <a:prstGeom prst="rect">
            <a:avLst/>
          </a:prstGeom>
          <a:noFill/>
          <a:ln/>
        </p:spPr>
        <p:txBody>
          <a:bodyPr wrap="square" rtlCol="0" anchor="ctr"/>
          <a:lstStyle/>
          <a:p>
            <a:pPr marL="0" indent="0" algn="l">
              <a:buNone/>
            </a:pPr>
            <a:r>
              <a:rPr lang="en-US" sz="1300" i="1" dirty="0">
                <a:solidFill>
                  <a:srgbClr val="028090"/>
                </a:solidFill>
              </a:rPr>
              <a:t>Decision Tree Classifier (max_depth=5) on top-5 RF-selected features</a:t>
            </a:r>
            <a:endParaRPr lang="en-US" sz="1300" dirty="0"/>
          </a:p>
        </p:txBody>
      </p:sp>
      <p:graphicFrame>
        <p:nvGraphicFramePr>
          <p:cNvPr id="5" name="Chart 0"/>
          <p:cNvGraphicFramePr/>
          <p:nvPr>
            <p:extLst>
              <p:ext uri="{D42A27DB-BD31-4B8C-83A1-F6EECF244321}">
                <p14:modId xmlns:p14="http://schemas.microsoft.com/office/powerpoint/2010/main" val="467724419"/>
              </p:ext>
            </p:extLst>
          </p:nvPr>
        </p:nvGraphicFramePr>
        <p:xfrm>
          <a:off x="457200" y="1005840"/>
          <a:ext cx="5029200" cy="3017520"/>
        </p:xfrm>
        <a:graphic>
          <a:graphicData uri="http://schemas.openxmlformats.org/drawingml/2006/chart">
            <c:chart xmlns:c="http://schemas.openxmlformats.org/drawingml/2006/chart" xmlns:r="http://schemas.openxmlformats.org/officeDocument/2006/relationships" r:id="rId3"/>
          </a:graphicData>
        </a:graphic>
      </p:graphicFrame>
      <p:sp>
        <p:nvSpPr>
          <p:cNvPr id="6" name="Shape 3"/>
          <p:cNvSpPr/>
          <p:nvPr/>
        </p:nvSpPr>
        <p:spPr>
          <a:xfrm>
            <a:off x="5715000" y="1005840"/>
            <a:ext cx="3063240" cy="3017520"/>
          </a:xfrm>
          <a:prstGeom prst="rect">
            <a:avLst/>
          </a:prstGeom>
          <a:solidFill>
            <a:srgbClr val="FFFFFF"/>
          </a:solidFill>
          <a:ln w="12700">
            <a:solidFill>
              <a:srgbClr val="CADCFC"/>
            </a:solidFill>
            <a:prstDash val="solid"/>
          </a:ln>
          <a:effectLst>
            <a:outerShdw blurRad="101600" dist="38100" dir="8100000" algn="bl" rotWithShape="0">
              <a:srgbClr val="1E2761">
                <a:alpha val="15000"/>
              </a:srgbClr>
            </a:outerShdw>
          </a:effectLst>
        </p:spPr>
        <p:txBody>
          <a:bodyPr/>
          <a:lstStyle/>
          <a:p>
            <a:endParaRPr lang="en-US"/>
          </a:p>
        </p:txBody>
      </p:sp>
      <p:sp>
        <p:nvSpPr>
          <p:cNvPr id="7" name="Text 4"/>
          <p:cNvSpPr/>
          <p:nvPr/>
        </p:nvSpPr>
        <p:spPr>
          <a:xfrm>
            <a:off x="5852160" y="1097280"/>
            <a:ext cx="2834640" cy="347472"/>
          </a:xfrm>
          <a:prstGeom prst="rect">
            <a:avLst/>
          </a:prstGeom>
          <a:noFill/>
          <a:ln/>
        </p:spPr>
        <p:txBody>
          <a:bodyPr wrap="square" rtlCol="0" anchor="ctr"/>
          <a:lstStyle/>
          <a:p>
            <a:pPr marL="0" indent="0">
              <a:buNone/>
            </a:pPr>
            <a:r>
              <a:rPr lang="en-US" sz="1400" b="1" dirty="0">
                <a:solidFill>
                  <a:srgbClr val="1E2761"/>
                </a:solidFill>
              </a:rPr>
              <a:t>Model Configuration</a:t>
            </a:r>
            <a:endParaRPr lang="en-US" sz="1400" dirty="0"/>
          </a:p>
        </p:txBody>
      </p:sp>
      <p:sp>
        <p:nvSpPr>
          <p:cNvPr id="8" name="Shape 5"/>
          <p:cNvSpPr/>
          <p:nvPr/>
        </p:nvSpPr>
        <p:spPr>
          <a:xfrm>
            <a:off x="5852160" y="1536192"/>
            <a:ext cx="2834640" cy="338328"/>
          </a:xfrm>
          <a:prstGeom prst="rect">
            <a:avLst/>
          </a:prstGeom>
          <a:solidFill>
            <a:srgbClr val="EEF3FA"/>
          </a:solidFill>
          <a:ln w="12700">
            <a:solidFill>
              <a:srgbClr val="E5EBF3"/>
            </a:solidFill>
            <a:prstDash val="solid"/>
          </a:ln>
        </p:spPr>
        <p:txBody>
          <a:bodyPr/>
          <a:lstStyle/>
          <a:p>
            <a:endParaRPr lang="en-US"/>
          </a:p>
        </p:txBody>
      </p:sp>
      <p:sp>
        <p:nvSpPr>
          <p:cNvPr id="9" name="Text 6"/>
          <p:cNvSpPr/>
          <p:nvPr/>
        </p:nvSpPr>
        <p:spPr>
          <a:xfrm>
            <a:off x="5943600" y="1581912"/>
            <a:ext cx="1371600" cy="246888"/>
          </a:xfrm>
          <a:prstGeom prst="rect">
            <a:avLst/>
          </a:prstGeom>
          <a:noFill/>
          <a:ln/>
        </p:spPr>
        <p:txBody>
          <a:bodyPr wrap="square" rtlCol="0" anchor="ctr"/>
          <a:lstStyle/>
          <a:p>
            <a:pPr marL="0" indent="0">
              <a:buNone/>
            </a:pPr>
            <a:r>
              <a:rPr lang="en-US" sz="1150" b="1" dirty="0">
                <a:solidFill>
                  <a:srgbClr val="64748B"/>
                </a:solidFill>
              </a:rPr>
              <a:t>Algorithm:</a:t>
            </a:r>
            <a:endParaRPr lang="en-US" sz="1150" dirty="0"/>
          </a:p>
        </p:txBody>
      </p:sp>
      <p:sp>
        <p:nvSpPr>
          <p:cNvPr id="10" name="Text 7"/>
          <p:cNvSpPr/>
          <p:nvPr/>
        </p:nvSpPr>
        <p:spPr>
          <a:xfrm>
            <a:off x="7269480" y="1581912"/>
            <a:ext cx="1371600" cy="246888"/>
          </a:xfrm>
          <a:prstGeom prst="rect">
            <a:avLst/>
          </a:prstGeom>
          <a:noFill/>
          <a:ln/>
        </p:spPr>
        <p:txBody>
          <a:bodyPr wrap="square" rtlCol="0" anchor="ctr"/>
          <a:lstStyle/>
          <a:p>
            <a:pPr marL="0" indent="0">
              <a:buNone/>
            </a:pPr>
            <a:r>
              <a:rPr lang="en-US" sz="1150" b="1" dirty="0">
                <a:solidFill>
                  <a:srgbClr val="028090"/>
                </a:solidFill>
              </a:rPr>
              <a:t>Decision Tree</a:t>
            </a:r>
            <a:endParaRPr lang="en-US" sz="1150" dirty="0"/>
          </a:p>
        </p:txBody>
      </p:sp>
      <p:sp>
        <p:nvSpPr>
          <p:cNvPr id="11" name="Shape 8"/>
          <p:cNvSpPr/>
          <p:nvPr/>
        </p:nvSpPr>
        <p:spPr>
          <a:xfrm>
            <a:off x="5852160" y="1929384"/>
            <a:ext cx="2834640" cy="338328"/>
          </a:xfrm>
          <a:prstGeom prst="rect">
            <a:avLst/>
          </a:prstGeom>
          <a:solidFill>
            <a:srgbClr val="FFFFFF"/>
          </a:solidFill>
          <a:ln w="12700">
            <a:solidFill>
              <a:srgbClr val="E5EBF3"/>
            </a:solidFill>
            <a:prstDash val="solid"/>
          </a:ln>
        </p:spPr>
        <p:txBody>
          <a:bodyPr/>
          <a:lstStyle/>
          <a:p>
            <a:endParaRPr lang="en-US"/>
          </a:p>
        </p:txBody>
      </p:sp>
      <p:sp>
        <p:nvSpPr>
          <p:cNvPr id="12" name="Text 9"/>
          <p:cNvSpPr/>
          <p:nvPr/>
        </p:nvSpPr>
        <p:spPr>
          <a:xfrm>
            <a:off x="5943600" y="1975104"/>
            <a:ext cx="1371600" cy="246888"/>
          </a:xfrm>
          <a:prstGeom prst="rect">
            <a:avLst/>
          </a:prstGeom>
          <a:noFill/>
          <a:ln/>
        </p:spPr>
        <p:txBody>
          <a:bodyPr wrap="square" rtlCol="0" anchor="ctr"/>
          <a:lstStyle/>
          <a:p>
            <a:pPr marL="0" indent="0">
              <a:buNone/>
            </a:pPr>
            <a:r>
              <a:rPr lang="en-US" sz="1150" b="1" dirty="0">
                <a:solidFill>
                  <a:srgbClr val="64748B"/>
                </a:solidFill>
              </a:rPr>
              <a:t>Max Depth:</a:t>
            </a:r>
            <a:endParaRPr lang="en-US" sz="1150" dirty="0"/>
          </a:p>
        </p:txBody>
      </p:sp>
      <p:sp>
        <p:nvSpPr>
          <p:cNvPr id="13" name="Text 10"/>
          <p:cNvSpPr/>
          <p:nvPr/>
        </p:nvSpPr>
        <p:spPr>
          <a:xfrm>
            <a:off x="7269480" y="1975104"/>
            <a:ext cx="1371600" cy="246888"/>
          </a:xfrm>
          <a:prstGeom prst="rect">
            <a:avLst/>
          </a:prstGeom>
          <a:noFill/>
          <a:ln/>
        </p:spPr>
        <p:txBody>
          <a:bodyPr wrap="square" rtlCol="0" anchor="ctr"/>
          <a:lstStyle/>
          <a:p>
            <a:pPr marL="0" indent="0">
              <a:buNone/>
            </a:pPr>
            <a:r>
              <a:rPr lang="en-US" sz="1150" b="1" dirty="0">
                <a:solidFill>
                  <a:srgbClr val="028090"/>
                </a:solidFill>
              </a:rPr>
              <a:t>5</a:t>
            </a:r>
            <a:endParaRPr lang="en-US" sz="1150" dirty="0"/>
          </a:p>
        </p:txBody>
      </p:sp>
      <p:sp>
        <p:nvSpPr>
          <p:cNvPr id="14" name="Shape 11"/>
          <p:cNvSpPr/>
          <p:nvPr/>
        </p:nvSpPr>
        <p:spPr>
          <a:xfrm>
            <a:off x="5852160" y="2322576"/>
            <a:ext cx="2834640" cy="338328"/>
          </a:xfrm>
          <a:prstGeom prst="rect">
            <a:avLst/>
          </a:prstGeom>
          <a:solidFill>
            <a:srgbClr val="EEF3FA"/>
          </a:solidFill>
          <a:ln w="12700">
            <a:solidFill>
              <a:srgbClr val="E5EBF3"/>
            </a:solidFill>
            <a:prstDash val="solid"/>
          </a:ln>
        </p:spPr>
        <p:txBody>
          <a:bodyPr/>
          <a:lstStyle/>
          <a:p>
            <a:endParaRPr lang="en-US"/>
          </a:p>
        </p:txBody>
      </p:sp>
      <p:sp>
        <p:nvSpPr>
          <p:cNvPr id="15" name="Text 12"/>
          <p:cNvSpPr/>
          <p:nvPr/>
        </p:nvSpPr>
        <p:spPr>
          <a:xfrm>
            <a:off x="5943600" y="2368296"/>
            <a:ext cx="1371600" cy="246888"/>
          </a:xfrm>
          <a:prstGeom prst="rect">
            <a:avLst/>
          </a:prstGeom>
          <a:noFill/>
          <a:ln/>
        </p:spPr>
        <p:txBody>
          <a:bodyPr wrap="square" rtlCol="0" anchor="ctr"/>
          <a:lstStyle/>
          <a:p>
            <a:pPr marL="0" indent="0">
              <a:buNone/>
            </a:pPr>
            <a:r>
              <a:rPr lang="en-US" sz="1150" b="1" dirty="0">
                <a:solidFill>
                  <a:srgbClr val="64748B"/>
                </a:solidFill>
              </a:rPr>
              <a:t>Train / Test:</a:t>
            </a:r>
            <a:endParaRPr lang="en-US" sz="1150" dirty="0"/>
          </a:p>
        </p:txBody>
      </p:sp>
      <p:sp>
        <p:nvSpPr>
          <p:cNvPr id="16" name="Text 13"/>
          <p:cNvSpPr/>
          <p:nvPr/>
        </p:nvSpPr>
        <p:spPr>
          <a:xfrm>
            <a:off x="7269480" y="2368296"/>
            <a:ext cx="1371600" cy="246888"/>
          </a:xfrm>
          <a:prstGeom prst="rect">
            <a:avLst/>
          </a:prstGeom>
          <a:noFill/>
          <a:ln/>
        </p:spPr>
        <p:txBody>
          <a:bodyPr wrap="square" rtlCol="0" anchor="ctr"/>
          <a:lstStyle/>
          <a:p>
            <a:pPr marL="0" indent="0">
              <a:buNone/>
            </a:pPr>
            <a:r>
              <a:rPr lang="en-US" sz="1150" b="1" dirty="0">
                <a:solidFill>
                  <a:srgbClr val="028090"/>
                </a:solidFill>
              </a:rPr>
              <a:t>80 / 20 split</a:t>
            </a:r>
            <a:endParaRPr lang="en-US" sz="1150" dirty="0"/>
          </a:p>
        </p:txBody>
      </p:sp>
      <p:sp>
        <p:nvSpPr>
          <p:cNvPr id="17" name="Shape 14"/>
          <p:cNvSpPr/>
          <p:nvPr/>
        </p:nvSpPr>
        <p:spPr>
          <a:xfrm>
            <a:off x="5852160" y="2715768"/>
            <a:ext cx="2834640" cy="338328"/>
          </a:xfrm>
          <a:prstGeom prst="rect">
            <a:avLst/>
          </a:prstGeom>
          <a:solidFill>
            <a:srgbClr val="FFFFFF"/>
          </a:solidFill>
          <a:ln w="12700">
            <a:solidFill>
              <a:srgbClr val="E5EBF3"/>
            </a:solidFill>
            <a:prstDash val="solid"/>
          </a:ln>
        </p:spPr>
        <p:txBody>
          <a:bodyPr/>
          <a:lstStyle/>
          <a:p>
            <a:endParaRPr lang="en-US"/>
          </a:p>
        </p:txBody>
      </p:sp>
      <p:sp>
        <p:nvSpPr>
          <p:cNvPr id="18" name="Text 15"/>
          <p:cNvSpPr/>
          <p:nvPr/>
        </p:nvSpPr>
        <p:spPr>
          <a:xfrm>
            <a:off x="5943600" y="2761488"/>
            <a:ext cx="1371600" cy="246888"/>
          </a:xfrm>
          <a:prstGeom prst="rect">
            <a:avLst/>
          </a:prstGeom>
          <a:noFill/>
          <a:ln/>
        </p:spPr>
        <p:txBody>
          <a:bodyPr wrap="square" rtlCol="0" anchor="ctr"/>
          <a:lstStyle/>
          <a:p>
            <a:pPr marL="0" indent="0">
              <a:buNone/>
            </a:pPr>
            <a:r>
              <a:rPr lang="en-US" sz="1150" b="1" dirty="0">
                <a:solidFill>
                  <a:srgbClr val="64748B"/>
                </a:solidFill>
              </a:rPr>
              <a:t>Strategy:</a:t>
            </a:r>
            <a:endParaRPr lang="en-US" sz="1150" dirty="0"/>
          </a:p>
        </p:txBody>
      </p:sp>
      <p:sp>
        <p:nvSpPr>
          <p:cNvPr id="19" name="Text 16"/>
          <p:cNvSpPr/>
          <p:nvPr/>
        </p:nvSpPr>
        <p:spPr>
          <a:xfrm>
            <a:off x="7269480" y="2761488"/>
            <a:ext cx="1371600" cy="246888"/>
          </a:xfrm>
          <a:prstGeom prst="rect">
            <a:avLst/>
          </a:prstGeom>
          <a:noFill/>
          <a:ln/>
        </p:spPr>
        <p:txBody>
          <a:bodyPr wrap="square" rtlCol="0" anchor="ctr"/>
          <a:lstStyle/>
          <a:p>
            <a:pPr marL="0" indent="0">
              <a:buNone/>
            </a:pPr>
            <a:r>
              <a:rPr lang="en-US" sz="1150" b="1" dirty="0">
                <a:solidFill>
                  <a:srgbClr val="028090"/>
                </a:solidFill>
              </a:rPr>
              <a:t>Stratified split</a:t>
            </a:r>
            <a:endParaRPr lang="en-US" sz="1150" dirty="0"/>
          </a:p>
        </p:txBody>
      </p:sp>
      <p:sp>
        <p:nvSpPr>
          <p:cNvPr id="20" name="Shape 17"/>
          <p:cNvSpPr/>
          <p:nvPr/>
        </p:nvSpPr>
        <p:spPr>
          <a:xfrm>
            <a:off x="5852160" y="3108960"/>
            <a:ext cx="2834640" cy="338328"/>
          </a:xfrm>
          <a:prstGeom prst="rect">
            <a:avLst/>
          </a:prstGeom>
          <a:solidFill>
            <a:srgbClr val="EEF3FA"/>
          </a:solidFill>
          <a:ln w="12700">
            <a:solidFill>
              <a:srgbClr val="E5EBF3"/>
            </a:solidFill>
            <a:prstDash val="solid"/>
          </a:ln>
        </p:spPr>
        <p:txBody>
          <a:bodyPr/>
          <a:lstStyle/>
          <a:p>
            <a:endParaRPr lang="en-US"/>
          </a:p>
        </p:txBody>
      </p:sp>
      <p:sp>
        <p:nvSpPr>
          <p:cNvPr id="21" name="Text 18"/>
          <p:cNvSpPr/>
          <p:nvPr/>
        </p:nvSpPr>
        <p:spPr>
          <a:xfrm>
            <a:off x="5943600" y="3154680"/>
            <a:ext cx="1371600" cy="246888"/>
          </a:xfrm>
          <a:prstGeom prst="rect">
            <a:avLst/>
          </a:prstGeom>
          <a:noFill/>
          <a:ln/>
        </p:spPr>
        <p:txBody>
          <a:bodyPr wrap="square" rtlCol="0" anchor="ctr"/>
          <a:lstStyle/>
          <a:p>
            <a:pPr marL="0" indent="0">
              <a:buNone/>
            </a:pPr>
            <a:r>
              <a:rPr lang="en-US" sz="1150" b="1" dirty="0">
                <a:solidFill>
                  <a:srgbClr val="64748B"/>
                </a:solidFill>
              </a:rPr>
              <a:t>Features Used:</a:t>
            </a:r>
            <a:endParaRPr lang="en-US" sz="1150" dirty="0"/>
          </a:p>
        </p:txBody>
      </p:sp>
      <p:sp>
        <p:nvSpPr>
          <p:cNvPr id="22" name="Text 19"/>
          <p:cNvSpPr/>
          <p:nvPr/>
        </p:nvSpPr>
        <p:spPr>
          <a:xfrm>
            <a:off x="7269480" y="3154680"/>
            <a:ext cx="1371600" cy="246888"/>
          </a:xfrm>
          <a:prstGeom prst="rect">
            <a:avLst/>
          </a:prstGeom>
          <a:noFill/>
          <a:ln/>
        </p:spPr>
        <p:txBody>
          <a:bodyPr wrap="square" rtlCol="0" anchor="ctr"/>
          <a:lstStyle/>
          <a:p>
            <a:pPr marL="0" indent="0">
              <a:buNone/>
            </a:pPr>
            <a:r>
              <a:rPr lang="en-US" sz="1150" b="1" dirty="0">
                <a:solidFill>
                  <a:srgbClr val="028090"/>
                </a:solidFill>
              </a:rPr>
              <a:t>Top 5 (RF selected)</a:t>
            </a:r>
            <a:endParaRPr lang="en-US" sz="1150" dirty="0"/>
          </a:p>
        </p:txBody>
      </p:sp>
      <p:sp>
        <p:nvSpPr>
          <p:cNvPr id="23" name="Shape 20"/>
          <p:cNvSpPr/>
          <p:nvPr/>
        </p:nvSpPr>
        <p:spPr>
          <a:xfrm>
            <a:off x="5852160" y="3502152"/>
            <a:ext cx="2834640" cy="338328"/>
          </a:xfrm>
          <a:prstGeom prst="rect">
            <a:avLst/>
          </a:prstGeom>
          <a:solidFill>
            <a:srgbClr val="FFFFFF"/>
          </a:solidFill>
          <a:ln w="12700">
            <a:solidFill>
              <a:srgbClr val="E5EBF3"/>
            </a:solidFill>
            <a:prstDash val="solid"/>
          </a:ln>
        </p:spPr>
        <p:txBody>
          <a:bodyPr/>
          <a:lstStyle/>
          <a:p>
            <a:endParaRPr lang="en-US"/>
          </a:p>
        </p:txBody>
      </p:sp>
      <p:sp>
        <p:nvSpPr>
          <p:cNvPr id="24" name="Text 21"/>
          <p:cNvSpPr/>
          <p:nvPr/>
        </p:nvSpPr>
        <p:spPr>
          <a:xfrm>
            <a:off x="5943600" y="3547872"/>
            <a:ext cx="1371600" cy="246888"/>
          </a:xfrm>
          <a:prstGeom prst="rect">
            <a:avLst/>
          </a:prstGeom>
          <a:noFill/>
          <a:ln/>
        </p:spPr>
        <p:txBody>
          <a:bodyPr wrap="square" rtlCol="0" anchor="ctr"/>
          <a:lstStyle/>
          <a:p>
            <a:pPr marL="0" indent="0">
              <a:buNone/>
            </a:pPr>
            <a:r>
              <a:rPr lang="en-US" sz="1150" b="1" dirty="0">
                <a:solidFill>
                  <a:srgbClr val="64748B"/>
                </a:solidFill>
              </a:rPr>
              <a:t>Target Classes:</a:t>
            </a:r>
            <a:endParaRPr lang="en-US" sz="1150" dirty="0"/>
          </a:p>
        </p:txBody>
      </p:sp>
      <p:sp>
        <p:nvSpPr>
          <p:cNvPr id="25" name="Text 22"/>
          <p:cNvSpPr/>
          <p:nvPr/>
        </p:nvSpPr>
        <p:spPr>
          <a:xfrm>
            <a:off x="7269480" y="3547872"/>
            <a:ext cx="1371600" cy="246888"/>
          </a:xfrm>
          <a:prstGeom prst="rect">
            <a:avLst/>
          </a:prstGeom>
          <a:noFill/>
          <a:ln/>
        </p:spPr>
        <p:txBody>
          <a:bodyPr wrap="square" rtlCol="0" anchor="ctr"/>
          <a:lstStyle/>
          <a:p>
            <a:pPr marL="0" indent="0">
              <a:buNone/>
            </a:pPr>
            <a:r>
              <a:rPr lang="en-US" sz="1150" b="1" dirty="0">
                <a:solidFill>
                  <a:srgbClr val="028090"/>
                </a:solidFill>
              </a:rPr>
              <a:t>Low · Medium · High</a:t>
            </a:r>
            <a:endParaRPr lang="en-US" sz="1150" dirty="0"/>
          </a:p>
        </p:txBody>
      </p:sp>
      <p:sp>
        <p:nvSpPr>
          <p:cNvPr id="26" name="Shape 23"/>
          <p:cNvSpPr/>
          <p:nvPr/>
        </p:nvSpPr>
        <p:spPr>
          <a:xfrm>
            <a:off x="457200" y="4160520"/>
            <a:ext cx="8321040" cy="548640"/>
          </a:xfrm>
          <a:prstGeom prst="rect">
            <a:avLst/>
          </a:prstGeom>
          <a:solidFill>
            <a:srgbClr val="1E2761"/>
          </a:solidFill>
          <a:ln w="12700">
            <a:solidFill>
              <a:srgbClr val="1E2761"/>
            </a:solidFill>
            <a:prstDash val="solid"/>
          </a:ln>
        </p:spPr>
        <p:txBody>
          <a:bodyPr/>
          <a:lstStyle/>
          <a:p>
            <a:endParaRPr lang="en-US"/>
          </a:p>
        </p:txBody>
      </p:sp>
      <p:sp>
        <p:nvSpPr>
          <p:cNvPr id="27" name="Text 24"/>
          <p:cNvSpPr/>
          <p:nvPr/>
        </p:nvSpPr>
        <p:spPr>
          <a:xfrm>
            <a:off x="594360" y="4178808"/>
            <a:ext cx="8046720" cy="512064"/>
          </a:xfrm>
          <a:prstGeom prst="rect">
            <a:avLst/>
          </a:prstGeom>
          <a:noFill/>
          <a:ln/>
        </p:spPr>
        <p:txBody>
          <a:bodyPr wrap="square" rtlCol="0" anchor="ctr"/>
          <a:lstStyle/>
          <a:p>
            <a:pPr marL="0" indent="0">
              <a:buNone/>
            </a:pPr>
            <a:r>
              <a:rPr lang="en-US" sz="1300" dirty="0">
                <a:solidFill>
                  <a:srgbClr val="FFFFFF"/>
                </a:solidFill>
              </a:rPr>
              <a:t>Key Insight: Recency is the most powerful predictor (42% importance) — spending amount alone is insufficient to characterize discount sensitivity.</a:t>
            </a:r>
            <a:endParaRPr lang="en-US" sz="1300" dirty="0"/>
          </a:p>
        </p:txBody>
      </p:sp>
      <p:sp>
        <p:nvSpPr>
          <p:cNvPr id="28" name="Shape 25"/>
          <p:cNvSpPr/>
          <p:nvPr/>
        </p:nvSpPr>
        <p:spPr>
          <a:xfrm>
            <a:off x="0" y="4869180"/>
            <a:ext cx="9144000" cy="274320"/>
          </a:xfrm>
          <a:prstGeom prst="rect">
            <a:avLst/>
          </a:prstGeom>
          <a:solidFill>
            <a:srgbClr val="1E2761"/>
          </a:solidFill>
          <a:ln w="12700">
            <a:solidFill>
              <a:srgbClr val="1E2761"/>
            </a:solidFill>
            <a:prstDash val="solid"/>
          </a:ln>
        </p:spPr>
        <p:txBody>
          <a:bodyPr/>
          <a:lstStyle/>
          <a:p>
            <a:endParaRPr lang="en-US"/>
          </a:p>
        </p:txBody>
      </p:sp>
      <p:sp>
        <p:nvSpPr>
          <p:cNvPr id="29" name="Text 26"/>
          <p:cNvSpPr/>
          <p:nvPr/>
        </p:nvSpPr>
        <p:spPr>
          <a:xfrm>
            <a:off x="0" y="4869180"/>
            <a:ext cx="9144000" cy="274320"/>
          </a:xfrm>
          <a:prstGeom prst="rect">
            <a:avLst/>
          </a:prstGeom>
          <a:noFill/>
          <a:ln/>
        </p:spPr>
        <p:txBody>
          <a:bodyPr wrap="square" lIns="0" tIns="0" rIns="0" bIns="0" rtlCol="0" anchor="ctr"/>
          <a:lstStyle/>
          <a:p>
            <a:pPr marL="0" indent="0" algn="ctr">
              <a:buNone/>
            </a:pPr>
            <a:r>
              <a:rPr lang="en-US" sz="900" dirty="0">
                <a:solidFill>
                  <a:srgbClr val="CADCFC"/>
                </a:solidFill>
              </a:rPr>
              <a:t>Smart Discount Targeting System  |  NUCES CS3005  |  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28090"/>
          </a:solidFill>
          <a:ln w="12700">
            <a:solidFill>
              <a:srgbClr val="028090"/>
            </a:solidFill>
            <a:prstDash val="solid"/>
          </a:ln>
        </p:spPr>
        <p:txBody>
          <a:bodyPr/>
          <a:lstStyle/>
          <a:p>
            <a:endParaRPr lang="en-US"/>
          </a:p>
        </p:txBody>
      </p:sp>
      <p:sp>
        <p:nvSpPr>
          <p:cNvPr id="3" name="Text 1"/>
          <p:cNvSpPr/>
          <p:nvPr/>
        </p:nvSpPr>
        <p:spPr>
          <a:xfrm>
            <a:off x="457200" y="164592"/>
            <a:ext cx="7772400" cy="566928"/>
          </a:xfrm>
          <a:prstGeom prst="rect">
            <a:avLst/>
          </a:prstGeom>
          <a:noFill/>
          <a:ln/>
        </p:spPr>
        <p:txBody>
          <a:bodyPr wrap="square" rtlCol="0" anchor="ctr"/>
          <a:lstStyle/>
          <a:p>
            <a:pPr marL="0" indent="0" algn="l">
              <a:buNone/>
            </a:pPr>
            <a:r>
              <a:rPr lang="en-US" sz="3000" b="1" dirty="0">
                <a:solidFill>
                  <a:srgbClr val="1E2761"/>
                </a:solidFill>
              </a:rPr>
              <a:t>Model Performance &amp; Results</a:t>
            </a:r>
            <a:endParaRPr lang="en-US" sz="3000" dirty="0"/>
          </a:p>
        </p:txBody>
      </p:sp>
      <p:sp>
        <p:nvSpPr>
          <p:cNvPr id="4" name="Text 2"/>
          <p:cNvSpPr/>
          <p:nvPr/>
        </p:nvSpPr>
        <p:spPr>
          <a:xfrm>
            <a:off x="457200" y="713232"/>
            <a:ext cx="8229600" cy="274320"/>
          </a:xfrm>
          <a:prstGeom prst="rect">
            <a:avLst/>
          </a:prstGeom>
          <a:noFill/>
          <a:ln/>
        </p:spPr>
        <p:txBody>
          <a:bodyPr wrap="square" rtlCol="0" anchor="ctr"/>
          <a:lstStyle/>
          <a:p>
            <a:pPr marL="0" indent="0" algn="l">
              <a:buNone/>
            </a:pPr>
            <a:r>
              <a:rPr lang="en-US" sz="1300" i="1" dirty="0">
                <a:solidFill>
                  <a:srgbClr val="028090"/>
                </a:solidFill>
              </a:rPr>
              <a:t>Decision Tree classification report</a:t>
            </a:r>
            <a:endParaRPr lang="en-US" sz="13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457200" y="1005840"/>
          <a:ext cx="8229600" cy="1901952"/>
        </p:xfrm>
        <a:graphic>
          <a:graphicData uri="http://schemas.openxmlformats.org/drawingml/2006/table">
            <a:tbl>
              <a:tblPr/>
              <a:tblGrid>
                <a:gridCol w="1828800">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gridCol w="1188720">
                  <a:extLst>
                    <a:ext uri="{9D8B030D-6E8A-4147-A177-3AD203B41FA5}">
                      <a16:colId xmlns:a16="http://schemas.microsoft.com/office/drawing/2014/main" val="20002"/>
                    </a:ext>
                  </a:extLst>
                </a:gridCol>
                <a:gridCol w="1188720">
                  <a:extLst>
                    <a:ext uri="{9D8B030D-6E8A-4147-A177-3AD203B41FA5}">
                      <a16:colId xmlns:a16="http://schemas.microsoft.com/office/drawing/2014/main" val="20003"/>
                    </a:ext>
                  </a:extLst>
                </a:gridCol>
                <a:gridCol w="2834640">
                  <a:extLst>
                    <a:ext uri="{9D8B030D-6E8A-4147-A177-3AD203B41FA5}">
                      <a16:colId xmlns:a16="http://schemas.microsoft.com/office/drawing/2014/main" val="20004"/>
                    </a:ext>
                  </a:extLst>
                </a:gridCol>
              </a:tblGrid>
              <a:tr h="475488">
                <a:tc>
                  <a:txBody>
                    <a:bodyPr/>
                    <a:lstStyle/>
                    <a:p>
                      <a:pPr marL="0" indent="0">
                        <a:buNone/>
                      </a:pPr>
                      <a:r>
                        <a:rPr lang="en-US" sz="1300" b="1" dirty="0">
                          <a:solidFill>
                            <a:srgbClr val="FFFFFF"/>
                          </a:solidFill>
                        </a:rPr>
                        <a:t>Metric / Tier</a:t>
                      </a:r>
                      <a:endParaRPr lang="en-US" sz="1300" dirty="0"/>
                    </a:p>
                  </a:txBody>
                  <a:tcPr>
                    <a:lnL w="12700" cap="flat" cmpd="sng" algn="ctr">
                      <a:solidFill>
                        <a:srgbClr val="D1D9E6"/>
                      </a:solidFill>
                      <a:prstDash val="solid"/>
                      <a:round/>
                      <a:headEnd type="none" w="med" len="med"/>
                      <a:tailEnd type="none" w="med" len="med"/>
                    </a:lnL>
                    <a:lnR w="12700" cap="flat" cmpd="sng" algn="ctr">
                      <a:solidFill>
                        <a:srgbClr val="D1D9E6"/>
                      </a:solidFill>
                      <a:prstDash val="solid"/>
                      <a:round/>
                      <a:headEnd type="none" w="med" len="med"/>
                      <a:tailEnd type="none" w="med" len="med"/>
                    </a:lnR>
                    <a:lnT w="12700" cap="flat" cmpd="sng" algn="ctr">
                      <a:solidFill>
                        <a:srgbClr val="D1D9E6"/>
                      </a:solidFill>
                      <a:prstDash val="solid"/>
                      <a:round/>
                      <a:headEnd type="none" w="med" len="med"/>
                      <a:tailEnd type="none" w="med" len="med"/>
                    </a:lnT>
                    <a:lnB w="12700" cap="flat" cmpd="sng" algn="ctr">
                      <a:solidFill>
                        <a:srgbClr val="D1D9E6"/>
                      </a:solidFill>
                      <a:prstDash val="solid"/>
                      <a:round/>
                      <a:headEnd type="none" w="med" len="med"/>
                      <a:tailEnd type="none" w="med" len="med"/>
                    </a:lnB>
                    <a:solidFill>
                      <a:srgbClr val="1E2761"/>
                    </a:solidFill>
                  </a:tcPr>
                </a:tc>
                <a:tc>
                  <a:txBody>
                    <a:bodyPr/>
                    <a:lstStyle/>
                    <a:p>
                      <a:pPr marL="0" indent="0">
                        <a:buNone/>
                      </a:pPr>
                      <a:r>
                        <a:rPr lang="en-US" sz="1300" b="1" dirty="0">
                          <a:solidFill>
                            <a:srgbClr val="FFFFFF"/>
                          </a:solidFill>
                        </a:rPr>
                        <a:t>Precision</a:t>
                      </a:r>
                      <a:endParaRPr lang="en-US" sz="1300" dirty="0"/>
                    </a:p>
                  </a:txBody>
                  <a:tcPr>
                    <a:lnL w="12700" cap="flat" cmpd="sng" algn="ctr">
                      <a:solidFill>
                        <a:srgbClr val="D1D9E6"/>
                      </a:solidFill>
                      <a:prstDash val="solid"/>
                      <a:round/>
                      <a:headEnd type="none" w="med" len="med"/>
                      <a:tailEnd type="none" w="med" len="med"/>
                    </a:lnL>
                    <a:lnR w="12700" cap="flat" cmpd="sng" algn="ctr">
                      <a:solidFill>
                        <a:srgbClr val="D1D9E6"/>
                      </a:solidFill>
                      <a:prstDash val="solid"/>
                      <a:round/>
                      <a:headEnd type="none" w="med" len="med"/>
                      <a:tailEnd type="none" w="med" len="med"/>
                    </a:lnR>
                    <a:lnT w="12700" cap="flat" cmpd="sng" algn="ctr">
                      <a:solidFill>
                        <a:srgbClr val="D1D9E6"/>
                      </a:solidFill>
                      <a:prstDash val="solid"/>
                      <a:round/>
                      <a:headEnd type="none" w="med" len="med"/>
                      <a:tailEnd type="none" w="med" len="med"/>
                    </a:lnT>
                    <a:lnB w="12700" cap="flat" cmpd="sng" algn="ctr">
                      <a:solidFill>
                        <a:srgbClr val="D1D9E6"/>
                      </a:solidFill>
                      <a:prstDash val="solid"/>
                      <a:round/>
                      <a:headEnd type="none" w="med" len="med"/>
                      <a:tailEnd type="none" w="med" len="med"/>
                    </a:lnB>
                    <a:solidFill>
                      <a:srgbClr val="1E2761"/>
                    </a:solidFill>
                  </a:tcPr>
                </a:tc>
                <a:tc>
                  <a:txBody>
                    <a:bodyPr/>
                    <a:lstStyle/>
                    <a:p>
                      <a:pPr marL="0" indent="0">
                        <a:buNone/>
                      </a:pPr>
                      <a:r>
                        <a:rPr lang="en-US" sz="1300" b="1" dirty="0">
                          <a:solidFill>
                            <a:srgbClr val="FFFFFF"/>
                          </a:solidFill>
                        </a:rPr>
                        <a:t>Recall</a:t>
                      </a:r>
                      <a:endParaRPr lang="en-US" sz="1300" dirty="0"/>
                    </a:p>
                  </a:txBody>
                  <a:tcPr>
                    <a:lnL w="12700" cap="flat" cmpd="sng" algn="ctr">
                      <a:solidFill>
                        <a:srgbClr val="D1D9E6"/>
                      </a:solidFill>
                      <a:prstDash val="solid"/>
                      <a:round/>
                      <a:headEnd type="none" w="med" len="med"/>
                      <a:tailEnd type="none" w="med" len="med"/>
                    </a:lnL>
                    <a:lnR w="12700" cap="flat" cmpd="sng" algn="ctr">
                      <a:solidFill>
                        <a:srgbClr val="D1D9E6"/>
                      </a:solidFill>
                      <a:prstDash val="solid"/>
                      <a:round/>
                      <a:headEnd type="none" w="med" len="med"/>
                      <a:tailEnd type="none" w="med" len="med"/>
                    </a:lnR>
                    <a:lnT w="12700" cap="flat" cmpd="sng" algn="ctr">
                      <a:solidFill>
                        <a:srgbClr val="D1D9E6"/>
                      </a:solidFill>
                      <a:prstDash val="solid"/>
                      <a:round/>
                      <a:headEnd type="none" w="med" len="med"/>
                      <a:tailEnd type="none" w="med" len="med"/>
                    </a:lnT>
                    <a:lnB w="12700" cap="flat" cmpd="sng" algn="ctr">
                      <a:solidFill>
                        <a:srgbClr val="D1D9E6"/>
                      </a:solidFill>
                      <a:prstDash val="solid"/>
                      <a:round/>
                      <a:headEnd type="none" w="med" len="med"/>
                      <a:tailEnd type="none" w="med" len="med"/>
                    </a:lnB>
                    <a:solidFill>
                      <a:srgbClr val="1E2761"/>
                    </a:solidFill>
                  </a:tcPr>
                </a:tc>
                <a:tc>
                  <a:txBody>
                    <a:bodyPr/>
                    <a:lstStyle/>
                    <a:p>
                      <a:pPr marL="0" indent="0">
                        <a:buNone/>
                      </a:pPr>
                      <a:r>
                        <a:rPr lang="en-US" sz="1300" b="1" dirty="0">
                          <a:solidFill>
                            <a:srgbClr val="FFFFFF"/>
                          </a:solidFill>
                        </a:rPr>
                        <a:t>F1-Score</a:t>
                      </a:r>
                      <a:endParaRPr lang="en-US" sz="1300" dirty="0"/>
                    </a:p>
                  </a:txBody>
                  <a:tcPr>
                    <a:lnL w="12700" cap="flat" cmpd="sng" algn="ctr">
                      <a:solidFill>
                        <a:srgbClr val="D1D9E6"/>
                      </a:solidFill>
                      <a:prstDash val="solid"/>
                      <a:round/>
                      <a:headEnd type="none" w="med" len="med"/>
                      <a:tailEnd type="none" w="med" len="med"/>
                    </a:lnL>
                    <a:lnR w="12700" cap="flat" cmpd="sng" algn="ctr">
                      <a:solidFill>
                        <a:srgbClr val="D1D9E6"/>
                      </a:solidFill>
                      <a:prstDash val="solid"/>
                      <a:round/>
                      <a:headEnd type="none" w="med" len="med"/>
                      <a:tailEnd type="none" w="med" len="med"/>
                    </a:lnR>
                    <a:lnT w="12700" cap="flat" cmpd="sng" algn="ctr">
                      <a:solidFill>
                        <a:srgbClr val="D1D9E6"/>
                      </a:solidFill>
                      <a:prstDash val="solid"/>
                      <a:round/>
                      <a:headEnd type="none" w="med" len="med"/>
                      <a:tailEnd type="none" w="med" len="med"/>
                    </a:lnT>
                    <a:lnB w="12700" cap="flat" cmpd="sng" algn="ctr">
                      <a:solidFill>
                        <a:srgbClr val="D1D9E6"/>
                      </a:solidFill>
                      <a:prstDash val="solid"/>
                      <a:round/>
                      <a:headEnd type="none" w="med" len="med"/>
                      <a:tailEnd type="none" w="med" len="med"/>
                    </a:lnB>
                    <a:solidFill>
                      <a:srgbClr val="1E2761"/>
                    </a:solidFill>
                  </a:tcPr>
                </a:tc>
                <a:tc>
                  <a:txBody>
                    <a:bodyPr/>
                    <a:lstStyle/>
                    <a:p>
                      <a:pPr marL="0" indent="0">
                        <a:buNone/>
                      </a:pPr>
                      <a:r>
                        <a:rPr lang="en-US" sz="1300" b="1" dirty="0">
                          <a:solidFill>
                            <a:srgbClr val="FFFFFF"/>
                          </a:solidFill>
                        </a:rPr>
                        <a:t>Notes</a:t>
                      </a:r>
                      <a:endParaRPr lang="en-US" sz="1300" dirty="0"/>
                    </a:p>
                  </a:txBody>
                  <a:tcPr>
                    <a:lnL w="12700" cap="flat" cmpd="sng" algn="ctr">
                      <a:solidFill>
                        <a:srgbClr val="D1D9E6"/>
                      </a:solidFill>
                      <a:prstDash val="solid"/>
                      <a:round/>
                      <a:headEnd type="none" w="med" len="med"/>
                      <a:tailEnd type="none" w="med" len="med"/>
                    </a:lnL>
                    <a:lnR w="12700" cap="flat" cmpd="sng" algn="ctr">
                      <a:solidFill>
                        <a:srgbClr val="D1D9E6"/>
                      </a:solidFill>
                      <a:prstDash val="solid"/>
                      <a:round/>
                      <a:headEnd type="none" w="med" len="med"/>
                      <a:tailEnd type="none" w="med" len="med"/>
                    </a:lnR>
                    <a:lnT w="12700" cap="flat" cmpd="sng" algn="ctr">
                      <a:solidFill>
                        <a:srgbClr val="D1D9E6"/>
                      </a:solidFill>
                      <a:prstDash val="solid"/>
                      <a:round/>
                      <a:headEnd type="none" w="med" len="med"/>
                      <a:tailEnd type="none" w="med" len="med"/>
                    </a:lnT>
                    <a:lnB w="12700" cap="flat" cmpd="sng" algn="ctr">
                      <a:solidFill>
                        <a:srgbClr val="D1D9E6"/>
                      </a:solidFill>
                      <a:prstDash val="solid"/>
                      <a:round/>
                      <a:headEnd type="none" w="med" len="med"/>
                      <a:tailEnd type="none" w="med" len="med"/>
                    </a:lnB>
                    <a:solidFill>
                      <a:srgbClr val="1E2761"/>
                    </a:solidFill>
                  </a:tcPr>
                </a:tc>
                <a:extLst>
                  <a:ext uri="{0D108BD9-81ED-4DB2-BD59-A6C34878D82A}">
                    <a16:rowId xmlns:a16="http://schemas.microsoft.com/office/drawing/2014/main" val="10000"/>
                  </a:ext>
                </a:extLst>
              </a:tr>
              <a:tr h="475488">
                <a:tc>
                  <a:txBody>
                    <a:bodyPr/>
                    <a:lstStyle/>
                    <a:p>
                      <a:pPr marL="0" indent="0">
                        <a:buNone/>
                      </a:pPr>
                      <a:r>
                        <a:rPr lang="en-US" sz="1300" b="1" dirty="0">
                          <a:solidFill>
                            <a:srgbClr val="028090"/>
                          </a:solidFill>
                        </a:rPr>
                        <a:t>Low Discount</a:t>
                      </a:r>
                      <a:endParaRPr lang="en-US" sz="1300" dirty="0"/>
                    </a:p>
                  </a:txBody>
                  <a:tcPr>
                    <a:lnL w="12700" cap="flat" cmpd="sng" algn="ctr">
                      <a:solidFill>
                        <a:srgbClr val="D1D9E6"/>
                      </a:solidFill>
                      <a:prstDash val="solid"/>
                      <a:round/>
                      <a:headEnd type="none" w="med" len="med"/>
                      <a:tailEnd type="none" w="med" len="med"/>
                    </a:lnL>
                    <a:lnR w="12700" cap="flat" cmpd="sng" algn="ctr">
                      <a:solidFill>
                        <a:srgbClr val="D1D9E6"/>
                      </a:solidFill>
                      <a:prstDash val="solid"/>
                      <a:round/>
                      <a:headEnd type="none" w="med" len="med"/>
                      <a:tailEnd type="none" w="med" len="med"/>
                    </a:lnR>
                    <a:lnT w="12700" cap="flat" cmpd="sng" algn="ctr">
                      <a:solidFill>
                        <a:srgbClr val="D1D9E6"/>
                      </a:solidFill>
                      <a:prstDash val="solid"/>
                      <a:round/>
                      <a:headEnd type="none" w="med" len="med"/>
                      <a:tailEnd type="none" w="med" len="med"/>
                    </a:lnT>
                    <a:lnB w="12700" cap="flat" cmpd="sng" algn="ctr">
                      <a:solidFill>
                        <a:srgbClr val="D1D9E6"/>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rPr>
                        <a:t>Highest</a:t>
                      </a:r>
                      <a:endParaRPr lang="en-US" sz="1300" dirty="0"/>
                    </a:p>
                  </a:txBody>
                  <a:tcPr>
                    <a:lnL w="12700" cap="flat" cmpd="sng" algn="ctr">
                      <a:solidFill>
                        <a:srgbClr val="D1D9E6"/>
                      </a:solidFill>
                      <a:prstDash val="solid"/>
                      <a:round/>
                      <a:headEnd type="none" w="med" len="med"/>
                      <a:tailEnd type="none" w="med" len="med"/>
                    </a:lnL>
                    <a:lnR w="12700" cap="flat" cmpd="sng" algn="ctr">
                      <a:solidFill>
                        <a:srgbClr val="D1D9E6"/>
                      </a:solidFill>
                      <a:prstDash val="solid"/>
                      <a:round/>
                      <a:headEnd type="none" w="med" len="med"/>
                      <a:tailEnd type="none" w="med" len="med"/>
                    </a:lnR>
                    <a:lnT w="12700" cap="flat" cmpd="sng" algn="ctr">
                      <a:solidFill>
                        <a:srgbClr val="D1D9E6"/>
                      </a:solidFill>
                      <a:prstDash val="solid"/>
                      <a:round/>
                      <a:headEnd type="none" w="med" len="med"/>
                      <a:tailEnd type="none" w="med" len="med"/>
                    </a:lnT>
                    <a:lnB w="12700" cap="flat" cmpd="sng" algn="ctr">
                      <a:solidFill>
                        <a:srgbClr val="D1D9E6"/>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rPr>
                        <a:t>Highest</a:t>
                      </a:r>
                      <a:endParaRPr lang="en-US" sz="1300" dirty="0"/>
                    </a:p>
                  </a:txBody>
                  <a:tcPr>
                    <a:lnL w="12700" cap="flat" cmpd="sng" algn="ctr">
                      <a:solidFill>
                        <a:srgbClr val="D1D9E6"/>
                      </a:solidFill>
                      <a:prstDash val="solid"/>
                      <a:round/>
                      <a:headEnd type="none" w="med" len="med"/>
                      <a:tailEnd type="none" w="med" len="med"/>
                    </a:lnL>
                    <a:lnR w="12700" cap="flat" cmpd="sng" algn="ctr">
                      <a:solidFill>
                        <a:srgbClr val="D1D9E6"/>
                      </a:solidFill>
                      <a:prstDash val="solid"/>
                      <a:round/>
                      <a:headEnd type="none" w="med" len="med"/>
                      <a:tailEnd type="none" w="med" len="med"/>
                    </a:lnR>
                    <a:lnT w="12700" cap="flat" cmpd="sng" algn="ctr">
                      <a:solidFill>
                        <a:srgbClr val="D1D9E6"/>
                      </a:solidFill>
                      <a:prstDash val="solid"/>
                      <a:round/>
                      <a:headEnd type="none" w="med" len="med"/>
                      <a:tailEnd type="none" w="med" len="med"/>
                    </a:lnT>
                    <a:lnB w="12700" cap="flat" cmpd="sng" algn="ctr">
                      <a:solidFill>
                        <a:srgbClr val="D1D9E6"/>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rPr>
                        <a:t>Highest</a:t>
                      </a:r>
                      <a:endParaRPr lang="en-US" sz="1300" dirty="0"/>
                    </a:p>
                  </a:txBody>
                  <a:tcPr>
                    <a:lnL w="12700" cap="flat" cmpd="sng" algn="ctr">
                      <a:solidFill>
                        <a:srgbClr val="D1D9E6"/>
                      </a:solidFill>
                      <a:prstDash val="solid"/>
                      <a:round/>
                      <a:headEnd type="none" w="med" len="med"/>
                      <a:tailEnd type="none" w="med" len="med"/>
                    </a:lnL>
                    <a:lnR w="12700" cap="flat" cmpd="sng" algn="ctr">
                      <a:solidFill>
                        <a:srgbClr val="D1D9E6"/>
                      </a:solidFill>
                      <a:prstDash val="solid"/>
                      <a:round/>
                      <a:headEnd type="none" w="med" len="med"/>
                      <a:tailEnd type="none" w="med" len="med"/>
                    </a:lnR>
                    <a:lnT w="12700" cap="flat" cmpd="sng" algn="ctr">
                      <a:solidFill>
                        <a:srgbClr val="D1D9E6"/>
                      </a:solidFill>
                      <a:prstDash val="solid"/>
                      <a:round/>
                      <a:headEnd type="none" w="med" len="med"/>
                      <a:tailEnd type="none" w="med" len="med"/>
                    </a:lnT>
                    <a:lnB w="12700" cap="flat" cmpd="sng" algn="ctr">
                      <a:solidFill>
                        <a:srgbClr val="D1D9E6"/>
                      </a:solidFill>
                      <a:prstDash val="solid"/>
                      <a:round/>
                      <a:headEnd type="none" w="med" len="med"/>
                      <a:tailEnd type="none" w="med" len="med"/>
                    </a:lnB>
                    <a:solidFill>
                      <a:srgbClr val="FFFFFF"/>
                    </a:solidFill>
                  </a:tcPr>
                </a:tc>
                <a:tc>
                  <a:txBody>
                    <a:bodyPr/>
                    <a:lstStyle/>
                    <a:p>
                      <a:pPr marL="0" indent="0">
                        <a:buNone/>
                      </a:pPr>
                      <a:r>
                        <a:rPr lang="en-US" sz="1200" dirty="0">
                          <a:solidFill>
                            <a:srgbClr val="64748B"/>
                          </a:solidFill>
                        </a:rPr>
                        <a:t>Minimal misclassifications</a:t>
                      </a:r>
                      <a:endParaRPr lang="en-US" sz="1200" dirty="0"/>
                    </a:p>
                  </a:txBody>
                  <a:tcPr>
                    <a:lnL w="12700" cap="flat" cmpd="sng" algn="ctr">
                      <a:solidFill>
                        <a:srgbClr val="D1D9E6"/>
                      </a:solidFill>
                      <a:prstDash val="solid"/>
                      <a:round/>
                      <a:headEnd type="none" w="med" len="med"/>
                      <a:tailEnd type="none" w="med" len="med"/>
                    </a:lnL>
                    <a:lnR w="12700" cap="flat" cmpd="sng" algn="ctr">
                      <a:solidFill>
                        <a:srgbClr val="D1D9E6"/>
                      </a:solidFill>
                      <a:prstDash val="solid"/>
                      <a:round/>
                      <a:headEnd type="none" w="med" len="med"/>
                      <a:tailEnd type="none" w="med" len="med"/>
                    </a:lnR>
                    <a:lnT w="12700" cap="flat" cmpd="sng" algn="ctr">
                      <a:solidFill>
                        <a:srgbClr val="D1D9E6"/>
                      </a:solidFill>
                      <a:prstDash val="solid"/>
                      <a:round/>
                      <a:headEnd type="none" w="med" len="med"/>
                      <a:tailEnd type="none" w="med" len="med"/>
                    </a:lnT>
                    <a:lnB w="12700" cap="flat" cmpd="sng" algn="ctr">
                      <a:solidFill>
                        <a:srgbClr val="D1D9E6"/>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75488">
                <a:tc>
                  <a:txBody>
                    <a:bodyPr/>
                    <a:lstStyle/>
                    <a:p>
                      <a:pPr marL="0" indent="0">
                        <a:buNone/>
                      </a:pPr>
                      <a:r>
                        <a:rPr lang="en-US" sz="1300" b="1" dirty="0">
                          <a:solidFill>
                            <a:srgbClr val="243380"/>
                          </a:solidFill>
                        </a:rPr>
                        <a:t>Medium Discount</a:t>
                      </a:r>
                      <a:endParaRPr lang="en-US" sz="1300" dirty="0"/>
                    </a:p>
                  </a:txBody>
                  <a:tcPr>
                    <a:lnL w="12700" cap="flat" cmpd="sng" algn="ctr">
                      <a:solidFill>
                        <a:srgbClr val="D1D9E6"/>
                      </a:solidFill>
                      <a:prstDash val="solid"/>
                      <a:round/>
                      <a:headEnd type="none" w="med" len="med"/>
                      <a:tailEnd type="none" w="med" len="med"/>
                    </a:lnL>
                    <a:lnR w="12700" cap="flat" cmpd="sng" algn="ctr">
                      <a:solidFill>
                        <a:srgbClr val="D1D9E6"/>
                      </a:solidFill>
                      <a:prstDash val="solid"/>
                      <a:round/>
                      <a:headEnd type="none" w="med" len="med"/>
                      <a:tailEnd type="none" w="med" len="med"/>
                    </a:lnR>
                    <a:lnT w="12700" cap="flat" cmpd="sng" algn="ctr">
                      <a:solidFill>
                        <a:srgbClr val="D1D9E6"/>
                      </a:solidFill>
                      <a:prstDash val="solid"/>
                      <a:round/>
                      <a:headEnd type="none" w="med" len="med"/>
                      <a:tailEnd type="none" w="med" len="med"/>
                    </a:lnT>
                    <a:lnB w="12700" cap="flat" cmpd="sng" algn="ctr">
                      <a:solidFill>
                        <a:srgbClr val="D1D9E6"/>
                      </a:solidFill>
                      <a:prstDash val="solid"/>
                      <a:round/>
                      <a:headEnd type="none" w="med" len="med"/>
                      <a:tailEnd type="none" w="med" len="med"/>
                    </a:lnB>
                    <a:solidFill>
                      <a:srgbClr val="EEF3FA"/>
                    </a:solidFill>
                  </a:tcPr>
                </a:tc>
                <a:tc>
                  <a:txBody>
                    <a:bodyPr/>
                    <a:lstStyle/>
                    <a:p>
                      <a:pPr marL="0" indent="0">
                        <a:buNone/>
                      </a:pPr>
                      <a:r>
                        <a:rPr lang="en-US" sz="1300" dirty="0">
                          <a:solidFill>
                            <a:srgbClr val="334155"/>
                          </a:solidFill>
                        </a:rPr>
                        <a:t>Moderate</a:t>
                      </a:r>
                      <a:endParaRPr lang="en-US" sz="1300" dirty="0"/>
                    </a:p>
                  </a:txBody>
                  <a:tcPr>
                    <a:lnL w="12700" cap="flat" cmpd="sng" algn="ctr">
                      <a:solidFill>
                        <a:srgbClr val="D1D9E6"/>
                      </a:solidFill>
                      <a:prstDash val="solid"/>
                      <a:round/>
                      <a:headEnd type="none" w="med" len="med"/>
                      <a:tailEnd type="none" w="med" len="med"/>
                    </a:lnL>
                    <a:lnR w="12700" cap="flat" cmpd="sng" algn="ctr">
                      <a:solidFill>
                        <a:srgbClr val="D1D9E6"/>
                      </a:solidFill>
                      <a:prstDash val="solid"/>
                      <a:round/>
                      <a:headEnd type="none" w="med" len="med"/>
                      <a:tailEnd type="none" w="med" len="med"/>
                    </a:lnR>
                    <a:lnT w="12700" cap="flat" cmpd="sng" algn="ctr">
                      <a:solidFill>
                        <a:srgbClr val="D1D9E6"/>
                      </a:solidFill>
                      <a:prstDash val="solid"/>
                      <a:round/>
                      <a:headEnd type="none" w="med" len="med"/>
                      <a:tailEnd type="none" w="med" len="med"/>
                    </a:lnT>
                    <a:lnB w="12700" cap="flat" cmpd="sng" algn="ctr">
                      <a:solidFill>
                        <a:srgbClr val="D1D9E6"/>
                      </a:solidFill>
                      <a:prstDash val="solid"/>
                      <a:round/>
                      <a:headEnd type="none" w="med" len="med"/>
                      <a:tailEnd type="none" w="med" len="med"/>
                    </a:lnB>
                    <a:solidFill>
                      <a:srgbClr val="EEF3FA"/>
                    </a:solidFill>
                  </a:tcPr>
                </a:tc>
                <a:tc>
                  <a:txBody>
                    <a:bodyPr/>
                    <a:lstStyle/>
                    <a:p>
                      <a:pPr marL="0" indent="0">
                        <a:buNone/>
                      </a:pPr>
                      <a:r>
                        <a:rPr lang="en-US" sz="1300" dirty="0">
                          <a:solidFill>
                            <a:srgbClr val="334155"/>
                          </a:solidFill>
                        </a:rPr>
                        <a:t>Moderate</a:t>
                      </a:r>
                      <a:endParaRPr lang="en-US" sz="1300" dirty="0"/>
                    </a:p>
                  </a:txBody>
                  <a:tcPr>
                    <a:lnL w="12700" cap="flat" cmpd="sng" algn="ctr">
                      <a:solidFill>
                        <a:srgbClr val="D1D9E6"/>
                      </a:solidFill>
                      <a:prstDash val="solid"/>
                      <a:round/>
                      <a:headEnd type="none" w="med" len="med"/>
                      <a:tailEnd type="none" w="med" len="med"/>
                    </a:lnL>
                    <a:lnR w="12700" cap="flat" cmpd="sng" algn="ctr">
                      <a:solidFill>
                        <a:srgbClr val="D1D9E6"/>
                      </a:solidFill>
                      <a:prstDash val="solid"/>
                      <a:round/>
                      <a:headEnd type="none" w="med" len="med"/>
                      <a:tailEnd type="none" w="med" len="med"/>
                    </a:lnR>
                    <a:lnT w="12700" cap="flat" cmpd="sng" algn="ctr">
                      <a:solidFill>
                        <a:srgbClr val="D1D9E6"/>
                      </a:solidFill>
                      <a:prstDash val="solid"/>
                      <a:round/>
                      <a:headEnd type="none" w="med" len="med"/>
                      <a:tailEnd type="none" w="med" len="med"/>
                    </a:lnT>
                    <a:lnB w="12700" cap="flat" cmpd="sng" algn="ctr">
                      <a:solidFill>
                        <a:srgbClr val="D1D9E6"/>
                      </a:solidFill>
                      <a:prstDash val="solid"/>
                      <a:round/>
                      <a:headEnd type="none" w="med" len="med"/>
                      <a:tailEnd type="none" w="med" len="med"/>
                    </a:lnB>
                    <a:solidFill>
                      <a:srgbClr val="EEF3FA"/>
                    </a:solidFill>
                  </a:tcPr>
                </a:tc>
                <a:tc>
                  <a:txBody>
                    <a:bodyPr/>
                    <a:lstStyle/>
                    <a:p>
                      <a:pPr marL="0" indent="0">
                        <a:buNone/>
                      </a:pPr>
                      <a:r>
                        <a:rPr lang="en-US" sz="1300" dirty="0">
                          <a:solidFill>
                            <a:srgbClr val="334155"/>
                          </a:solidFill>
                        </a:rPr>
                        <a:t>Moderate</a:t>
                      </a:r>
                      <a:endParaRPr lang="en-US" sz="1300" dirty="0"/>
                    </a:p>
                  </a:txBody>
                  <a:tcPr>
                    <a:lnL w="12700" cap="flat" cmpd="sng" algn="ctr">
                      <a:solidFill>
                        <a:srgbClr val="D1D9E6"/>
                      </a:solidFill>
                      <a:prstDash val="solid"/>
                      <a:round/>
                      <a:headEnd type="none" w="med" len="med"/>
                      <a:tailEnd type="none" w="med" len="med"/>
                    </a:lnL>
                    <a:lnR w="12700" cap="flat" cmpd="sng" algn="ctr">
                      <a:solidFill>
                        <a:srgbClr val="D1D9E6"/>
                      </a:solidFill>
                      <a:prstDash val="solid"/>
                      <a:round/>
                      <a:headEnd type="none" w="med" len="med"/>
                      <a:tailEnd type="none" w="med" len="med"/>
                    </a:lnR>
                    <a:lnT w="12700" cap="flat" cmpd="sng" algn="ctr">
                      <a:solidFill>
                        <a:srgbClr val="D1D9E6"/>
                      </a:solidFill>
                      <a:prstDash val="solid"/>
                      <a:round/>
                      <a:headEnd type="none" w="med" len="med"/>
                      <a:tailEnd type="none" w="med" len="med"/>
                    </a:lnT>
                    <a:lnB w="12700" cap="flat" cmpd="sng" algn="ctr">
                      <a:solidFill>
                        <a:srgbClr val="D1D9E6"/>
                      </a:solidFill>
                      <a:prstDash val="solid"/>
                      <a:round/>
                      <a:headEnd type="none" w="med" len="med"/>
                      <a:tailEnd type="none" w="med" len="med"/>
                    </a:lnB>
                    <a:solidFill>
                      <a:srgbClr val="EEF3FA"/>
                    </a:solidFill>
                  </a:tcPr>
                </a:tc>
                <a:tc>
                  <a:txBody>
                    <a:bodyPr/>
                    <a:lstStyle/>
                    <a:p>
                      <a:pPr marL="0" indent="0">
                        <a:buNone/>
                      </a:pPr>
                      <a:r>
                        <a:rPr lang="en-US" sz="1200" dirty="0">
                          <a:solidFill>
                            <a:srgbClr val="64748B"/>
                          </a:solidFill>
                        </a:rPr>
                        <a:t>Boundary confusion with adjacent tiers</a:t>
                      </a:r>
                      <a:endParaRPr lang="en-US" sz="1200" dirty="0"/>
                    </a:p>
                  </a:txBody>
                  <a:tcPr>
                    <a:lnL w="12700" cap="flat" cmpd="sng" algn="ctr">
                      <a:solidFill>
                        <a:srgbClr val="D1D9E6"/>
                      </a:solidFill>
                      <a:prstDash val="solid"/>
                      <a:round/>
                      <a:headEnd type="none" w="med" len="med"/>
                      <a:tailEnd type="none" w="med" len="med"/>
                    </a:lnL>
                    <a:lnR w="12700" cap="flat" cmpd="sng" algn="ctr">
                      <a:solidFill>
                        <a:srgbClr val="D1D9E6"/>
                      </a:solidFill>
                      <a:prstDash val="solid"/>
                      <a:round/>
                      <a:headEnd type="none" w="med" len="med"/>
                      <a:tailEnd type="none" w="med" len="med"/>
                    </a:lnR>
                    <a:lnT w="12700" cap="flat" cmpd="sng" algn="ctr">
                      <a:solidFill>
                        <a:srgbClr val="D1D9E6"/>
                      </a:solidFill>
                      <a:prstDash val="solid"/>
                      <a:round/>
                      <a:headEnd type="none" w="med" len="med"/>
                      <a:tailEnd type="none" w="med" len="med"/>
                    </a:lnT>
                    <a:lnB w="12700" cap="flat" cmpd="sng" algn="ctr">
                      <a:solidFill>
                        <a:srgbClr val="D1D9E6"/>
                      </a:solidFill>
                      <a:prstDash val="solid"/>
                      <a:round/>
                      <a:headEnd type="none" w="med" len="med"/>
                      <a:tailEnd type="none" w="med" len="med"/>
                    </a:lnB>
                    <a:solidFill>
                      <a:srgbClr val="EEF3FA"/>
                    </a:solidFill>
                  </a:tcPr>
                </a:tc>
                <a:extLst>
                  <a:ext uri="{0D108BD9-81ED-4DB2-BD59-A6C34878D82A}">
                    <a16:rowId xmlns:a16="http://schemas.microsoft.com/office/drawing/2014/main" val="10002"/>
                  </a:ext>
                </a:extLst>
              </a:tr>
              <a:tr h="475488">
                <a:tc>
                  <a:txBody>
                    <a:bodyPr/>
                    <a:lstStyle/>
                    <a:p>
                      <a:pPr marL="0" indent="0">
                        <a:buNone/>
                      </a:pPr>
                      <a:r>
                        <a:rPr lang="en-US" sz="1300" b="1" dirty="0">
                          <a:solidFill>
                            <a:srgbClr val="1E2761"/>
                          </a:solidFill>
                        </a:rPr>
                        <a:t>High Discount</a:t>
                      </a:r>
                      <a:endParaRPr lang="en-US" sz="1300" dirty="0"/>
                    </a:p>
                  </a:txBody>
                  <a:tcPr>
                    <a:lnL w="12700" cap="flat" cmpd="sng" algn="ctr">
                      <a:solidFill>
                        <a:srgbClr val="D1D9E6"/>
                      </a:solidFill>
                      <a:prstDash val="solid"/>
                      <a:round/>
                      <a:headEnd type="none" w="med" len="med"/>
                      <a:tailEnd type="none" w="med" len="med"/>
                    </a:lnL>
                    <a:lnR w="12700" cap="flat" cmpd="sng" algn="ctr">
                      <a:solidFill>
                        <a:srgbClr val="D1D9E6"/>
                      </a:solidFill>
                      <a:prstDash val="solid"/>
                      <a:round/>
                      <a:headEnd type="none" w="med" len="med"/>
                      <a:tailEnd type="none" w="med" len="med"/>
                    </a:lnR>
                    <a:lnT w="12700" cap="flat" cmpd="sng" algn="ctr">
                      <a:solidFill>
                        <a:srgbClr val="D1D9E6"/>
                      </a:solidFill>
                      <a:prstDash val="solid"/>
                      <a:round/>
                      <a:headEnd type="none" w="med" len="med"/>
                      <a:tailEnd type="none" w="med" len="med"/>
                    </a:lnT>
                    <a:lnB w="12700" cap="flat" cmpd="sng" algn="ctr">
                      <a:solidFill>
                        <a:srgbClr val="D1D9E6"/>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rPr>
                        <a:t>High</a:t>
                      </a:r>
                      <a:endParaRPr lang="en-US" sz="1300" dirty="0"/>
                    </a:p>
                  </a:txBody>
                  <a:tcPr>
                    <a:lnL w="12700" cap="flat" cmpd="sng" algn="ctr">
                      <a:solidFill>
                        <a:srgbClr val="D1D9E6"/>
                      </a:solidFill>
                      <a:prstDash val="solid"/>
                      <a:round/>
                      <a:headEnd type="none" w="med" len="med"/>
                      <a:tailEnd type="none" w="med" len="med"/>
                    </a:lnL>
                    <a:lnR w="12700" cap="flat" cmpd="sng" algn="ctr">
                      <a:solidFill>
                        <a:srgbClr val="D1D9E6"/>
                      </a:solidFill>
                      <a:prstDash val="solid"/>
                      <a:round/>
                      <a:headEnd type="none" w="med" len="med"/>
                      <a:tailEnd type="none" w="med" len="med"/>
                    </a:lnR>
                    <a:lnT w="12700" cap="flat" cmpd="sng" algn="ctr">
                      <a:solidFill>
                        <a:srgbClr val="D1D9E6"/>
                      </a:solidFill>
                      <a:prstDash val="solid"/>
                      <a:round/>
                      <a:headEnd type="none" w="med" len="med"/>
                      <a:tailEnd type="none" w="med" len="med"/>
                    </a:lnT>
                    <a:lnB w="12700" cap="flat" cmpd="sng" algn="ctr">
                      <a:solidFill>
                        <a:srgbClr val="D1D9E6"/>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rPr>
                        <a:t>High</a:t>
                      </a:r>
                      <a:endParaRPr lang="en-US" sz="1300" dirty="0"/>
                    </a:p>
                  </a:txBody>
                  <a:tcPr>
                    <a:lnL w="12700" cap="flat" cmpd="sng" algn="ctr">
                      <a:solidFill>
                        <a:srgbClr val="D1D9E6"/>
                      </a:solidFill>
                      <a:prstDash val="solid"/>
                      <a:round/>
                      <a:headEnd type="none" w="med" len="med"/>
                      <a:tailEnd type="none" w="med" len="med"/>
                    </a:lnL>
                    <a:lnR w="12700" cap="flat" cmpd="sng" algn="ctr">
                      <a:solidFill>
                        <a:srgbClr val="D1D9E6"/>
                      </a:solidFill>
                      <a:prstDash val="solid"/>
                      <a:round/>
                      <a:headEnd type="none" w="med" len="med"/>
                      <a:tailEnd type="none" w="med" len="med"/>
                    </a:lnR>
                    <a:lnT w="12700" cap="flat" cmpd="sng" algn="ctr">
                      <a:solidFill>
                        <a:srgbClr val="D1D9E6"/>
                      </a:solidFill>
                      <a:prstDash val="solid"/>
                      <a:round/>
                      <a:headEnd type="none" w="med" len="med"/>
                      <a:tailEnd type="none" w="med" len="med"/>
                    </a:lnT>
                    <a:lnB w="12700" cap="flat" cmpd="sng" algn="ctr">
                      <a:solidFill>
                        <a:srgbClr val="D1D9E6"/>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rPr>
                        <a:t>High</a:t>
                      </a:r>
                      <a:endParaRPr lang="en-US" sz="1300" dirty="0"/>
                    </a:p>
                  </a:txBody>
                  <a:tcPr>
                    <a:lnL w="12700" cap="flat" cmpd="sng" algn="ctr">
                      <a:solidFill>
                        <a:srgbClr val="D1D9E6"/>
                      </a:solidFill>
                      <a:prstDash val="solid"/>
                      <a:round/>
                      <a:headEnd type="none" w="med" len="med"/>
                      <a:tailEnd type="none" w="med" len="med"/>
                    </a:lnL>
                    <a:lnR w="12700" cap="flat" cmpd="sng" algn="ctr">
                      <a:solidFill>
                        <a:srgbClr val="D1D9E6"/>
                      </a:solidFill>
                      <a:prstDash val="solid"/>
                      <a:round/>
                      <a:headEnd type="none" w="med" len="med"/>
                      <a:tailEnd type="none" w="med" len="med"/>
                    </a:lnR>
                    <a:lnT w="12700" cap="flat" cmpd="sng" algn="ctr">
                      <a:solidFill>
                        <a:srgbClr val="D1D9E6"/>
                      </a:solidFill>
                      <a:prstDash val="solid"/>
                      <a:round/>
                      <a:headEnd type="none" w="med" len="med"/>
                      <a:tailEnd type="none" w="med" len="med"/>
                    </a:lnT>
                    <a:lnB w="12700" cap="flat" cmpd="sng" algn="ctr">
                      <a:solidFill>
                        <a:srgbClr val="D1D9E6"/>
                      </a:solidFill>
                      <a:prstDash val="solid"/>
                      <a:round/>
                      <a:headEnd type="none" w="med" len="med"/>
                      <a:tailEnd type="none" w="med" len="med"/>
                    </a:lnB>
                    <a:solidFill>
                      <a:srgbClr val="FFFFFF"/>
                    </a:solidFill>
                  </a:tcPr>
                </a:tc>
                <a:tc>
                  <a:txBody>
                    <a:bodyPr/>
                    <a:lstStyle/>
                    <a:p>
                      <a:pPr marL="0" indent="0">
                        <a:buNone/>
                      </a:pPr>
                      <a:r>
                        <a:rPr lang="en-US" sz="1200" dirty="0">
                          <a:solidFill>
                            <a:srgbClr val="64748B"/>
                          </a:solidFill>
                        </a:rPr>
                        <a:t>Minor overlap with Medium Discount</a:t>
                      </a:r>
                      <a:endParaRPr lang="en-US" sz="1200" dirty="0"/>
                    </a:p>
                  </a:txBody>
                  <a:tcPr>
                    <a:lnL w="12700" cap="flat" cmpd="sng" algn="ctr">
                      <a:solidFill>
                        <a:srgbClr val="D1D9E6"/>
                      </a:solidFill>
                      <a:prstDash val="solid"/>
                      <a:round/>
                      <a:headEnd type="none" w="med" len="med"/>
                      <a:tailEnd type="none" w="med" len="med"/>
                    </a:lnL>
                    <a:lnR w="12700" cap="flat" cmpd="sng" algn="ctr">
                      <a:solidFill>
                        <a:srgbClr val="D1D9E6"/>
                      </a:solidFill>
                      <a:prstDash val="solid"/>
                      <a:round/>
                      <a:headEnd type="none" w="med" len="med"/>
                      <a:tailEnd type="none" w="med" len="med"/>
                    </a:lnR>
                    <a:lnT w="12700" cap="flat" cmpd="sng" algn="ctr">
                      <a:solidFill>
                        <a:srgbClr val="D1D9E6"/>
                      </a:solidFill>
                      <a:prstDash val="solid"/>
                      <a:round/>
                      <a:headEnd type="none" w="med" len="med"/>
                      <a:tailEnd type="none" w="med" len="med"/>
                    </a:lnT>
                    <a:lnB w="12700" cap="flat" cmpd="sng" algn="ctr">
                      <a:solidFill>
                        <a:srgbClr val="D1D9E6"/>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6" name="Text 3"/>
          <p:cNvSpPr/>
          <p:nvPr/>
        </p:nvSpPr>
        <p:spPr>
          <a:xfrm>
            <a:off x="457200" y="3108960"/>
            <a:ext cx="8229600" cy="347472"/>
          </a:xfrm>
          <a:prstGeom prst="rect">
            <a:avLst/>
          </a:prstGeom>
          <a:noFill/>
          <a:ln/>
        </p:spPr>
        <p:txBody>
          <a:bodyPr wrap="square" rtlCol="0" anchor="ctr"/>
          <a:lstStyle/>
          <a:p>
            <a:pPr marL="0" indent="0" algn="ctr">
              <a:buNone/>
            </a:pPr>
            <a:r>
              <a:rPr lang="en-US" sz="1400" b="1" dirty="0">
                <a:solidFill>
                  <a:srgbClr val="028090"/>
                </a:solidFill>
              </a:rPr>
              <a:t>Overall Accuracy: High  •  Validated via classification report</a:t>
            </a:r>
            <a:endParaRPr lang="en-US" sz="1400" dirty="0"/>
          </a:p>
        </p:txBody>
      </p:sp>
      <p:sp>
        <p:nvSpPr>
          <p:cNvPr id="7" name="Shape 4"/>
          <p:cNvSpPr/>
          <p:nvPr/>
        </p:nvSpPr>
        <p:spPr>
          <a:xfrm>
            <a:off x="457200" y="3566160"/>
            <a:ext cx="3931920" cy="1005840"/>
          </a:xfrm>
          <a:prstGeom prst="rect">
            <a:avLst/>
          </a:prstGeom>
          <a:solidFill>
            <a:srgbClr val="FFFFFF"/>
          </a:solidFill>
          <a:ln w="12700">
            <a:solidFill>
              <a:srgbClr val="CADCFC"/>
            </a:solidFill>
            <a:prstDash val="solid"/>
          </a:ln>
          <a:effectLst>
            <a:outerShdw blurRad="101600" dist="38100" dir="8100000" algn="bl" rotWithShape="0">
              <a:srgbClr val="1E2761">
                <a:alpha val="15000"/>
              </a:srgbClr>
            </a:outerShdw>
          </a:effectLst>
        </p:spPr>
        <p:txBody>
          <a:bodyPr/>
          <a:lstStyle/>
          <a:p>
            <a:endParaRPr lang="en-US"/>
          </a:p>
        </p:txBody>
      </p:sp>
      <p:sp>
        <p:nvSpPr>
          <p:cNvPr id="8" name="Text 5"/>
          <p:cNvSpPr/>
          <p:nvPr/>
        </p:nvSpPr>
        <p:spPr>
          <a:xfrm>
            <a:off x="594360" y="3621024"/>
            <a:ext cx="3657600" cy="274320"/>
          </a:xfrm>
          <a:prstGeom prst="rect">
            <a:avLst/>
          </a:prstGeom>
          <a:noFill/>
          <a:ln/>
        </p:spPr>
        <p:txBody>
          <a:bodyPr wrap="square" rtlCol="0" anchor="ctr"/>
          <a:lstStyle/>
          <a:p>
            <a:pPr marL="0" indent="0">
              <a:buNone/>
            </a:pPr>
            <a:r>
              <a:rPr lang="en-US" sz="1300" b="1" dirty="0">
                <a:solidFill>
                  <a:srgbClr val="1E2761"/>
                </a:solidFill>
              </a:rPr>
              <a:t>Error Pattern</a:t>
            </a:r>
            <a:endParaRPr lang="en-US" sz="1300" dirty="0"/>
          </a:p>
        </p:txBody>
      </p:sp>
      <p:sp>
        <p:nvSpPr>
          <p:cNvPr id="9" name="Text 6"/>
          <p:cNvSpPr/>
          <p:nvPr/>
        </p:nvSpPr>
        <p:spPr>
          <a:xfrm>
            <a:off x="594360" y="3931920"/>
            <a:ext cx="3657600" cy="594360"/>
          </a:xfrm>
          <a:prstGeom prst="rect">
            <a:avLst/>
          </a:prstGeom>
          <a:noFill/>
          <a:ln/>
        </p:spPr>
        <p:txBody>
          <a:bodyPr wrap="square" rtlCol="0" anchor="ctr"/>
          <a:lstStyle/>
          <a:p>
            <a:pPr marL="0" indent="0">
              <a:buNone/>
            </a:pPr>
            <a:r>
              <a:rPr lang="en-US" sz="1200" dirty="0">
                <a:solidFill>
                  <a:srgbClr val="334155"/>
                </a:solidFill>
              </a:rPr>
              <a:t>Prediction errors occur primarily between adjacent tiers (Medium ↔ High or Medium ↔ Low) — expected given the continuous nature of discount sensitivity.</a:t>
            </a:r>
            <a:endParaRPr lang="en-US" sz="1200" dirty="0"/>
          </a:p>
        </p:txBody>
      </p:sp>
      <p:sp>
        <p:nvSpPr>
          <p:cNvPr id="10" name="Shape 7"/>
          <p:cNvSpPr/>
          <p:nvPr/>
        </p:nvSpPr>
        <p:spPr>
          <a:xfrm>
            <a:off x="4663440" y="3566160"/>
            <a:ext cx="4114800" cy="1005840"/>
          </a:xfrm>
          <a:prstGeom prst="rect">
            <a:avLst/>
          </a:prstGeom>
          <a:solidFill>
            <a:srgbClr val="028090"/>
          </a:solidFill>
          <a:ln w="12700">
            <a:solidFill>
              <a:srgbClr val="028090"/>
            </a:solidFill>
            <a:prstDash val="solid"/>
          </a:ln>
          <a:effectLst>
            <a:outerShdw blurRad="101600" dist="38100" dir="8100000" algn="bl" rotWithShape="0">
              <a:srgbClr val="1E2761">
                <a:alpha val="15000"/>
              </a:srgbClr>
            </a:outerShdw>
          </a:effectLst>
        </p:spPr>
        <p:txBody>
          <a:bodyPr/>
          <a:lstStyle/>
          <a:p>
            <a:endParaRPr lang="en-US"/>
          </a:p>
        </p:txBody>
      </p:sp>
      <p:sp>
        <p:nvSpPr>
          <p:cNvPr id="11" name="Text 8"/>
          <p:cNvSpPr/>
          <p:nvPr/>
        </p:nvSpPr>
        <p:spPr>
          <a:xfrm>
            <a:off x="4800600" y="3621024"/>
            <a:ext cx="3840480" cy="274320"/>
          </a:xfrm>
          <a:prstGeom prst="rect">
            <a:avLst/>
          </a:prstGeom>
          <a:noFill/>
          <a:ln/>
        </p:spPr>
        <p:txBody>
          <a:bodyPr wrap="square" rtlCol="0" anchor="ctr"/>
          <a:lstStyle/>
          <a:p>
            <a:pPr marL="0" indent="0">
              <a:buNone/>
            </a:pPr>
            <a:r>
              <a:rPr lang="en-US" sz="1300" b="1" dirty="0">
                <a:solidFill>
                  <a:srgbClr val="FFFFFF"/>
                </a:solidFill>
              </a:rPr>
              <a:t>Model Validation</a:t>
            </a:r>
            <a:endParaRPr lang="en-US" sz="1300" dirty="0"/>
          </a:p>
        </p:txBody>
      </p:sp>
      <p:sp>
        <p:nvSpPr>
          <p:cNvPr id="12" name="Text 9"/>
          <p:cNvSpPr/>
          <p:nvPr/>
        </p:nvSpPr>
        <p:spPr>
          <a:xfrm>
            <a:off x="4800600" y="3931920"/>
            <a:ext cx="3840480" cy="594360"/>
          </a:xfrm>
          <a:prstGeom prst="rect">
            <a:avLst/>
          </a:prstGeom>
          <a:noFill/>
          <a:ln/>
        </p:spPr>
        <p:txBody>
          <a:bodyPr wrap="square" rtlCol="0" anchor="ctr"/>
          <a:lstStyle/>
          <a:p>
            <a:pPr marL="0" indent="0">
              <a:buNone/>
            </a:pPr>
            <a:r>
              <a:rPr lang="en-US" sz="1200" dirty="0">
                <a:solidFill>
                  <a:srgbClr val="CADCFC"/>
                </a:solidFill>
              </a:rPr>
              <a:t>The model successfully captures key behavioral boundaries separating discount tiers. Confusion matrix confirms high diagonal density.</a:t>
            </a:r>
            <a:endParaRPr lang="en-US" sz="1200" dirty="0"/>
          </a:p>
        </p:txBody>
      </p:sp>
      <p:sp>
        <p:nvSpPr>
          <p:cNvPr id="13" name="Shape 10"/>
          <p:cNvSpPr/>
          <p:nvPr/>
        </p:nvSpPr>
        <p:spPr>
          <a:xfrm>
            <a:off x="0" y="4869180"/>
            <a:ext cx="9144000" cy="274320"/>
          </a:xfrm>
          <a:prstGeom prst="rect">
            <a:avLst/>
          </a:prstGeom>
          <a:solidFill>
            <a:srgbClr val="1E2761"/>
          </a:solidFill>
          <a:ln w="12700">
            <a:solidFill>
              <a:srgbClr val="1E2761"/>
            </a:solidFill>
            <a:prstDash val="solid"/>
          </a:ln>
        </p:spPr>
        <p:txBody>
          <a:bodyPr/>
          <a:lstStyle/>
          <a:p>
            <a:endParaRPr lang="en-US"/>
          </a:p>
        </p:txBody>
      </p:sp>
      <p:sp>
        <p:nvSpPr>
          <p:cNvPr id="14" name="Text 11"/>
          <p:cNvSpPr/>
          <p:nvPr/>
        </p:nvSpPr>
        <p:spPr>
          <a:xfrm>
            <a:off x="0" y="4869180"/>
            <a:ext cx="9144000" cy="274320"/>
          </a:xfrm>
          <a:prstGeom prst="rect">
            <a:avLst/>
          </a:prstGeom>
          <a:noFill/>
          <a:ln/>
        </p:spPr>
        <p:txBody>
          <a:bodyPr wrap="square" lIns="0" tIns="0" rIns="0" bIns="0" rtlCol="0" anchor="ctr"/>
          <a:lstStyle/>
          <a:p>
            <a:pPr marL="0" indent="0" algn="ctr">
              <a:buNone/>
            </a:pPr>
            <a:r>
              <a:rPr lang="en-US" sz="900" dirty="0">
                <a:solidFill>
                  <a:srgbClr val="CADCFC"/>
                </a:solidFill>
              </a:rPr>
              <a:t>Smart Discount Targeting System  |  NUCES CS3005  |  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2C39A"/>
          </a:solidFill>
          <a:ln w="12700">
            <a:solidFill>
              <a:srgbClr val="02C39A"/>
            </a:solidFill>
            <a:prstDash val="solid"/>
          </a:ln>
        </p:spPr>
        <p:txBody>
          <a:bodyPr/>
          <a:lstStyle/>
          <a:p>
            <a:endParaRPr lang="en-US"/>
          </a:p>
        </p:txBody>
      </p:sp>
      <p:sp>
        <p:nvSpPr>
          <p:cNvPr id="3" name="Text 1"/>
          <p:cNvSpPr/>
          <p:nvPr/>
        </p:nvSpPr>
        <p:spPr>
          <a:xfrm>
            <a:off x="457200" y="182880"/>
            <a:ext cx="8229600" cy="566928"/>
          </a:xfrm>
          <a:prstGeom prst="rect">
            <a:avLst/>
          </a:prstGeom>
          <a:noFill/>
          <a:ln/>
        </p:spPr>
        <p:txBody>
          <a:bodyPr wrap="square" rtlCol="0" anchor="ctr"/>
          <a:lstStyle/>
          <a:p>
            <a:pPr marL="0" indent="0">
              <a:buNone/>
            </a:pPr>
            <a:r>
              <a:rPr lang="en-US" sz="3200" b="1" dirty="0">
                <a:solidFill>
                  <a:srgbClr val="FFFFFF"/>
                </a:solidFill>
              </a:rPr>
              <a:t>Key Findings</a:t>
            </a:r>
            <a:endParaRPr lang="en-US" sz="3200" dirty="0"/>
          </a:p>
        </p:txBody>
      </p:sp>
      <p:sp>
        <p:nvSpPr>
          <p:cNvPr id="4" name="Shape 2"/>
          <p:cNvSpPr/>
          <p:nvPr/>
        </p:nvSpPr>
        <p:spPr>
          <a:xfrm>
            <a:off x="457200" y="914400"/>
            <a:ext cx="621792" cy="621792"/>
          </a:xfrm>
          <a:prstGeom prst="rect">
            <a:avLst/>
          </a:prstGeom>
          <a:solidFill>
            <a:srgbClr val="028090"/>
          </a:solidFill>
          <a:ln w="12700">
            <a:solidFill>
              <a:srgbClr val="028090"/>
            </a:solidFill>
            <a:prstDash val="solid"/>
          </a:ln>
          <a:effectLst>
            <a:outerShdw blurRad="101600" dist="38100" dir="8100000" algn="bl" rotWithShape="0">
              <a:srgbClr val="1E2761">
                <a:alpha val="15000"/>
              </a:srgbClr>
            </a:outerShdw>
          </a:effectLst>
        </p:spPr>
        <p:txBody>
          <a:bodyPr/>
          <a:lstStyle/>
          <a:p>
            <a:endParaRPr lang="en-US"/>
          </a:p>
        </p:txBody>
      </p:sp>
      <p:sp>
        <p:nvSpPr>
          <p:cNvPr id="5" name="Text 3"/>
          <p:cNvSpPr/>
          <p:nvPr/>
        </p:nvSpPr>
        <p:spPr>
          <a:xfrm>
            <a:off x="457200" y="914400"/>
            <a:ext cx="621792" cy="621792"/>
          </a:xfrm>
          <a:prstGeom prst="rect">
            <a:avLst/>
          </a:prstGeom>
          <a:noFill/>
          <a:ln/>
        </p:spPr>
        <p:txBody>
          <a:bodyPr wrap="square" lIns="0" tIns="0" rIns="0" bIns="0" rtlCol="0" anchor="ctr"/>
          <a:lstStyle/>
          <a:p>
            <a:pPr marL="0" indent="0" algn="ctr">
              <a:buNone/>
            </a:pPr>
            <a:r>
              <a:rPr lang="en-US" sz="1600" b="1" dirty="0">
                <a:solidFill>
                  <a:srgbClr val="FFFFFF"/>
                </a:solidFill>
              </a:rPr>
              <a:t>01</a:t>
            </a:r>
            <a:endParaRPr lang="en-US" sz="1600" dirty="0"/>
          </a:p>
        </p:txBody>
      </p:sp>
      <p:sp>
        <p:nvSpPr>
          <p:cNvPr id="6" name="Shape 4"/>
          <p:cNvSpPr/>
          <p:nvPr/>
        </p:nvSpPr>
        <p:spPr>
          <a:xfrm>
            <a:off x="1234440" y="914400"/>
            <a:ext cx="7452360" cy="621792"/>
          </a:xfrm>
          <a:prstGeom prst="rect">
            <a:avLst/>
          </a:prstGeom>
          <a:solidFill>
            <a:srgbClr val="FFFFFF">
              <a:alpha val="8000"/>
            </a:srgbClr>
          </a:solidFill>
          <a:ln w="12700">
            <a:solidFill>
              <a:srgbClr val="FFFFFF">
                <a:alpha val="20000"/>
              </a:srgbClr>
            </a:solidFill>
            <a:prstDash val="solid"/>
          </a:ln>
        </p:spPr>
        <p:txBody>
          <a:bodyPr/>
          <a:lstStyle/>
          <a:p>
            <a:endParaRPr lang="en-US"/>
          </a:p>
        </p:txBody>
      </p:sp>
      <p:sp>
        <p:nvSpPr>
          <p:cNvPr id="7" name="Text 5"/>
          <p:cNvSpPr/>
          <p:nvPr/>
        </p:nvSpPr>
        <p:spPr>
          <a:xfrm>
            <a:off x="1371600" y="987552"/>
            <a:ext cx="7223760" cy="475488"/>
          </a:xfrm>
          <a:prstGeom prst="rect">
            <a:avLst/>
          </a:prstGeom>
          <a:noFill/>
          <a:ln/>
        </p:spPr>
        <p:txBody>
          <a:bodyPr wrap="square" rtlCol="0" anchor="ctr"/>
          <a:lstStyle/>
          <a:p>
            <a:pPr marL="0" indent="0">
              <a:buNone/>
            </a:pPr>
            <a:r>
              <a:rPr lang="en-US" sz="1350" dirty="0">
                <a:solidFill>
                  <a:srgbClr val="FFFFFF"/>
                </a:solidFill>
              </a:rPr>
              <a:t>79.5% of e-commerce customers exhibit high discount sensitivity — validating the need for targeted over uniform discounting.</a:t>
            </a:r>
            <a:endParaRPr lang="en-US" sz="1350" dirty="0"/>
          </a:p>
        </p:txBody>
      </p:sp>
      <p:sp>
        <p:nvSpPr>
          <p:cNvPr id="8" name="Shape 6"/>
          <p:cNvSpPr/>
          <p:nvPr/>
        </p:nvSpPr>
        <p:spPr>
          <a:xfrm>
            <a:off x="457200" y="1719072"/>
            <a:ext cx="621792" cy="621792"/>
          </a:xfrm>
          <a:prstGeom prst="rect">
            <a:avLst/>
          </a:prstGeom>
          <a:solidFill>
            <a:srgbClr val="028090"/>
          </a:solidFill>
          <a:ln w="12700">
            <a:solidFill>
              <a:srgbClr val="028090"/>
            </a:solidFill>
            <a:prstDash val="solid"/>
          </a:ln>
          <a:effectLst>
            <a:outerShdw blurRad="101600" dist="38100" dir="8100000" algn="bl" rotWithShape="0">
              <a:srgbClr val="1E2761">
                <a:alpha val="15000"/>
              </a:srgbClr>
            </a:outerShdw>
          </a:effectLst>
        </p:spPr>
        <p:txBody>
          <a:bodyPr/>
          <a:lstStyle/>
          <a:p>
            <a:endParaRPr lang="en-US"/>
          </a:p>
        </p:txBody>
      </p:sp>
      <p:sp>
        <p:nvSpPr>
          <p:cNvPr id="9" name="Text 7"/>
          <p:cNvSpPr/>
          <p:nvPr/>
        </p:nvSpPr>
        <p:spPr>
          <a:xfrm>
            <a:off x="457200" y="1719072"/>
            <a:ext cx="621792" cy="621792"/>
          </a:xfrm>
          <a:prstGeom prst="rect">
            <a:avLst/>
          </a:prstGeom>
          <a:noFill/>
          <a:ln/>
        </p:spPr>
        <p:txBody>
          <a:bodyPr wrap="square" lIns="0" tIns="0" rIns="0" bIns="0" rtlCol="0" anchor="ctr"/>
          <a:lstStyle/>
          <a:p>
            <a:pPr marL="0" indent="0" algn="ctr">
              <a:buNone/>
            </a:pPr>
            <a:r>
              <a:rPr lang="en-US" sz="1600" b="1" dirty="0">
                <a:solidFill>
                  <a:srgbClr val="FFFFFF"/>
                </a:solidFill>
              </a:rPr>
              <a:t>02</a:t>
            </a:r>
            <a:endParaRPr lang="en-US" sz="1600" dirty="0"/>
          </a:p>
        </p:txBody>
      </p:sp>
      <p:sp>
        <p:nvSpPr>
          <p:cNvPr id="10" name="Shape 8"/>
          <p:cNvSpPr/>
          <p:nvPr/>
        </p:nvSpPr>
        <p:spPr>
          <a:xfrm>
            <a:off x="1234440" y="1719072"/>
            <a:ext cx="7452360" cy="621792"/>
          </a:xfrm>
          <a:prstGeom prst="rect">
            <a:avLst/>
          </a:prstGeom>
          <a:solidFill>
            <a:srgbClr val="FFFFFF">
              <a:alpha val="8000"/>
            </a:srgbClr>
          </a:solidFill>
          <a:ln w="12700">
            <a:solidFill>
              <a:srgbClr val="FFFFFF">
                <a:alpha val="20000"/>
              </a:srgbClr>
            </a:solidFill>
            <a:prstDash val="solid"/>
          </a:ln>
        </p:spPr>
        <p:txBody>
          <a:bodyPr/>
          <a:lstStyle/>
          <a:p>
            <a:endParaRPr lang="en-US"/>
          </a:p>
        </p:txBody>
      </p:sp>
      <p:sp>
        <p:nvSpPr>
          <p:cNvPr id="11" name="Text 9"/>
          <p:cNvSpPr/>
          <p:nvPr/>
        </p:nvSpPr>
        <p:spPr>
          <a:xfrm>
            <a:off x="1371600" y="1792224"/>
            <a:ext cx="7223760" cy="475488"/>
          </a:xfrm>
          <a:prstGeom prst="rect">
            <a:avLst/>
          </a:prstGeom>
          <a:noFill/>
          <a:ln/>
        </p:spPr>
        <p:txBody>
          <a:bodyPr wrap="square" rtlCol="0" anchor="ctr"/>
          <a:lstStyle/>
          <a:p>
            <a:pPr marL="0" indent="0">
              <a:buNone/>
            </a:pPr>
            <a:r>
              <a:rPr lang="en-US" sz="1350" dirty="0">
                <a:solidFill>
                  <a:srgbClr val="FFFFFF"/>
                </a:solidFill>
              </a:rPr>
              <a:t>Recency is the most powerful predictor (42% importance) — re-engagement campaigns should be the primary use case.</a:t>
            </a:r>
            <a:endParaRPr lang="en-US" sz="1350" dirty="0"/>
          </a:p>
        </p:txBody>
      </p:sp>
      <p:sp>
        <p:nvSpPr>
          <p:cNvPr id="12" name="Shape 10"/>
          <p:cNvSpPr/>
          <p:nvPr/>
        </p:nvSpPr>
        <p:spPr>
          <a:xfrm>
            <a:off x="457200" y="2523744"/>
            <a:ext cx="621792" cy="621792"/>
          </a:xfrm>
          <a:prstGeom prst="rect">
            <a:avLst/>
          </a:prstGeom>
          <a:solidFill>
            <a:srgbClr val="028090"/>
          </a:solidFill>
          <a:ln w="12700">
            <a:solidFill>
              <a:srgbClr val="028090"/>
            </a:solidFill>
            <a:prstDash val="solid"/>
          </a:ln>
          <a:effectLst>
            <a:outerShdw blurRad="101600" dist="38100" dir="8100000" algn="bl" rotWithShape="0">
              <a:srgbClr val="1E2761">
                <a:alpha val="15000"/>
              </a:srgbClr>
            </a:outerShdw>
          </a:effectLst>
        </p:spPr>
        <p:txBody>
          <a:bodyPr/>
          <a:lstStyle/>
          <a:p>
            <a:endParaRPr lang="en-US"/>
          </a:p>
        </p:txBody>
      </p:sp>
      <p:sp>
        <p:nvSpPr>
          <p:cNvPr id="13" name="Text 11"/>
          <p:cNvSpPr/>
          <p:nvPr/>
        </p:nvSpPr>
        <p:spPr>
          <a:xfrm>
            <a:off x="457200" y="2523744"/>
            <a:ext cx="621792" cy="621792"/>
          </a:xfrm>
          <a:prstGeom prst="rect">
            <a:avLst/>
          </a:prstGeom>
          <a:noFill/>
          <a:ln/>
        </p:spPr>
        <p:txBody>
          <a:bodyPr wrap="square" lIns="0" tIns="0" rIns="0" bIns="0" rtlCol="0" anchor="ctr"/>
          <a:lstStyle/>
          <a:p>
            <a:pPr marL="0" indent="0" algn="ctr">
              <a:buNone/>
            </a:pPr>
            <a:r>
              <a:rPr lang="en-US" sz="1600" b="1" dirty="0">
                <a:solidFill>
                  <a:srgbClr val="FFFFFF"/>
                </a:solidFill>
              </a:rPr>
              <a:t>03</a:t>
            </a:r>
            <a:endParaRPr lang="en-US" sz="1600" dirty="0"/>
          </a:p>
        </p:txBody>
      </p:sp>
      <p:sp>
        <p:nvSpPr>
          <p:cNvPr id="14" name="Shape 12"/>
          <p:cNvSpPr/>
          <p:nvPr/>
        </p:nvSpPr>
        <p:spPr>
          <a:xfrm>
            <a:off x="1234440" y="2523744"/>
            <a:ext cx="7452360" cy="621792"/>
          </a:xfrm>
          <a:prstGeom prst="rect">
            <a:avLst/>
          </a:prstGeom>
          <a:solidFill>
            <a:srgbClr val="FFFFFF">
              <a:alpha val="8000"/>
            </a:srgbClr>
          </a:solidFill>
          <a:ln w="12700">
            <a:solidFill>
              <a:srgbClr val="FFFFFF">
                <a:alpha val="20000"/>
              </a:srgbClr>
            </a:solidFill>
            <a:prstDash val="solid"/>
          </a:ln>
        </p:spPr>
        <p:txBody>
          <a:bodyPr/>
          <a:lstStyle/>
          <a:p>
            <a:endParaRPr lang="en-US"/>
          </a:p>
        </p:txBody>
      </p:sp>
      <p:sp>
        <p:nvSpPr>
          <p:cNvPr id="15" name="Text 13"/>
          <p:cNvSpPr/>
          <p:nvPr/>
        </p:nvSpPr>
        <p:spPr>
          <a:xfrm>
            <a:off x="1371600" y="2596896"/>
            <a:ext cx="7223760" cy="475488"/>
          </a:xfrm>
          <a:prstGeom prst="rect">
            <a:avLst/>
          </a:prstGeom>
          <a:noFill/>
          <a:ln/>
        </p:spPr>
        <p:txBody>
          <a:bodyPr wrap="square" rtlCol="0" anchor="ctr"/>
          <a:lstStyle/>
          <a:p>
            <a:pPr marL="0" indent="0">
              <a:buNone/>
            </a:pPr>
            <a:r>
              <a:rPr lang="en-US" sz="1350" dirty="0">
                <a:solidFill>
                  <a:srgbClr val="FFFFFF"/>
                </a:solidFill>
              </a:rPr>
              <a:t>Payment behavior (installment usage) is a reliable proxy for financial price sensitivity, second only to recency.</a:t>
            </a:r>
            <a:endParaRPr lang="en-US" sz="1350" dirty="0"/>
          </a:p>
        </p:txBody>
      </p:sp>
      <p:sp>
        <p:nvSpPr>
          <p:cNvPr id="16" name="Shape 14"/>
          <p:cNvSpPr/>
          <p:nvPr/>
        </p:nvSpPr>
        <p:spPr>
          <a:xfrm>
            <a:off x="457200" y="3328416"/>
            <a:ext cx="621792" cy="621792"/>
          </a:xfrm>
          <a:prstGeom prst="rect">
            <a:avLst/>
          </a:prstGeom>
          <a:solidFill>
            <a:srgbClr val="028090"/>
          </a:solidFill>
          <a:ln w="12700">
            <a:solidFill>
              <a:srgbClr val="028090"/>
            </a:solidFill>
            <a:prstDash val="solid"/>
          </a:ln>
          <a:effectLst>
            <a:outerShdw blurRad="101600" dist="38100" dir="8100000" algn="bl" rotWithShape="0">
              <a:srgbClr val="1E2761">
                <a:alpha val="15000"/>
              </a:srgbClr>
            </a:outerShdw>
          </a:effectLst>
        </p:spPr>
        <p:txBody>
          <a:bodyPr/>
          <a:lstStyle/>
          <a:p>
            <a:endParaRPr lang="en-US"/>
          </a:p>
        </p:txBody>
      </p:sp>
      <p:sp>
        <p:nvSpPr>
          <p:cNvPr id="17" name="Text 15"/>
          <p:cNvSpPr/>
          <p:nvPr/>
        </p:nvSpPr>
        <p:spPr>
          <a:xfrm>
            <a:off x="457200" y="3328416"/>
            <a:ext cx="621792" cy="621792"/>
          </a:xfrm>
          <a:prstGeom prst="rect">
            <a:avLst/>
          </a:prstGeom>
          <a:noFill/>
          <a:ln/>
        </p:spPr>
        <p:txBody>
          <a:bodyPr wrap="square" lIns="0" tIns="0" rIns="0" bIns="0" rtlCol="0" anchor="ctr"/>
          <a:lstStyle/>
          <a:p>
            <a:pPr marL="0" indent="0" algn="ctr">
              <a:buNone/>
            </a:pPr>
            <a:r>
              <a:rPr lang="en-US" sz="1600" b="1" dirty="0">
                <a:solidFill>
                  <a:srgbClr val="FFFFFF"/>
                </a:solidFill>
              </a:rPr>
              <a:t>04</a:t>
            </a:r>
            <a:endParaRPr lang="en-US" sz="1600" dirty="0"/>
          </a:p>
        </p:txBody>
      </p:sp>
      <p:sp>
        <p:nvSpPr>
          <p:cNvPr id="18" name="Shape 16"/>
          <p:cNvSpPr/>
          <p:nvPr/>
        </p:nvSpPr>
        <p:spPr>
          <a:xfrm>
            <a:off x="1234440" y="3328416"/>
            <a:ext cx="7452360" cy="621792"/>
          </a:xfrm>
          <a:prstGeom prst="rect">
            <a:avLst/>
          </a:prstGeom>
          <a:solidFill>
            <a:srgbClr val="FFFFFF">
              <a:alpha val="8000"/>
            </a:srgbClr>
          </a:solidFill>
          <a:ln w="12700">
            <a:solidFill>
              <a:srgbClr val="FFFFFF">
                <a:alpha val="20000"/>
              </a:srgbClr>
            </a:solidFill>
            <a:prstDash val="solid"/>
          </a:ln>
        </p:spPr>
        <p:txBody>
          <a:bodyPr/>
          <a:lstStyle/>
          <a:p>
            <a:endParaRPr lang="en-US"/>
          </a:p>
        </p:txBody>
      </p:sp>
      <p:sp>
        <p:nvSpPr>
          <p:cNvPr id="19" name="Text 17"/>
          <p:cNvSpPr/>
          <p:nvPr/>
        </p:nvSpPr>
        <p:spPr>
          <a:xfrm>
            <a:off x="1371600" y="3401568"/>
            <a:ext cx="7223760" cy="475488"/>
          </a:xfrm>
          <a:prstGeom prst="rect">
            <a:avLst/>
          </a:prstGeom>
          <a:noFill/>
          <a:ln/>
        </p:spPr>
        <p:txBody>
          <a:bodyPr wrap="square" rtlCol="0" anchor="ctr"/>
          <a:lstStyle/>
          <a:p>
            <a:pPr marL="0" indent="0">
              <a:buNone/>
            </a:pPr>
            <a:r>
              <a:rPr lang="en-US" sz="1350" dirty="0">
                <a:solidFill>
                  <a:srgbClr val="FFFFFF"/>
                </a:solidFill>
              </a:rPr>
              <a:t>Promotional purchase patterns during November–December confirm seasonal discount behavior is a meaningful signal.</a:t>
            </a:r>
            <a:endParaRPr lang="en-US" sz="1350" dirty="0"/>
          </a:p>
        </p:txBody>
      </p:sp>
      <p:sp>
        <p:nvSpPr>
          <p:cNvPr id="20" name="Shape 18"/>
          <p:cNvSpPr/>
          <p:nvPr/>
        </p:nvSpPr>
        <p:spPr>
          <a:xfrm>
            <a:off x="457200" y="4133088"/>
            <a:ext cx="621792" cy="621792"/>
          </a:xfrm>
          <a:prstGeom prst="rect">
            <a:avLst/>
          </a:prstGeom>
          <a:solidFill>
            <a:srgbClr val="028090"/>
          </a:solidFill>
          <a:ln w="12700">
            <a:solidFill>
              <a:srgbClr val="028090"/>
            </a:solidFill>
            <a:prstDash val="solid"/>
          </a:ln>
          <a:effectLst>
            <a:outerShdw blurRad="101600" dist="38100" dir="8100000" algn="bl" rotWithShape="0">
              <a:srgbClr val="1E2761">
                <a:alpha val="15000"/>
              </a:srgbClr>
            </a:outerShdw>
          </a:effectLst>
        </p:spPr>
        <p:txBody>
          <a:bodyPr/>
          <a:lstStyle/>
          <a:p>
            <a:endParaRPr lang="en-US"/>
          </a:p>
        </p:txBody>
      </p:sp>
      <p:sp>
        <p:nvSpPr>
          <p:cNvPr id="21" name="Text 19"/>
          <p:cNvSpPr/>
          <p:nvPr/>
        </p:nvSpPr>
        <p:spPr>
          <a:xfrm>
            <a:off x="457200" y="4133088"/>
            <a:ext cx="621792" cy="621792"/>
          </a:xfrm>
          <a:prstGeom prst="rect">
            <a:avLst/>
          </a:prstGeom>
          <a:noFill/>
          <a:ln/>
        </p:spPr>
        <p:txBody>
          <a:bodyPr wrap="square" lIns="0" tIns="0" rIns="0" bIns="0" rtlCol="0" anchor="ctr"/>
          <a:lstStyle/>
          <a:p>
            <a:pPr marL="0" indent="0" algn="ctr">
              <a:buNone/>
            </a:pPr>
            <a:r>
              <a:rPr lang="en-US" sz="1600" b="1" dirty="0">
                <a:solidFill>
                  <a:srgbClr val="FFFFFF"/>
                </a:solidFill>
              </a:rPr>
              <a:t>05</a:t>
            </a:r>
            <a:endParaRPr lang="en-US" sz="1600" dirty="0"/>
          </a:p>
        </p:txBody>
      </p:sp>
      <p:sp>
        <p:nvSpPr>
          <p:cNvPr id="22" name="Shape 20"/>
          <p:cNvSpPr/>
          <p:nvPr/>
        </p:nvSpPr>
        <p:spPr>
          <a:xfrm>
            <a:off x="1234440" y="4133088"/>
            <a:ext cx="7452360" cy="621792"/>
          </a:xfrm>
          <a:prstGeom prst="rect">
            <a:avLst/>
          </a:prstGeom>
          <a:solidFill>
            <a:srgbClr val="FFFFFF">
              <a:alpha val="8000"/>
            </a:srgbClr>
          </a:solidFill>
          <a:ln w="12700">
            <a:solidFill>
              <a:srgbClr val="FFFFFF">
                <a:alpha val="20000"/>
              </a:srgbClr>
            </a:solidFill>
            <a:prstDash val="solid"/>
          </a:ln>
        </p:spPr>
        <p:txBody>
          <a:bodyPr/>
          <a:lstStyle/>
          <a:p>
            <a:endParaRPr lang="en-US"/>
          </a:p>
        </p:txBody>
      </p:sp>
      <p:sp>
        <p:nvSpPr>
          <p:cNvPr id="23" name="Text 21"/>
          <p:cNvSpPr/>
          <p:nvPr/>
        </p:nvSpPr>
        <p:spPr>
          <a:xfrm>
            <a:off x="1371600" y="4206240"/>
            <a:ext cx="7223760" cy="475488"/>
          </a:xfrm>
          <a:prstGeom prst="rect">
            <a:avLst/>
          </a:prstGeom>
          <a:noFill/>
          <a:ln/>
        </p:spPr>
        <p:txBody>
          <a:bodyPr wrap="square" rtlCol="0" anchor="ctr"/>
          <a:lstStyle/>
          <a:p>
            <a:pPr marL="0" indent="0">
              <a:buNone/>
            </a:pPr>
            <a:r>
              <a:rPr lang="en-US" sz="1350" dirty="0">
                <a:solidFill>
                  <a:srgbClr val="FFFFFF"/>
                </a:solidFill>
              </a:rPr>
              <a:t>Association rule mining confirmed cross-category bundling is not viable — focused category-level discounts are recommended.</a:t>
            </a:r>
            <a:endParaRPr lang="en-US" sz="1350" dirty="0"/>
          </a:p>
        </p:txBody>
      </p:sp>
      <p:sp>
        <p:nvSpPr>
          <p:cNvPr id="24" name="Shape 22"/>
          <p:cNvSpPr/>
          <p:nvPr/>
        </p:nvSpPr>
        <p:spPr>
          <a:xfrm>
            <a:off x="0" y="4869180"/>
            <a:ext cx="9144000" cy="274320"/>
          </a:xfrm>
          <a:prstGeom prst="rect">
            <a:avLst/>
          </a:prstGeom>
          <a:solidFill>
            <a:srgbClr val="243380"/>
          </a:solidFill>
          <a:ln w="12700">
            <a:solidFill>
              <a:srgbClr val="243380"/>
            </a:solidFill>
            <a:prstDash val="solid"/>
          </a:ln>
        </p:spPr>
        <p:txBody>
          <a:bodyPr/>
          <a:lstStyle/>
          <a:p>
            <a:endParaRPr lang="en-US"/>
          </a:p>
        </p:txBody>
      </p:sp>
      <p:sp>
        <p:nvSpPr>
          <p:cNvPr id="25" name="Text 23"/>
          <p:cNvSpPr/>
          <p:nvPr/>
        </p:nvSpPr>
        <p:spPr>
          <a:xfrm>
            <a:off x="0" y="4869180"/>
            <a:ext cx="9144000" cy="274320"/>
          </a:xfrm>
          <a:prstGeom prst="rect">
            <a:avLst/>
          </a:prstGeom>
          <a:noFill/>
          <a:ln/>
        </p:spPr>
        <p:txBody>
          <a:bodyPr wrap="square" lIns="0" tIns="0" rIns="0" bIns="0" rtlCol="0" anchor="ctr"/>
          <a:lstStyle/>
          <a:p>
            <a:pPr marL="0" indent="0" algn="ctr">
              <a:buNone/>
            </a:pPr>
            <a:r>
              <a:rPr lang="en-US" sz="900" dirty="0">
                <a:solidFill>
                  <a:srgbClr val="CADCFC"/>
                </a:solidFill>
              </a:rPr>
              <a:t>Smart Discount Targeting System  |  NUCES CS3005  |  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28090"/>
          </a:solidFill>
          <a:ln w="12700">
            <a:solidFill>
              <a:srgbClr val="028090"/>
            </a:solidFill>
            <a:prstDash val="solid"/>
          </a:ln>
        </p:spPr>
        <p:txBody>
          <a:bodyPr/>
          <a:lstStyle/>
          <a:p>
            <a:endParaRPr lang="en-US"/>
          </a:p>
        </p:txBody>
      </p:sp>
      <p:sp>
        <p:nvSpPr>
          <p:cNvPr id="3" name="Text 1"/>
          <p:cNvSpPr/>
          <p:nvPr/>
        </p:nvSpPr>
        <p:spPr>
          <a:xfrm>
            <a:off x="457200" y="164592"/>
            <a:ext cx="7772400" cy="566928"/>
          </a:xfrm>
          <a:prstGeom prst="rect">
            <a:avLst/>
          </a:prstGeom>
          <a:noFill/>
          <a:ln/>
        </p:spPr>
        <p:txBody>
          <a:bodyPr wrap="square" rtlCol="0" anchor="ctr"/>
          <a:lstStyle/>
          <a:p>
            <a:pPr marL="0" indent="0" algn="l">
              <a:buNone/>
            </a:pPr>
            <a:r>
              <a:rPr lang="en-US" sz="3000" b="1" dirty="0">
                <a:solidFill>
                  <a:srgbClr val="1E2761"/>
                </a:solidFill>
              </a:rPr>
              <a:t>Limitations &amp; Future Directions</a:t>
            </a:r>
            <a:endParaRPr lang="en-US" sz="3000" dirty="0"/>
          </a:p>
        </p:txBody>
      </p:sp>
      <p:sp>
        <p:nvSpPr>
          <p:cNvPr id="4" name="Text 2"/>
          <p:cNvSpPr/>
          <p:nvPr/>
        </p:nvSpPr>
        <p:spPr>
          <a:xfrm>
            <a:off x="457200" y="713232"/>
            <a:ext cx="8229600" cy="274320"/>
          </a:xfrm>
          <a:prstGeom prst="rect">
            <a:avLst/>
          </a:prstGeom>
          <a:noFill/>
          <a:ln/>
        </p:spPr>
        <p:txBody>
          <a:bodyPr wrap="square" rtlCol="0" anchor="ctr"/>
          <a:lstStyle/>
          <a:p>
            <a:pPr marL="0" indent="0" algn="l">
              <a:buNone/>
            </a:pPr>
            <a:r>
              <a:rPr lang="en-US" sz="1300" i="1" dirty="0">
                <a:solidFill>
                  <a:srgbClr val="028090"/>
                </a:solidFill>
              </a:rPr>
              <a:t>Current constraints and next steps</a:t>
            </a:r>
            <a:endParaRPr lang="en-US" sz="1300" dirty="0"/>
          </a:p>
        </p:txBody>
      </p:sp>
      <p:sp>
        <p:nvSpPr>
          <p:cNvPr id="5" name="Shape 3"/>
          <p:cNvSpPr/>
          <p:nvPr/>
        </p:nvSpPr>
        <p:spPr>
          <a:xfrm>
            <a:off x="457200" y="1005840"/>
            <a:ext cx="3840480" cy="384048"/>
          </a:xfrm>
          <a:prstGeom prst="rect">
            <a:avLst/>
          </a:prstGeom>
          <a:solidFill>
            <a:srgbClr val="1E2761"/>
          </a:solidFill>
          <a:ln w="12700">
            <a:solidFill>
              <a:srgbClr val="1E2761"/>
            </a:solidFill>
            <a:prstDash val="solid"/>
          </a:ln>
        </p:spPr>
        <p:txBody>
          <a:bodyPr/>
          <a:lstStyle/>
          <a:p>
            <a:endParaRPr lang="en-US"/>
          </a:p>
        </p:txBody>
      </p:sp>
      <p:sp>
        <p:nvSpPr>
          <p:cNvPr id="6" name="Text 4"/>
          <p:cNvSpPr/>
          <p:nvPr/>
        </p:nvSpPr>
        <p:spPr>
          <a:xfrm>
            <a:off x="457200" y="1005840"/>
            <a:ext cx="3840480" cy="384048"/>
          </a:xfrm>
          <a:prstGeom prst="rect">
            <a:avLst/>
          </a:prstGeom>
          <a:noFill/>
          <a:ln/>
        </p:spPr>
        <p:txBody>
          <a:bodyPr wrap="square" lIns="0" tIns="0" rIns="0" bIns="0" rtlCol="0" anchor="ctr"/>
          <a:lstStyle/>
          <a:p>
            <a:pPr marL="0" indent="0" algn="ctr">
              <a:buNone/>
            </a:pPr>
            <a:r>
              <a:rPr lang="en-US" sz="1500" b="1" dirty="0">
                <a:solidFill>
                  <a:srgbClr val="FFFFFF"/>
                </a:solidFill>
              </a:rPr>
              <a:t>Current Limitations</a:t>
            </a:r>
            <a:endParaRPr lang="en-US" sz="1500" dirty="0"/>
          </a:p>
        </p:txBody>
      </p:sp>
      <p:sp>
        <p:nvSpPr>
          <p:cNvPr id="7" name="Shape 5"/>
          <p:cNvSpPr/>
          <p:nvPr/>
        </p:nvSpPr>
        <p:spPr>
          <a:xfrm>
            <a:off x="457200" y="1508760"/>
            <a:ext cx="3840480" cy="804672"/>
          </a:xfrm>
          <a:prstGeom prst="rect">
            <a:avLst/>
          </a:prstGeom>
          <a:solidFill>
            <a:srgbClr val="FFFFFF"/>
          </a:solidFill>
          <a:ln w="12700">
            <a:solidFill>
              <a:srgbClr val="CADCFC"/>
            </a:solidFill>
            <a:prstDash val="solid"/>
          </a:ln>
          <a:effectLst>
            <a:outerShdw blurRad="101600" dist="38100" dir="8100000" algn="bl" rotWithShape="0">
              <a:srgbClr val="1E2761">
                <a:alpha val="15000"/>
              </a:srgbClr>
            </a:outerShdw>
          </a:effectLst>
        </p:spPr>
        <p:txBody>
          <a:bodyPr/>
          <a:lstStyle/>
          <a:p>
            <a:endParaRPr lang="en-US"/>
          </a:p>
        </p:txBody>
      </p:sp>
      <p:sp>
        <p:nvSpPr>
          <p:cNvPr id="8" name="Shape 6"/>
          <p:cNvSpPr/>
          <p:nvPr/>
        </p:nvSpPr>
        <p:spPr>
          <a:xfrm>
            <a:off x="457200" y="1508760"/>
            <a:ext cx="109728" cy="804672"/>
          </a:xfrm>
          <a:prstGeom prst="rect">
            <a:avLst/>
          </a:prstGeom>
          <a:solidFill>
            <a:srgbClr val="1E2761"/>
          </a:solidFill>
          <a:ln w="12700">
            <a:solidFill>
              <a:srgbClr val="1E2761"/>
            </a:solidFill>
            <a:prstDash val="solid"/>
          </a:ln>
        </p:spPr>
        <p:txBody>
          <a:bodyPr/>
          <a:lstStyle/>
          <a:p>
            <a:endParaRPr lang="en-US"/>
          </a:p>
        </p:txBody>
      </p:sp>
      <p:sp>
        <p:nvSpPr>
          <p:cNvPr id="9" name="Text 7"/>
          <p:cNvSpPr/>
          <p:nvPr/>
        </p:nvSpPr>
        <p:spPr>
          <a:xfrm>
            <a:off x="676656" y="1600200"/>
            <a:ext cx="3474720" cy="621792"/>
          </a:xfrm>
          <a:prstGeom prst="rect">
            <a:avLst/>
          </a:prstGeom>
          <a:noFill/>
          <a:ln/>
        </p:spPr>
        <p:txBody>
          <a:bodyPr wrap="square" rtlCol="0" anchor="ctr"/>
          <a:lstStyle/>
          <a:p>
            <a:pPr marL="0" indent="0">
              <a:buNone/>
            </a:pPr>
            <a:r>
              <a:rPr lang="en-US" sz="1200" dirty="0">
                <a:solidFill>
                  <a:srgbClr val="334155"/>
                </a:solidFill>
              </a:rPr>
              <a:t>Discount tiers derived from engineered behavioral proxies — not actual campaign response data (click-through rates, coupon redemption).</a:t>
            </a:r>
            <a:endParaRPr lang="en-US" sz="1200" dirty="0"/>
          </a:p>
        </p:txBody>
      </p:sp>
      <p:sp>
        <p:nvSpPr>
          <p:cNvPr id="10" name="Shape 8"/>
          <p:cNvSpPr/>
          <p:nvPr/>
        </p:nvSpPr>
        <p:spPr>
          <a:xfrm>
            <a:off x="457200" y="2423160"/>
            <a:ext cx="3840480" cy="804672"/>
          </a:xfrm>
          <a:prstGeom prst="rect">
            <a:avLst/>
          </a:prstGeom>
          <a:solidFill>
            <a:srgbClr val="FFFFFF"/>
          </a:solidFill>
          <a:ln w="12700">
            <a:solidFill>
              <a:srgbClr val="CADCFC"/>
            </a:solidFill>
            <a:prstDash val="solid"/>
          </a:ln>
          <a:effectLst>
            <a:outerShdw blurRad="101600" dist="38100" dir="8100000" algn="bl" rotWithShape="0">
              <a:srgbClr val="1E2761">
                <a:alpha val="15000"/>
              </a:srgbClr>
            </a:outerShdw>
          </a:effectLst>
        </p:spPr>
        <p:txBody>
          <a:bodyPr/>
          <a:lstStyle/>
          <a:p>
            <a:endParaRPr lang="en-US"/>
          </a:p>
        </p:txBody>
      </p:sp>
      <p:sp>
        <p:nvSpPr>
          <p:cNvPr id="11" name="Shape 9"/>
          <p:cNvSpPr/>
          <p:nvPr/>
        </p:nvSpPr>
        <p:spPr>
          <a:xfrm>
            <a:off x="457200" y="2423160"/>
            <a:ext cx="109728" cy="804672"/>
          </a:xfrm>
          <a:prstGeom prst="rect">
            <a:avLst/>
          </a:prstGeom>
          <a:solidFill>
            <a:srgbClr val="1E2761"/>
          </a:solidFill>
          <a:ln w="12700">
            <a:solidFill>
              <a:srgbClr val="1E2761"/>
            </a:solidFill>
            <a:prstDash val="solid"/>
          </a:ln>
        </p:spPr>
        <p:txBody>
          <a:bodyPr/>
          <a:lstStyle/>
          <a:p>
            <a:endParaRPr lang="en-US"/>
          </a:p>
        </p:txBody>
      </p:sp>
      <p:sp>
        <p:nvSpPr>
          <p:cNvPr id="12" name="Text 10"/>
          <p:cNvSpPr/>
          <p:nvPr/>
        </p:nvSpPr>
        <p:spPr>
          <a:xfrm>
            <a:off x="676656" y="2514600"/>
            <a:ext cx="3474720" cy="621792"/>
          </a:xfrm>
          <a:prstGeom prst="rect">
            <a:avLst/>
          </a:prstGeom>
          <a:noFill/>
          <a:ln/>
        </p:spPr>
        <p:txBody>
          <a:bodyPr wrap="square" rtlCol="0" anchor="ctr"/>
          <a:lstStyle/>
          <a:p>
            <a:pPr marL="0" indent="0">
              <a:buNone/>
            </a:pPr>
            <a:r>
              <a:rPr lang="en-US" sz="1200" dirty="0">
                <a:solidFill>
                  <a:srgbClr val="334155"/>
                </a:solidFill>
              </a:rPr>
              <a:t>Olist dataset is from the Brazilian market (2016–2018) — may limit generalizability to other geographies or time periods.</a:t>
            </a:r>
            <a:endParaRPr lang="en-US" sz="1200" dirty="0"/>
          </a:p>
        </p:txBody>
      </p:sp>
      <p:sp>
        <p:nvSpPr>
          <p:cNvPr id="13" name="Shape 11"/>
          <p:cNvSpPr/>
          <p:nvPr/>
        </p:nvSpPr>
        <p:spPr>
          <a:xfrm>
            <a:off x="457200" y="3337560"/>
            <a:ext cx="3840480" cy="804672"/>
          </a:xfrm>
          <a:prstGeom prst="rect">
            <a:avLst/>
          </a:prstGeom>
          <a:solidFill>
            <a:srgbClr val="FFFFFF"/>
          </a:solidFill>
          <a:ln w="12700">
            <a:solidFill>
              <a:srgbClr val="CADCFC"/>
            </a:solidFill>
            <a:prstDash val="solid"/>
          </a:ln>
          <a:effectLst>
            <a:outerShdw blurRad="101600" dist="38100" dir="8100000" algn="bl" rotWithShape="0">
              <a:srgbClr val="1E2761">
                <a:alpha val="15000"/>
              </a:srgbClr>
            </a:outerShdw>
          </a:effectLst>
        </p:spPr>
        <p:txBody>
          <a:bodyPr/>
          <a:lstStyle/>
          <a:p>
            <a:endParaRPr lang="en-US"/>
          </a:p>
        </p:txBody>
      </p:sp>
      <p:sp>
        <p:nvSpPr>
          <p:cNvPr id="14" name="Shape 12"/>
          <p:cNvSpPr/>
          <p:nvPr/>
        </p:nvSpPr>
        <p:spPr>
          <a:xfrm>
            <a:off x="457200" y="3337560"/>
            <a:ext cx="109728" cy="804672"/>
          </a:xfrm>
          <a:prstGeom prst="rect">
            <a:avLst/>
          </a:prstGeom>
          <a:solidFill>
            <a:srgbClr val="1E2761"/>
          </a:solidFill>
          <a:ln w="12700">
            <a:solidFill>
              <a:srgbClr val="1E2761"/>
            </a:solidFill>
            <a:prstDash val="solid"/>
          </a:ln>
        </p:spPr>
        <p:txBody>
          <a:bodyPr/>
          <a:lstStyle/>
          <a:p>
            <a:endParaRPr lang="en-US"/>
          </a:p>
        </p:txBody>
      </p:sp>
      <p:sp>
        <p:nvSpPr>
          <p:cNvPr id="15" name="Text 13"/>
          <p:cNvSpPr/>
          <p:nvPr/>
        </p:nvSpPr>
        <p:spPr>
          <a:xfrm>
            <a:off x="676656" y="3429000"/>
            <a:ext cx="3474720" cy="621792"/>
          </a:xfrm>
          <a:prstGeom prst="rect">
            <a:avLst/>
          </a:prstGeom>
          <a:noFill/>
          <a:ln/>
        </p:spPr>
        <p:txBody>
          <a:bodyPr wrap="square" rtlCol="0" anchor="ctr"/>
          <a:lstStyle/>
          <a:p>
            <a:pPr marL="0" indent="0">
              <a:buNone/>
            </a:pPr>
            <a:r>
              <a:rPr lang="en-US" sz="1200" dirty="0">
                <a:solidFill>
                  <a:srgbClr val="334155"/>
                </a:solidFill>
              </a:rPr>
              <a:t>Sparse basket data prevented meaningful multi-category association rules from being generated.</a:t>
            </a:r>
            <a:endParaRPr lang="en-US" sz="1200" dirty="0"/>
          </a:p>
        </p:txBody>
      </p:sp>
      <p:sp>
        <p:nvSpPr>
          <p:cNvPr id="16" name="Shape 14"/>
          <p:cNvSpPr/>
          <p:nvPr/>
        </p:nvSpPr>
        <p:spPr>
          <a:xfrm>
            <a:off x="4663440" y="1005840"/>
            <a:ext cx="4114800" cy="384048"/>
          </a:xfrm>
          <a:prstGeom prst="rect">
            <a:avLst/>
          </a:prstGeom>
          <a:solidFill>
            <a:srgbClr val="028090"/>
          </a:solidFill>
          <a:ln w="12700">
            <a:solidFill>
              <a:srgbClr val="028090"/>
            </a:solidFill>
            <a:prstDash val="solid"/>
          </a:ln>
        </p:spPr>
        <p:txBody>
          <a:bodyPr/>
          <a:lstStyle/>
          <a:p>
            <a:endParaRPr lang="en-US"/>
          </a:p>
        </p:txBody>
      </p:sp>
      <p:sp>
        <p:nvSpPr>
          <p:cNvPr id="17" name="Text 15"/>
          <p:cNvSpPr/>
          <p:nvPr/>
        </p:nvSpPr>
        <p:spPr>
          <a:xfrm>
            <a:off x="4663440" y="1005840"/>
            <a:ext cx="4114800" cy="384048"/>
          </a:xfrm>
          <a:prstGeom prst="rect">
            <a:avLst/>
          </a:prstGeom>
          <a:noFill/>
          <a:ln/>
        </p:spPr>
        <p:txBody>
          <a:bodyPr wrap="square" lIns="0" tIns="0" rIns="0" bIns="0" rtlCol="0" anchor="ctr"/>
          <a:lstStyle/>
          <a:p>
            <a:pPr marL="0" indent="0" algn="ctr">
              <a:buNone/>
            </a:pPr>
            <a:r>
              <a:rPr lang="en-US" sz="1500" b="1" dirty="0">
                <a:solidFill>
                  <a:srgbClr val="FFFFFF"/>
                </a:solidFill>
              </a:rPr>
              <a:t>Future Directions</a:t>
            </a:r>
            <a:endParaRPr lang="en-US" sz="1500" dirty="0"/>
          </a:p>
        </p:txBody>
      </p:sp>
      <p:sp>
        <p:nvSpPr>
          <p:cNvPr id="18" name="Shape 16"/>
          <p:cNvSpPr/>
          <p:nvPr/>
        </p:nvSpPr>
        <p:spPr>
          <a:xfrm>
            <a:off x="4663440" y="1508760"/>
            <a:ext cx="4114800" cy="694944"/>
          </a:xfrm>
          <a:prstGeom prst="rect">
            <a:avLst/>
          </a:prstGeom>
          <a:solidFill>
            <a:srgbClr val="FFFFFF"/>
          </a:solidFill>
          <a:ln w="12700">
            <a:solidFill>
              <a:srgbClr val="CADCFC"/>
            </a:solidFill>
            <a:prstDash val="solid"/>
          </a:ln>
          <a:effectLst>
            <a:outerShdw blurRad="101600" dist="38100" dir="8100000" algn="bl" rotWithShape="0">
              <a:srgbClr val="1E2761">
                <a:alpha val="15000"/>
              </a:srgbClr>
            </a:outerShdw>
          </a:effectLst>
        </p:spPr>
        <p:txBody>
          <a:bodyPr/>
          <a:lstStyle/>
          <a:p>
            <a:endParaRPr lang="en-US"/>
          </a:p>
        </p:txBody>
      </p:sp>
      <p:sp>
        <p:nvSpPr>
          <p:cNvPr id="19" name="Shape 17"/>
          <p:cNvSpPr/>
          <p:nvPr/>
        </p:nvSpPr>
        <p:spPr>
          <a:xfrm>
            <a:off x="4663440" y="1508760"/>
            <a:ext cx="109728" cy="694944"/>
          </a:xfrm>
          <a:prstGeom prst="rect">
            <a:avLst/>
          </a:prstGeom>
          <a:solidFill>
            <a:srgbClr val="028090"/>
          </a:solidFill>
          <a:ln w="12700">
            <a:solidFill>
              <a:srgbClr val="028090"/>
            </a:solidFill>
            <a:prstDash val="solid"/>
          </a:ln>
        </p:spPr>
        <p:txBody>
          <a:bodyPr/>
          <a:lstStyle/>
          <a:p>
            <a:endParaRPr lang="en-US"/>
          </a:p>
        </p:txBody>
      </p:sp>
      <p:sp>
        <p:nvSpPr>
          <p:cNvPr id="20" name="Text 18"/>
          <p:cNvSpPr/>
          <p:nvPr/>
        </p:nvSpPr>
        <p:spPr>
          <a:xfrm>
            <a:off x="4864608" y="1554480"/>
            <a:ext cx="3794760" cy="246888"/>
          </a:xfrm>
          <a:prstGeom prst="rect">
            <a:avLst/>
          </a:prstGeom>
          <a:noFill/>
          <a:ln/>
        </p:spPr>
        <p:txBody>
          <a:bodyPr wrap="square" rtlCol="0" anchor="ctr"/>
          <a:lstStyle/>
          <a:p>
            <a:pPr marL="0" indent="0">
              <a:buNone/>
            </a:pPr>
            <a:r>
              <a:rPr lang="en-US" sz="1200" b="1" dirty="0">
                <a:solidFill>
                  <a:srgbClr val="028090"/>
                </a:solidFill>
              </a:rPr>
              <a:t>Ground Truth Training</a:t>
            </a:r>
            <a:endParaRPr lang="en-US" sz="1200" dirty="0"/>
          </a:p>
        </p:txBody>
      </p:sp>
      <p:sp>
        <p:nvSpPr>
          <p:cNvPr id="21" name="Text 19"/>
          <p:cNvSpPr/>
          <p:nvPr/>
        </p:nvSpPr>
        <p:spPr>
          <a:xfrm>
            <a:off x="4864608" y="1810512"/>
            <a:ext cx="3794760" cy="347472"/>
          </a:xfrm>
          <a:prstGeom prst="rect">
            <a:avLst/>
          </a:prstGeom>
          <a:noFill/>
          <a:ln/>
        </p:spPr>
        <p:txBody>
          <a:bodyPr wrap="square" rtlCol="0" anchor="ctr"/>
          <a:lstStyle/>
          <a:p>
            <a:pPr marL="0" indent="0">
              <a:buNone/>
            </a:pPr>
            <a:r>
              <a:rPr lang="en-US" sz="1150" dirty="0">
                <a:solidFill>
                  <a:srgbClr val="334155"/>
                </a:solidFill>
              </a:rPr>
              <a:t>Incorporate actual A/B test results and coupon usage data for ground-truth-based model training.</a:t>
            </a:r>
            <a:endParaRPr lang="en-US" sz="1150" dirty="0"/>
          </a:p>
        </p:txBody>
      </p:sp>
      <p:sp>
        <p:nvSpPr>
          <p:cNvPr id="22" name="Shape 20"/>
          <p:cNvSpPr/>
          <p:nvPr/>
        </p:nvSpPr>
        <p:spPr>
          <a:xfrm>
            <a:off x="4663440" y="2313432"/>
            <a:ext cx="4114800" cy="694944"/>
          </a:xfrm>
          <a:prstGeom prst="rect">
            <a:avLst/>
          </a:prstGeom>
          <a:solidFill>
            <a:srgbClr val="FFFFFF"/>
          </a:solidFill>
          <a:ln w="12700">
            <a:solidFill>
              <a:srgbClr val="CADCFC"/>
            </a:solidFill>
            <a:prstDash val="solid"/>
          </a:ln>
          <a:effectLst>
            <a:outerShdw blurRad="101600" dist="38100" dir="8100000" algn="bl" rotWithShape="0">
              <a:srgbClr val="1E2761">
                <a:alpha val="15000"/>
              </a:srgbClr>
            </a:outerShdw>
          </a:effectLst>
        </p:spPr>
        <p:txBody>
          <a:bodyPr/>
          <a:lstStyle/>
          <a:p>
            <a:endParaRPr lang="en-US"/>
          </a:p>
        </p:txBody>
      </p:sp>
      <p:sp>
        <p:nvSpPr>
          <p:cNvPr id="23" name="Shape 21"/>
          <p:cNvSpPr/>
          <p:nvPr/>
        </p:nvSpPr>
        <p:spPr>
          <a:xfrm>
            <a:off x="4663440" y="2313432"/>
            <a:ext cx="109728" cy="694944"/>
          </a:xfrm>
          <a:prstGeom prst="rect">
            <a:avLst/>
          </a:prstGeom>
          <a:solidFill>
            <a:srgbClr val="028090"/>
          </a:solidFill>
          <a:ln w="12700">
            <a:solidFill>
              <a:srgbClr val="028090"/>
            </a:solidFill>
            <a:prstDash val="solid"/>
          </a:ln>
        </p:spPr>
        <p:txBody>
          <a:bodyPr/>
          <a:lstStyle/>
          <a:p>
            <a:endParaRPr lang="en-US"/>
          </a:p>
        </p:txBody>
      </p:sp>
      <p:sp>
        <p:nvSpPr>
          <p:cNvPr id="24" name="Text 22"/>
          <p:cNvSpPr/>
          <p:nvPr/>
        </p:nvSpPr>
        <p:spPr>
          <a:xfrm>
            <a:off x="4864608" y="2359152"/>
            <a:ext cx="3794760" cy="246888"/>
          </a:xfrm>
          <a:prstGeom prst="rect">
            <a:avLst/>
          </a:prstGeom>
          <a:noFill/>
          <a:ln/>
        </p:spPr>
        <p:txBody>
          <a:bodyPr wrap="square" rtlCol="0" anchor="ctr"/>
          <a:lstStyle/>
          <a:p>
            <a:pPr marL="0" indent="0">
              <a:buNone/>
            </a:pPr>
            <a:r>
              <a:rPr lang="en-US" sz="1200" b="1" dirty="0">
                <a:solidFill>
                  <a:srgbClr val="028090"/>
                </a:solidFill>
              </a:rPr>
              <a:t>Real-time Pipeline</a:t>
            </a:r>
            <a:endParaRPr lang="en-US" sz="1200" dirty="0"/>
          </a:p>
        </p:txBody>
      </p:sp>
      <p:sp>
        <p:nvSpPr>
          <p:cNvPr id="25" name="Text 23"/>
          <p:cNvSpPr/>
          <p:nvPr/>
        </p:nvSpPr>
        <p:spPr>
          <a:xfrm>
            <a:off x="4864608" y="2615184"/>
            <a:ext cx="3794760" cy="347472"/>
          </a:xfrm>
          <a:prstGeom prst="rect">
            <a:avLst/>
          </a:prstGeom>
          <a:noFill/>
          <a:ln/>
        </p:spPr>
        <p:txBody>
          <a:bodyPr wrap="square" rtlCol="0" anchor="ctr"/>
          <a:lstStyle/>
          <a:p>
            <a:pPr marL="0" indent="0">
              <a:buNone/>
            </a:pPr>
            <a:r>
              <a:rPr lang="en-US" sz="1150" dirty="0">
                <a:solidFill>
                  <a:srgbClr val="334155"/>
                </a:solidFill>
              </a:rPr>
              <a:t>Extend Streamlit dashboard with live customer data ingestion for real-time recommendations.</a:t>
            </a:r>
            <a:endParaRPr lang="en-US" sz="1150" dirty="0"/>
          </a:p>
        </p:txBody>
      </p:sp>
      <p:sp>
        <p:nvSpPr>
          <p:cNvPr id="26" name="Shape 24"/>
          <p:cNvSpPr/>
          <p:nvPr/>
        </p:nvSpPr>
        <p:spPr>
          <a:xfrm>
            <a:off x="4663440" y="3118104"/>
            <a:ext cx="4114800" cy="694944"/>
          </a:xfrm>
          <a:prstGeom prst="rect">
            <a:avLst/>
          </a:prstGeom>
          <a:solidFill>
            <a:srgbClr val="FFFFFF"/>
          </a:solidFill>
          <a:ln w="12700">
            <a:solidFill>
              <a:srgbClr val="CADCFC"/>
            </a:solidFill>
            <a:prstDash val="solid"/>
          </a:ln>
          <a:effectLst>
            <a:outerShdw blurRad="101600" dist="38100" dir="8100000" algn="bl" rotWithShape="0">
              <a:srgbClr val="1E2761">
                <a:alpha val="15000"/>
              </a:srgbClr>
            </a:outerShdw>
          </a:effectLst>
        </p:spPr>
        <p:txBody>
          <a:bodyPr/>
          <a:lstStyle/>
          <a:p>
            <a:endParaRPr lang="en-US"/>
          </a:p>
        </p:txBody>
      </p:sp>
      <p:sp>
        <p:nvSpPr>
          <p:cNvPr id="27" name="Shape 25"/>
          <p:cNvSpPr/>
          <p:nvPr/>
        </p:nvSpPr>
        <p:spPr>
          <a:xfrm>
            <a:off x="4663440" y="3118104"/>
            <a:ext cx="109728" cy="694944"/>
          </a:xfrm>
          <a:prstGeom prst="rect">
            <a:avLst/>
          </a:prstGeom>
          <a:solidFill>
            <a:srgbClr val="028090"/>
          </a:solidFill>
          <a:ln w="12700">
            <a:solidFill>
              <a:srgbClr val="028090"/>
            </a:solidFill>
            <a:prstDash val="solid"/>
          </a:ln>
        </p:spPr>
        <p:txBody>
          <a:bodyPr/>
          <a:lstStyle/>
          <a:p>
            <a:endParaRPr lang="en-US"/>
          </a:p>
        </p:txBody>
      </p:sp>
      <p:sp>
        <p:nvSpPr>
          <p:cNvPr id="28" name="Text 26"/>
          <p:cNvSpPr/>
          <p:nvPr/>
        </p:nvSpPr>
        <p:spPr>
          <a:xfrm>
            <a:off x="4864608" y="3163824"/>
            <a:ext cx="3794760" cy="246888"/>
          </a:xfrm>
          <a:prstGeom prst="rect">
            <a:avLst/>
          </a:prstGeom>
          <a:noFill/>
          <a:ln/>
        </p:spPr>
        <p:txBody>
          <a:bodyPr wrap="square" rtlCol="0" anchor="ctr"/>
          <a:lstStyle/>
          <a:p>
            <a:pPr marL="0" indent="0">
              <a:buNone/>
            </a:pPr>
            <a:r>
              <a:rPr lang="en-US" sz="1200" b="1" dirty="0">
                <a:solidFill>
                  <a:srgbClr val="028090"/>
                </a:solidFill>
              </a:rPr>
              <a:t>Deep Learning</a:t>
            </a:r>
            <a:endParaRPr lang="en-US" sz="1200" dirty="0"/>
          </a:p>
        </p:txBody>
      </p:sp>
      <p:sp>
        <p:nvSpPr>
          <p:cNvPr id="29" name="Text 27"/>
          <p:cNvSpPr/>
          <p:nvPr/>
        </p:nvSpPr>
        <p:spPr>
          <a:xfrm>
            <a:off x="4864608" y="3419856"/>
            <a:ext cx="3794760" cy="347472"/>
          </a:xfrm>
          <a:prstGeom prst="rect">
            <a:avLst/>
          </a:prstGeom>
          <a:noFill/>
          <a:ln/>
        </p:spPr>
        <p:txBody>
          <a:bodyPr wrap="square" rtlCol="0" anchor="ctr"/>
          <a:lstStyle/>
          <a:p>
            <a:pPr marL="0" indent="0">
              <a:buNone/>
            </a:pPr>
            <a:r>
              <a:rPr lang="en-US" sz="1150" dirty="0">
                <a:solidFill>
                  <a:srgbClr val="334155"/>
                </a:solidFill>
              </a:rPr>
              <a:t>Explore customer embeddings and deep learning approaches to capture latent behavioral patterns.</a:t>
            </a:r>
            <a:endParaRPr lang="en-US" sz="1150" dirty="0"/>
          </a:p>
        </p:txBody>
      </p:sp>
      <p:sp>
        <p:nvSpPr>
          <p:cNvPr id="30" name="Shape 28"/>
          <p:cNvSpPr/>
          <p:nvPr/>
        </p:nvSpPr>
        <p:spPr>
          <a:xfrm>
            <a:off x="4663440" y="3922776"/>
            <a:ext cx="4114800" cy="694944"/>
          </a:xfrm>
          <a:prstGeom prst="rect">
            <a:avLst/>
          </a:prstGeom>
          <a:solidFill>
            <a:srgbClr val="FFFFFF"/>
          </a:solidFill>
          <a:ln w="12700">
            <a:solidFill>
              <a:srgbClr val="CADCFC"/>
            </a:solidFill>
            <a:prstDash val="solid"/>
          </a:ln>
          <a:effectLst>
            <a:outerShdw blurRad="101600" dist="38100" dir="8100000" algn="bl" rotWithShape="0">
              <a:srgbClr val="1E2761">
                <a:alpha val="15000"/>
              </a:srgbClr>
            </a:outerShdw>
          </a:effectLst>
        </p:spPr>
        <p:txBody>
          <a:bodyPr/>
          <a:lstStyle/>
          <a:p>
            <a:endParaRPr lang="en-US"/>
          </a:p>
        </p:txBody>
      </p:sp>
      <p:sp>
        <p:nvSpPr>
          <p:cNvPr id="31" name="Shape 29"/>
          <p:cNvSpPr/>
          <p:nvPr/>
        </p:nvSpPr>
        <p:spPr>
          <a:xfrm>
            <a:off x="4663440" y="3922776"/>
            <a:ext cx="109728" cy="694944"/>
          </a:xfrm>
          <a:prstGeom prst="rect">
            <a:avLst/>
          </a:prstGeom>
          <a:solidFill>
            <a:srgbClr val="028090"/>
          </a:solidFill>
          <a:ln w="12700">
            <a:solidFill>
              <a:srgbClr val="028090"/>
            </a:solidFill>
            <a:prstDash val="solid"/>
          </a:ln>
        </p:spPr>
        <p:txBody>
          <a:bodyPr/>
          <a:lstStyle/>
          <a:p>
            <a:endParaRPr lang="en-US"/>
          </a:p>
        </p:txBody>
      </p:sp>
      <p:sp>
        <p:nvSpPr>
          <p:cNvPr id="32" name="Text 30"/>
          <p:cNvSpPr/>
          <p:nvPr/>
        </p:nvSpPr>
        <p:spPr>
          <a:xfrm>
            <a:off x="4864608" y="3968496"/>
            <a:ext cx="3794760" cy="246888"/>
          </a:xfrm>
          <a:prstGeom prst="rect">
            <a:avLst/>
          </a:prstGeom>
          <a:noFill/>
          <a:ln/>
        </p:spPr>
        <p:txBody>
          <a:bodyPr wrap="square" rtlCol="0" anchor="ctr"/>
          <a:lstStyle/>
          <a:p>
            <a:pPr marL="0" indent="0">
              <a:buNone/>
            </a:pPr>
            <a:r>
              <a:rPr lang="en-US" sz="1200" b="1" dirty="0">
                <a:solidFill>
                  <a:srgbClr val="028090"/>
                </a:solidFill>
              </a:rPr>
              <a:t>Temporal Analysis</a:t>
            </a:r>
            <a:endParaRPr lang="en-US" sz="1200" dirty="0"/>
          </a:p>
        </p:txBody>
      </p:sp>
      <p:sp>
        <p:nvSpPr>
          <p:cNvPr id="33" name="Text 31"/>
          <p:cNvSpPr/>
          <p:nvPr/>
        </p:nvSpPr>
        <p:spPr>
          <a:xfrm>
            <a:off x="4864608" y="4224528"/>
            <a:ext cx="3794760" cy="347472"/>
          </a:xfrm>
          <a:prstGeom prst="rect">
            <a:avLst/>
          </a:prstGeom>
          <a:noFill/>
          <a:ln/>
        </p:spPr>
        <p:txBody>
          <a:bodyPr wrap="square" rtlCol="0" anchor="ctr"/>
          <a:lstStyle/>
          <a:p>
            <a:pPr marL="0" indent="0">
              <a:buNone/>
            </a:pPr>
            <a:r>
              <a:rPr lang="en-US" sz="1150" dirty="0">
                <a:solidFill>
                  <a:srgbClr val="334155"/>
                </a:solidFill>
              </a:rPr>
              <a:t>Track how discount sensitivity evolves across a customer's lifecycle using time-series modeling.</a:t>
            </a:r>
            <a:endParaRPr lang="en-US" sz="1150" dirty="0"/>
          </a:p>
        </p:txBody>
      </p:sp>
      <p:sp>
        <p:nvSpPr>
          <p:cNvPr id="34" name="Shape 32"/>
          <p:cNvSpPr/>
          <p:nvPr/>
        </p:nvSpPr>
        <p:spPr>
          <a:xfrm>
            <a:off x="0" y="4869180"/>
            <a:ext cx="9144000" cy="274320"/>
          </a:xfrm>
          <a:prstGeom prst="rect">
            <a:avLst/>
          </a:prstGeom>
          <a:solidFill>
            <a:srgbClr val="1E2761"/>
          </a:solidFill>
          <a:ln w="12700">
            <a:solidFill>
              <a:srgbClr val="1E2761"/>
            </a:solidFill>
            <a:prstDash val="solid"/>
          </a:ln>
        </p:spPr>
        <p:txBody>
          <a:bodyPr/>
          <a:lstStyle/>
          <a:p>
            <a:endParaRPr lang="en-US"/>
          </a:p>
        </p:txBody>
      </p:sp>
      <p:sp>
        <p:nvSpPr>
          <p:cNvPr id="35" name="Text 33"/>
          <p:cNvSpPr/>
          <p:nvPr/>
        </p:nvSpPr>
        <p:spPr>
          <a:xfrm>
            <a:off x="0" y="4869180"/>
            <a:ext cx="9144000" cy="274320"/>
          </a:xfrm>
          <a:prstGeom prst="rect">
            <a:avLst/>
          </a:prstGeom>
          <a:noFill/>
          <a:ln/>
        </p:spPr>
        <p:txBody>
          <a:bodyPr wrap="square" lIns="0" tIns="0" rIns="0" bIns="0" rtlCol="0" anchor="ctr"/>
          <a:lstStyle/>
          <a:p>
            <a:pPr marL="0" indent="0" algn="ctr">
              <a:buNone/>
            </a:pPr>
            <a:r>
              <a:rPr lang="en-US" sz="900" dirty="0">
                <a:solidFill>
                  <a:srgbClr val="CADCFC"/>
                </a:solidFill>
              </a:rPr>
              <a:t>Smart Discount Targeting System  |  NUCES CS3005  |  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28090"/>
          </a:solidFill>
          <a:ln w="12700">
            <a:solidFill>
              <a:srgbClr val="028090"/>
            </a:solidFill>
            <a:prstDash val="solid"/>
          </a:ln>
        </p:spPr>
        <p:txBody>
          <a:bodyPr/>
          <a:lstStyle/>
          <a:p>
            <a:endParaRPr lang="en-US"/>
          </a:p>
        </p:txBody>
      </p:sp>
      <p:sp>
        <p:nvSpPr>
          <p:cNvPr id="3" name="Text 1"/>
          <p:cNvSpPr/>
          <p:nvPr/>
        </p:nvSpPr>
        <p:spPr>
          <a:xfrm>
            <a:off x="457200" y="164592"/>
            <a:ext cx="7772400" cy="566928"/>
          </a:xfrm>
          <a:prstGeom prst="rect">
            <a:avLst/>
          </a:prstGeom>
          <a:noFill/>
          <a:ln/>
        </p:spPr>
        <p:txBody>
          <a:bodyPr wrap="square" rtlCol="0" anchor="ctr"/>
          <a:lstStyle/>
          <a:p>
            <a:pPr marL="0" indent="0" algn="l">
              <a:buNone/>
            </a:pPr>
            <a:r>
              <a:rPr lang="en-US" sz="3000" b="1" dirty="0">
                <a:solidFill>
                  <a:srgbClr val="1E2761"/>
                </a:solidFill>
              </a:rPr>
              <a:t>Technology Stack</a:t>
            </a:r>
            <a:endParaRPr lang="en-US" sz="3000" dirty="0"/>
          </a:p>
        </p:txBody>
      </p:sp>
      <p:sp>
        <p:nvSpPr>
          <p:cNvPr id="4" name="Text 2"/>
          <p:cNvSpPr/>
          <p:nvPr/>
        </p:nvSpPr>
        <p:spPr>
          <a:xfrm>
            <a:off x="457200" y="713232"/>
            <a:ext cx="8229600" cy="274320"/>
          </a:xfrm>
          <a:prstGeom prst="rect">
            <a:avLst/>
          </a:prstGeom>
          <a:noFill/>
          <a:ln/>
        </p:spPr>
        <p:txBody>
          <a:bodyPr wrap="square" rtlCol="0" anchor="ctr"/>
          <a:lstStyle/>
          <a:p>
            <a:pPr marL="0" indent="0" algn="l">
              <a:buNone/>
            </a:pPr>
            <a:r>
              <a:rPr lang="en-US" sz="1300" i="1" dirty="0">
                <a:solidFill>
                  <a:srgbClr val="028090"/>
                </a:solidFill>
              </a:rPr>
              <a:t>Tools and frameworks powering the system</a:t>
            </a:r>
            <a:endParaRPr lang="en-US" sz="1300" dirty="0"/>
          </a:p>
        </p:txBody>
      </p:sp>
      <p:sp>
        <p:nvSpPr>
          <p:cNvPr id="5" name="Shape 3"/>
          <p:cNvSpPr/>
          <p:nvPr/>
        </p:nvSpPr>
        <p:spPr>
          <a:xfrm>
            <a:off x="457200" y="1005840"/>
            <a:ext cx="4114800" cy="1188720"/>
          </a:xfrm>
          <a:prstGeom prst="rect">
            <a:avLst/>
          </a:prstGeom>
          <a:solidFill>
            <a:srgbClr val="FFFFFF"/>
          </a:solidFill>
          <a:ln w="12700">
            <a:solidFill>
              <a:srgbClr val="CADCFC"/>
            </a:solidFill>
            <a:prstDash val="solid"/>
          </a:ln>
          <a:effectLst>
            <a:outerShdw blurRad="101600" dist="38100" dir="8100000" algn="bl" rotWithShape="0">
              <a:srgbClr val="1E2761">
                <a:alpha val="15000"/>
              </a:srgbClr>
            </a:outerShdw>
          </a:effectLst>
        </p:spPr>
        <p:txBody>
          <a:bodyPr/>
          <a:lstStyle/>
          <a:p>
            <a:endParaRPr lang="en-US"/>
          </a:p>
        </p:txBody>
      </p:sp>
      <p:sp>
        <p:nvSpPr>
          <p:cNvPr id="6" name="Shape 4"/>
          <p:cNvSpPr/>
          <p:nvPr/>
        </p:nvSpPr>
        <p:spPr>
          <a:xfrm>
            <a:off x="457200" y="1005840"/>
            <a:ext cx="4114800" cy="384048"/>
          </a:xfrm>
          <a:prstGeom prst="rect">
            <a:avLst/>
          </a:prstGeom>
          <a:solidFill>
            <a:srgbClr val="1E2761"/>
          </a:solidFill>
          <a:ln w="12700">
            <a:solidFill>
              <a:srgbClr val="1E2761"/>
            </a:solidFill>
            <a:prstDash val="solid"/>
          </a:ln>
        </p:spPr>
        <p:txBody>
          <a:bodyPr/>
          <a:lstStyle/>
          <a:p>
            <a:endParaRPr lang="en-US"/>
          </a:p>
        </p:txBody>
      </p:sp>
      <p:sp>
        <p:nvSpPr>
          <p:cNvPr id="7" name="Text 5"/>
          <p:cNvSpPr/>
          <p:nvPr/>
        </p:nvSpPr>
        <p:spPr>
          <a:xfrm>
            <a:off x="566928" y="1005840"/>
            <a:ext cx="3895344" cy="384048"/>
          </a:xfrm>
          <a:prstGeom prst="rect">
            <a:avLst/>
          </a:prstGeom>
          <a:noFill/>
          <a:ln/>
        </p:spPr>
        <p:txBody>
          <a:bodyPr wrap="square" rtlCol="0" anchor="ctr"/>
          <a:lstStyle/>
          <a:p>
            <a:pPr marL="0" indent="0">
              <a:buNone/>
            </a:pPr>
            <a:r>
              <a:rPr lang="en-US" sz="1300" b="1" dirty="0">
                <a:solidFill>
                  <a:srgbClr val="FFFFFF"/>
                </a:solidFill>
              </a:rPr>
              <a:t>Data Processing</a:t>
            </a:r>
            <a:endParaRPr lang="en-US" sz="1300" dirty="0"/>
          </a:p>
        </p:txBody>
      </p:sp>
      <p:sp>
        <p:nvSpPr>
          <p:cNvPr id="8" name="Text 6"/>
          <p:cNvSpPr/>
          <p:nvPr/>
        </p:nvSpPr>
        <p:spPr>
          <a:xfrm>
            <a:off x="566928" y="1463040"/>
            <a:ext cx="3895344" cy="658368"/>
          </a:xfrm>
          <a:prstGeom prst="rect">
            <a:avLst/>
          </a:prstGeom>
          <a:noFill/>
          <a:ln/>
        </p:spPr>
        <p:txBody>
          <a:bodyPr wrap="square" rtlCol="0" anchor="ctr"/>
          <a:lstStyle/>
          <a:p>
            <a:pPr marL="0" indent="0">
              <a:buNone/>
            </a:pPr>
            <a:r>
              <a:rPr lang="en-US" sz="1300" dirty="0">
                <a:solidFill>
                  <a:srgbClr val="334155"/>
                </a:solidFill>
              </a:rPr>
              <a:t>Python  •  Pandas  •  NumPy</a:t>
            </a:r>
            <a:endParaRPr lang="en-US" sz="1300" dirty="0"/>
          </a:p>
        </p:txBody>
      </p:sp>
      <p:sp>
        <p:nvSpPr>
          <p:cNvPr id="9" name="Shape 7"/>
          <p:cNvSpPr/>
          <p:nvPr/>
        </p:nvSpPr>
        <p:spPr>
          <a:xfrm>
            <a:off x="4892040" y="1005840"/>
            <a:ext cx="4114800" cy="1188720"/>
          </a:xfrm>
          <a:prstGeom prst="rect">
            <a:avLst/>
          </a:prstGeom>
          <a:solidFill>
            <a:srgbClr val="FFFFFF"/>
          </a:solidFill>
          <a:ln w="12700">
            <a:solidFill>
              <a:srgbClr val="CADCFC"/>
            </a:solidFill>
            <a:prstDash val="solid"/>
          </a:ln>
          <a:effectLst>
            <a:outerShdw blurRad="101600" dist="38100" dir="8100000" algn="bl" rotWithShape="0">
              <a:srgbClr val="1E2761">
                <a:alpha val="15000"/>
              </a:srgbClr>
            </a:outerShdw>
          </a:effectLst>
        </p:spPr>
        <p:txBody>
          <a:bodyPr/>
          <a:lstStyle/>
          <a:p>
            <a:endParaRPr lang="en-US"/>
          </a:p>
        </p:txBody>
      </p:sp>
      <p:sp>
        <p:nvSpPr>
          <p:cNvPr id="10" name="Shape 8"/>
          <p:cNvSpPr/>
          <p:nvPr/>
        </p:nvSpPr>
        <p:spPr>
          <a:xfrm>
            <a:off x="4892040" y="1005840"/>
            <a:ext cx="4114800" cy="384048"/>
          </a:xfrm>
          <a:prstGeom prst="rect">
            <a:avLst/>
          </a:prstGeom>
          <a:solidFill>
            <a:srgbClr val="028090"/>
          </a:solidFill>
          <a:ln w="12700">
            <a:solidFill>
              <a:srgbClr val="028090"/>
            </a:solidFill>
            <a:prstDash val="solid"/>
          </a:ln>
        </p:spPr>
        <p:txBody>
          <a:bodyPr/>
          <a:lstStyle/>
          <a:p>
            <a:endParaRPr lang="en-US"/>
          </a:p>
        </p:txBody>
      </p:sp>
      <p:sp>
        <p:nvSpPr>
          <p:cNvPr id="11" name="Text 9"/>
          <p:cNvSpPr/>
          <p:nvPr/>
        </p:nvSpPr>
        <p:spPr>
          <a:xfrm>
            <a:off x="5001768" y="1005840"/>
            <a:ext cx="3895344" cy="384048"/>
          </a:xfrm>
          <a:prstGeom prst="rect">
            <a:avLst/>
          </a:prstGeom>
          <a:noFill/>
          <a:ln/>
        </p:spPr>
        <p:txBody>
          <a:bodyPr wrap="square" rtlCol="0" anchor="ctr"/>
          <a:lstStyle/>
          <a:p>
            <a:pPr marL="0" indent="0">
              <a:buNone/>
            </a:pPr>
            <a:r>
              <a:rPr lang="en-US" sz="1300" b="1" dirty="0">
                <a:solidFill>
                  <a:srgbClr val="FFFFFF"/>
                </a:solidFill>
              </a:rPr>
              <a:t>Machine Learning</a:t>
            </a:r>
            <a:endParaRPr lang="en-US" sz="1300" dirty="0"/>
          </a:p>
        </p:txBody>
      </p:sp>
      <p:sp>
        <p:nvSpPr>
          <p:cNvPr id="12" name="Text 10"/>
          <p:cNvSpPr/>
          <p:nvPr/>
        </p:nvSpPr>
        <p:spPr>
          <a:xfrm>
            <a:off x="5001768" y="1463040"/>
            <a:ext cx="3895344" cy="658368"/>
          </a:xfrm>
          <a:prstGeom prst="rect">
            <a:avLst/>
          </a:prstGeom>
          <a:noFill/>
          <a:ln/>
        </p:spPr>
        <p:txBody>
          <a:bodyPr wrap="square" rtlCol="0" anchor="ctr"/>
          <a:lstStyle/>
          <a:p>
            <a:pPr marL="0" indent="0">
              <a:buNone/>
            </a:pPr>
            <a:r>
              <a:rPr lang="en-US" sz="1300" dirty="0">
                <a:solidFill>
                  <a:srgbClr val="334155"/>
                </a:solidFill>
              </a:rPr>
              <a:t>Scikit-learn (KMeans, PCA, DecisionTree, RandomForest)  •  XGBoost</a:t>
            </a:r>
            <a:endParaRPr lang="en-US" sz="1300" dirty="0"/>
          </a:p>
        </p:txBody>
      </p:sp>
      <p:sp>
        <p:nvSpPr>
          <p:cNvPr id="13" name="Shape 11"/>
          <p:cNvSpPr/>
          <p:nvPr/>
        </p:nvSpPr>
        <p:spPr>
          <a:xfrm>
            <a:off x="457200" y="2331720"/>
            <a:ext cx="4114800" cy="1188720"/>
          </a:xfrm>
          <a:prstGeom prst="rect">
            <a:avLst/>
          </a:prstGeom>
          <a:solidFill>
            <a:srgbClr val="FFFFFF"/>
          </a:solidFill>
          <a:ln w="12700">
            <a:solidFill>
              <a:srgbClr val="CADCFC"/>
            </a:solidFill>
            <a:prstDash val="solid"/>
          </a:ln>
          <a:effectLst>
            <a:outerShdw blurRad="101600" dist="38100" dir="8100000" algn="bl" rotWithShape="0">
              <a:srgbClr val="1E2761">
                <a:alpha val="15000"/>
              </a:srgbClr>
            </a:outerShdw>
          </a:effectLst>
        </p:spPr>
        <p:txBody>
          <a:bodyPr/>
          <a:lstStyle/>
          <a:p>
            <a:endParaRPr lang="en-US"/>
          </a:p>
        </p:txBody>
      </p:sp>
      <p:sp>
        <p:nvSpPr>
          <p:cNvPr id="14" name="Shape 12"/>
          <p:cNvSpPr/>
          <p:nvPr/>
        </p:nvSpPr>
        <p:spPr>
          <a:xfrm>
            <a:off x="457200" y="2331720"/>
            <a:ext cx="4114800" cy="384048"/>
          </a:xfrm>
          <a:prstGeom prst="rect">
            <a:avLst/>
          </a:prstGeom>
          <a:solidFill>
            <a:srgbClr val="243380"/>
          </a:solidFill>
          <a:ln w="12700">
            <a:solidFill>
              <a:srgbClr val="243380"/>
            </a:solidFill>
            <a:prstDash val="solid"/>
          </a:ln>
        </p:spPr>
        <p:txBody>
          <a:bodyPr/>
          <a:lstStyle/>
          <a:p>
            <a:endParaRPr lang="en-US"/>
          </a:p>
        </p:txBody>
      </p:sp>
      <p:sp>
        <p:nvSpPr>
          <p:cNvPr id="15" name="Text 13"/>
          <p:cNvSpPr/>
          <p:nvPr/>
        </p:nvSpPr>
        <p:spPr>
          <a:xfrm>
            <a:off x="566928" y="2331720"/>
            <a:ext cx="3895344" cy="384048"/>
          </a:xfrm>
          <a:prstGeom prst="rect">
            <a:avLst/>
          </a:prstGeom>
          <a:noFill/>
          <a:ln/>
        </p:spPr>
        <p:txBody>
          <a:bodyPr wrap="square" rtlCol="0" anchor="ctr"/>
          <a:lstStyle/>
          <a:p>
            <a:pPr marL="0" indent="0">
              <a:buNone/>
            </a:pPr>
            <a:r>
              <a:rPr lang="en-US" sz="1300" b="1" dirty="0">
                <a:solidFill>
                  <a:srgbClr val="FFFFFF"/>
                </a:solidFill>
              </a:rPr>
              <a:t>Association Mining</a:t>
            </a:r>
            <a:endParaRPr lang="en-US" sz="1300" dirty="0"/>
          </a:p>
        </p:txBody>
      </p:sp>
      <p:sp>
        <p:nvSpPr>
          <p:cNvPr id="16" name="Text 14"/>
          <p:cNvSpPr/>
          <p:nvPr/>
        </p:nvSpPr>
        <p:spPr>
          <a:xfrm>
            <a:off x="566928" y="2788920"/>
            <a:ext cx="3895344" cy="658368"/>
          </a:xfrm>
          <a:prstGeom prst="rect">
            <a:avLst/>
          </a:prstGeom>
          <a:noFill/>
          <a:ln/>
        </p:spPr>
        <p:txBody>
          <a:bodyPr wrap="square" rtlCol="0" anchor="ctr"/>
          <a:lstStyle/>
          <a:p>
            <a:pPr marL="0" indent="0">
              <a:buNone/>
            </a:pPr>
            <a:r>
              <a:rPr lang="en-US" sz="1300" dirty="0">
                <a:solidFill>
                  <a:srgbClr val="334155"/>
                </a:solidFill>
              </a:rPr>
              <a:t>mlxtend (Apriori, association_rules)</a:t>
            </a:r>
            <a:endParaRPr lang="en-US" sz="1300" dirty="0"/>
          </a:p>
        </p:txBody>
      </p:sp>
      <p:sp>
        <p:nvSpPr>
          <p:cNvPr id="17" name="Shape 15"/>
          <p:cNvSpPr/>
          <p:nvPr/>
        </p:nvSpPr>
        <p:spPr>
          <a:xfrm>
            <a:off x="4892040" y="2331720"/>
            <a:ext cx="4114800" cy="1188720"/>
          </a:xfrm>
          <a:prstGeom prst="rect">
            <a:avLst/>
          </a:prstGeom>
          <a:solidFill>
            <a:srgbClr val="FFFFFF"/>
          </a:solidFill>
          <a:ln w="12700">
            <a:solidFill>
              <a:srgbClr val="CADCFC"/>
            </a:solidFill>
            <a:prstDash val="solid"/>
          </a:ln>
          <a:effectLst>
            <a:outerShdw blurRad="101600" dist="38100" dir="8100000" algn="bl" rotWithShape="0">
              <a:srgbClr val="1E2761">
                <a:alpha val="15000"/>
              </a:srgbClr>
            </a:outerShdw>
          </a:effectLst>
        </p:spPr>
        <p:txBody>
          <a:bodyPr/>
          <a:lstStyle/>
          <a:p>
            <a:endParaRPr lang="en-US"/>
          </a:p>
        </p:txBody>
      </p:sp>
      <p:sp>
        <p:nvSpPr>
          <p:cNvPr id="18" name="Shape 16"/>
          <p:cNvSpPr/>
          <p:nvPr/>
        </p:nvSpPr>
        <p:spPr>
          <a:xfrm>
            <a:off x="4892040" y="2331720"/>
            <a:ext cx="4114800" cy="384048"/>
          </a:xfrm>
          <a:prstGeom prst="rect">
            <a:avLst/>
          </a:prstGeom>
          <a:solidFill>
            <a:srgbClr val="028090"/>
          </a:solidFill>
          <a:ln w="12700">
            <a:solidFill>
              <a:srgbClr val="028090"/>
            </a:solidFill>
            <a:prstDash val="solid"/>
          </a:ln>
        </p:spPr>
        <p:txBody>
          <a:bodyPr/>
          <a:lstStyle/>
          <a:p>
            <a:endParaRPr lang="en-US"/>
          </a:p>
        </p:txBody>
      </p:sp>
      <p:sp>
        <p:nvSpPr>
          <p:cNvPr id="19" name="Text 17"/>
          <p:cNvSpPr/>
          <p:nvPr/>
        </p:nvSpPr>
        <p:spPr>
          <a:xfrm>
            <a:off x="5001768" y="2331720"/>
            <a:ext cx="3895344" cy="384048"/>
          </a:xfrm>
          <a:prstGeom prst="rect">
            <a:avLst/>
          </a:prstGeom>
          <a:noFill/>
          <a:ln/>
        </p:spPr>
        <p:txBody>
          <a:bodyPr wrap="square" rtlCol="0" anchor="ctr"/>
          <a:lstStyle/>
          <a:p>
            <a:pPr marL="0" indent="0">
              <a:buNone/>
            </a:pPr>
            <a:r>
              <a:rPr lang="en-US" sz="1300" b="1" dirty="0">
                <a:solidFill>
                  <a:srgbClr val="FFFFFF"/>
                </a:solidFill>
              </a:rPr>
              <a:t>Visualization</a:t>
            </a:r>
            <a:endParaRPr lang="en-US" sz="1300" dirty="0"/>
          </a:p>
        </p:txBody>
      </p:sp>
      <p:sp>
        <p:nvSpPr>
          <p:cNvPr id="20" name="Text 18"/>
          <p:cNvSpPr/>
          <p:nvPr/>
        </p:nvSpPr>
        <p:spPr>
          <a:xfrm>
            <a:off x="5001768" y="2788920"/>
            <a:ext cx="3895344" cy="658368"/>
          </a:xfrm>
          <a:prstGeom prst="rect">
            <a:avLst/>
          </a:prstGeom>
          <a:noFill/>
          <a:ln/>
        </p:spPr>
        <p:txBody>
          <a:bodyPr wrap="square" rtlCol="0" anchor="ctr"/>
          <a:lstStyle/>
          <a:p>
            <a:pPr marL="0" indent="0">
              <a:buNone/>
            </a:pPr>
            <a:r>
              <a:rPr lang="en-US" sz="1300" dirty="0">
                <a:solidFill>
                  <a:srgbClr val="334155"/>
                </a:solidFill>
              </a:rPr>
              <a:t>Matplotlib  •  Seaborn</a:t>
            </a:r>
            <a:endParaRPr lang="en-US" sz="1300" dirty="0"/>
          </a:p>
        </p:txBody>
      </p:sp>
      <p:sp>
        <p:nvSpPr>
          <p:cNvPr id="21" name="Shape 19"/>
          <p:cNvSpPr/>
          <p:nvPr/>
        </p:nvSpPr>
        <p:spPr>
          <a:xfrm>
            <a:off x="457200" y="3657600"/>
            <a:ext cx="4114800" cy="1188720"/>
          </a:xfrm>
          <a:prstGeom prst="rect">
            <a:avLst/>
          </a:prstGeom>
          <a:solidFill>
            <a:srgbClr val="FFFFFF"/>
          </a:solidFill>
          <a:ln w="12700">
            <a:solidFill>
              <a:srgbClr val="CADCFC"/>
            </a:solidFill>
            <a:prstDash val="solid"/>
          </a:ln>
          <a:effectLst>
            <a:outerShdw blurRad="101600" dist="38100" dir="8100000" algn="bl" rotWithShape="0">
              <a:srgbClr val="1E2761">
                <a:alpha val="15000"/>
              </a:srgbClr>
            </a:outerShdw>
          </a:effectLst>
        </p:spPr>
        <p:txBody>
          <a:bodyPr/>
          <a:lstStyle/>
          <a:p>
            <a:endParaRPr lang="en-US"/>
          </a:p>
        </p:txBody>
      </p:sp>
      <p:sp>
        <p:nvSpPr>
          <p:cNvPr id="22" name="Shape 20"/>
          <p:cNvSpPr/>
          <p:nvPr/>
        </p:nvSpPr>
        <p:spPr>
          <a:xfrm>
            <a:off x="457200" y="3657600"/>
            <a:ext cx="4114800" cy="384048"/>
          </a:xfrm>
          <a:prstGeom prst="rect">
            <a:avLst/>
          </a:prstGeom>
          <a:solidFill>
            <a:srgbClr val="02C39A"/>
          </a:solidFill>
          <a:ln w="12700">
            <a:solidFill>
              <a:srgbClr val="02C39A"/>
            </a:solidFill>
            <a:prstDash val="solid"/>
          </a:ln>
        </p:spPr>
        <p:txBody>
          <a:bodyPr/>
          <a:lstStyle/>
          <a:p>
            <a:endParaRPr lang="en-US"/>
          </a:p>
        </p:txBody>
      </p:sp>
      <p:sp>
        <p:nvSpPr>
          <p:cNvPr id="23" name="Text 21"/>
          <p:cNvSpPr/>
          <p:nvPr/>
        </p:nvSpPr>
        <p:spPr>
          <a:xfrm>
            <a:off x="566928" y="3657600"/>
            <a:ext cx="3895344" cy="384048"/>
          </a:xfrm>
          <a:prstGeom prst="rect">
            <a:avLst/>
          </a:prstGeom>
          <a:noFill/>
          <a:ln/>
        </p:spPr>
        <p:txBody>
          <a:bodyPr wrap="square" rtlCol="0" anchor="ctr"/>
          <a:lstStyle/>
          <a:p>
            <a:pPr marL="0" indent="0">
              <a:buNone/>
            </a:pPr>
            <a:r>
              <a:rPr lang="en-US" sz="1300" b="1" dirty="0">
                <a:solidFill>
                  <a:srgbClr val="FFFFFF"/>
                </a:solidFill>
              </a:rPr>
              <a:t>Dashboard</a:t>
            </a:r>
            <a:endParaRPr lang="en-US" sz="1300" dirty="0"/>
          </a:p>
        </p:txBody>
      </p:sp>
      <p:sp>
        <p:nvSpPr>
          <p:cNvPr id="24" name="Text 22"/>
          <p:cNvSpPr/>
          <p:nvPr/>
        </p:nvSpPr>
        <p:spPr>
          <a:xfrm>
            <a:off x="566928" y="4114800"/>
            <a:ext cx="3895344" cy="658368"/>
          </a:xfrm>
          <a:prstGeom prst="rect">
            <a:avLst/>
          </a:prstGeom>
          <a:noFill/>
          <a:ln/>
        </p:spPr>
        <p:txBody>
          <a:bodyPr wrap="square" rtlCol="0" anchor="ctr"/>
          <a:lstStyle/>
          <a:p>
            <a:pPr marL="0" indent="0">
              <a:buNone/>
            </a:pPr>
            <a:r>
              <a:rPr lang="en-US" sz="1300" dirty="0">
                <a:solidFill>
                  <a:srgbClr val="334155"/>
                </a:solidFill>
              </a:rPr>
              <a:t>Streamlit</a:t>
            </a:r>
            <a:endParaRPr lang="en-US" sz="1300" dirty="0"/>
          </a:p>
        </p:txBody>
      </p:sp>
      <p:sp>
        <p:nvSpPr>
          <p:cNvPr id="25" name="Shape 23"/>
          <p:cNvSpPr/>
          <p:nvPr/>
        </p:nvSpPr>
        <p:spPr>
          <a:xfrm>
            <a:off x="4892040" y="3657600"/>
            <a:ext cx="4114800" cy="1188720"/>
          </a:xfrm>
          <a:prstGeom prst="rect">
            <a:avLst/>
          </a:prstGeom>
          <a:solidFill>
            <a:srgbClr val="FFFFFF"/>
          </a:solidFill>
          <a:ln w="12700">
            <a:solidFill>
              <a:srgbClr val="CADCFC"/>
            </a:solidFill>
            <a:prstDash val="solid"/>
          </a:ln>
          <a:effectLst>
            <a:outerShdw blurRad="101600" dist="38100" dir="8100000" algn="bl" rotWithShape="0">
              <a:srgbClr val="1E2761">
                <a:alpha val="15000"/>
              </a:srgbClr>
            </a:outerShdw>
          </a:effectLst>
        </p:spPr>
        <p:txBody>
          <a:bodyPr/>
          <a:lstStyle/>
          <a:p>
            <a:endParaRPr lang="en-US"/>
          </a:p>
        </p:txBody>
      </p:sp>
      <p:sp>
        <p:nvSpPr>
          <p:cNvPr id="26" name="Shape 24"/>
          <p:cNvSpPr/>
          <p:nvPr/>
        </p:nvSpPr>
        <p:spPr>
          <a:xfrm>
            <a:off x="4892040" y="3657600"/>
            <a:ext cx="4114800" cy="384048"/>
          </a:xfrm>
          <a:prstGeom prst="rect">
            <a:avLst/>
          </a:prstGeom>
          <a:solidFill>
            <a:srgbClr val="1E2761"/>
          </a:solidFill>
          <a:ln w="12700">
            <a:solidFill>
              <a:srgbClr val="1E2761"/>
            </a:solidFill>
            <a:prstDash val="solid"/>
          </a:ln>
        </p:spPr>
        <p:txBody>
          <a:bodyPr/>
          <a:lstStyle/>
          <a:p>
            <a:endParaRPr lang="en-US"/>
          </a:p>
        </p:txBody>
      </p:sp>
      <p:sp>
        <p:nvSpPr>
          <p:cNvPr id="27" name="Text 25"/>
          <p:cNvSpPr/>
          <p:nvPr/>
        </p:nvSpPr>
        <p:spPr>
          <a:xfrm>
            <a:off x="5001768" y="3657600"/>
            <a:ext cx="3895344" cy="384048"/>
          </a:xfrm>
          <a:prstGeom prst="rect">
            <a:avLst/>
          </a:prstGeom>
          <a:noFill/>
          <a:ln/>
        </p:spPr>
        <p:txBody>
          <a:bodyPr wrap="square" rtlCol="0" anchor="ctr"/>
          <a:lstStyle/>
          <a:p>
            <a:pPr marL="0" indent="0">
              <a:buNone/>
            </a:pPr>
            <a:r>
              <a:rPr lang="en-US" sz="1300" b="1" dirty="0">
                <a:solidFill>
                  <a:srgbClr val="FFFFFF"/>
                </a:solidFill>
              </a:rPr>
              <a:t>Dataset</a:t>
            </a:r>
            <a:endParaRPr lang="en-US" sz="1300" dirty="0"/>
          </a:p>
        </p:txBody>
      </p:sp>
      <p:sp>
        <p:nvSpPr>
          <p:cNvPr id="28" name="Text 26"/>
          <p:cNvSpPr/>
          <p:nvPr/>
        </p:nvSpPr>
        <p:spPr>
          <a:xfrm>
            <a:off x="5001768" y="4114800"/>
            <a:ext cx="3895344" cy="658368"/>
          </a:xfrm>
          <a:prstGeom prst="rect">
            <a:avLst/>
          </a:prstGeom>
          <a:noFill/>
          <a:ln/>
        </p:spPr>
        <p:txBody>
          <a:bodyPr wrap="square" rtlCol="0" anchor="ctr"/>
          <a:lstStyle/>
          <a:p>
            <a:pPr marL="0" indent="0">
              <a:buNone/>
            </a:pPr>
            <a:r>
              <a:rPr lang="en-US" sz="1300" dirty="0">
                <a:solidFill>
                  <a:srgbClr val="334155"/>
                </a:solidFill>
              </a:rPr>
              <a:t>Olist Brazilian E-Commerce  (Kaggle)</a:t>
            </a:r>
            <a:endParaRPr lang="en-US" sz="1300" dirty="0"/>
          </a:p>
        </p:txBody>
      </p:sp>
      <p:sp>
        <p:nvSpPr>
          <p:cNvPr id="29" name="Shape 27"/>
          <p:cNvSpPr/>
          <p:nvPr/>
        </p:nvSpPr>
        <p:spPr>
          <a:xfrm>
            <a:off x="0" y="4869180"/>
            <a:ext cx="9144000" cy="274320"/>
          </a:xfrm>
          <a:prstGeom prst="rect">
            <a:avLst/>
          </a:prstGeom>
          <a:solidFill>
            <a:srgbClr val="1E2761"/>
          </a:solidFill>
          <a:ln w="12700">
            <a:solidFill>
              <a:srgbClr val="1E2761"/>
            </a:solidFill>
            <a:prstDash val="solid"/>
          </a:ln>
        </p:spPr>
        <p:txBody>
          <a:bodyPr/>
          <a:lstStyle/>
          <a:p>
            <a:endParaRPr lang="en-US"/>
          </a:p>
        </p:txBody>
      </p:sp>
      <p:sp>
        <p:nvSpPr>
          <p:cNvPr id="30" name="Text 28"/>
          <p:cNvSpPr/>
          <p:nvPr/>
        </p:nvSpPr>
        <p:spPr>
          <a:xfrm>
            <a:off x="0" y="4869180"/>
            <a:ext cx="9144000" cy="274320"/>
          </a:xfrm>
          <a:prstGeom prst="rect">
            <a:avLst/>
          </a:prstGeom>
          <a:noFill/>
          <a:ln/>
        </p:spPr>
        <p:txBody>
          <a:bodyPr wrap="square" lIns="0" tIns="0" rIns="0" bIns="0" rtlCol="0" anchor="ctr"/>
          <a:lstStyle/>
          <a:p>
            <a:pPr marL="0" indent="0" algn="ctr">
              <a:buNone/>
            </a:pPr>
            <a:r>
              <a:rPr lang="en-US" sz="900" dirty="0">
                <a:solidFill>
                  <a:srgbClr val="CADCFC"/>
                </a:solidFill>
              </a:rPr>
              <a:t>Smart Discount Targeting System  |  NUCES CS3005  |  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2C39A"/>
          </a:solidFill>
          <a:ln w="12700">
            <a:solidFill>
              <a:srgbClr val="02C39A"/>
            </a:solidFill>
            <a:prstDash val="solid"/>
          </a:ln>
        </p:spPr>
        <p:txBody>
          <a:bodyPr/>
          <a:lstStyle/>
          <a:p>
            <a:endParaRPr lang="en-US"/>
          </a:p>
        </p:txBody>
      </p:sp>
      <p:sp>
        <p:nvSpPr>
          <p:cNvPr id="3" name="Text 1"/>
          <p:cNvSpPr/>
          <p:nvPr/>
        </p:nvSpPr>
        <p:spPr>
          <a:xfrm>
            <a:off x="457200" y="164592"/>
            <a:ext cx="8229600" cy="566928"/>
          </a:xfrm>
          <a:prstGeom prst="rect">
            <a:avLst/>
          </a:prstGeom>
          <a:noFill/>
          <a:ln/>
        </p:spPr>
        <p:txBody>
          <a:bodyPr wrap="square" rtlCol="0" anchor="ctr"/>
          <a:lstStyle/>
          <a:p>
            <a:pPr marL="0" indent="0">
              <a:buNone/>
            </a:pPr>
            <a:r>
              <a:rPr lang="en-US" sz="3200" b="1" dirty="0">
                <a:solidFill>
                  <a:srgbClr val="FFFFFF"/>
                </a:solidFill>
              </a:rPr>
              <a:t>Conclusion</a:t>
            </a:r>
            <a:endParaRPr lang="en-US" sz="3200" dirty="0"/>
          </a:p>
        </p:txBody>
      </p:sp>
      <p:sp>
        <p:nvSpPr>
          <p:cNvPr id="4" name="Text 2"/>
          <p:cNvSpPr/>
          <p:nvPr/>
        </p:nvSpPr>
        <p:spPr>
          <a:xfrm>
            <a:off x="457200" y="822960"/>
            <a:ext cx="8229600" cy="502920"/>
          </a:xfrm>
          <a:prstGeom prst="rect">
            <a:avLst/>
          </a:prstGeom>
          <a:noFill/>
          <a:ln/>
        </p:spPr>
        <p:txBody>
          <a:bodyPr wrap="square" rtlCol="0" anchor="ctr"/>
          <a:lstStyle/>
          <a:p>
            <a:pPr marL="0" indent="0">
              <a:buNone/>
            </a:pPr>
            <a:r>
              <a:rPr lang="en-US" sz="1400" i="1" dirty="0">
                <a:solidFill>
                  <a:srgbClr val="CADCFC"/>
                </a:solidFill>
              </a:rPr>
              <a:t>This project presents a complete end-to-end data mining pipeline for a Smart Discount Targeting System applied to real-world e-commerce data.</a:t>
            </a:r>
            <a:endParaRPr lang="en-US" sz="1400" dirty="0"/>
          </a:p>
        </p:txBody>
      </p:sp>
      <p:sp>
        <p:nvSpPr>
          <p:cNvPr id="5" name="Shape 3"/>
          <p:cNvSpPr/>
          <p:nvPr/>
        </p:nvSpPr>
        <p:spPr>
          <a:xfrm>
            <a:off x="457200" y="1417320"/>
            <a:ext cx="8229600" cy="530352"/>
          </a:xfrm>
          <a:prstGeom prst="rect">
            <a:avLst/>
          </a:prstGeom>
          <a:solidFill>
            <a:srgbClr val="FFFFFF">
              <a:alpha val="8000"/>
            </a:srgbClr>
          </a:solidFill>
          <a:ln w="12700">
            <a:solidFill>
              <a:srgbClr val="FFFFFF">
                <a:alpha val="15000"/>
              </a:srgbClr>
            </a:solidFill>
            <a:prstDash val="solid"/>
          </a:ln>
        </p:spPr>
        <p:txBody>
          <a:bodyPr/>
          <a:lstStyle/>
          <a:p>
            <a:endParaRPr lang="en-US"/>
          </a:p>
        </p:txBody>
      </p:sp>
      <p:sp>
        <p:nvSpPr>
          <p:cNvPr id="6" name="Shape 4"/>
          <p:cNvSpPr/>
          <p:nvPr/>
        </p:nvSpPr>
        <p:spPr>
          <a:xfrm>
            <a:off x="457200" y="1417320"/>
            <a:ext cx="502920" cy="530352"/>
          </a:xfrm>
          <a:prstGeom prst="rect">
            <a:avLst/>
          </a:prstGeom>
          <a:solidFill>
            <a:srgbClr val="028090"/>
          </a:solidFill>
          <a:ln w="12700">
            <a:solidFill>
              <a:srgbClr val="028090"/>
            </a:solidFill>
            <a:prstDash val="solid"/>
          </a:ln>
        </p:spPr>
        <p:txBody>
          <a:bodyPr/>
          <a:lstStyle/>
          <a:p>
            <a:endParaRPr lang="en-US"/>
          </a:p>
        </p:txBody>
      </p:sp>
      <p:sp>
        <p:nvSpPr>
          <p:cNvPr id="7" name="Text 5"/>
          <p:cNvSpPr/>
          <p:nvPr/>
        </p:nvSpPr>
        <p:spPr>
          <a:xfrm>
            <a:off x="457200" y="1417320"/>
            <a:ext cx="502920" cy="530352"/>
          </a:xfrm>
          <a:prstGeom prst="rect">
            <a:avLst/>
          </a:prstGeom>
          <a:noFill/>
          <a:ln/>
        </p:spPr>
        <p:txBody>
          <a:bodyPr wrap="square" lIns="0" tIns="0" rIns="0" bIns="0" rtlCol="0" anchor="ctr"/>
          <a:lstStyle/>
          <a:p>
            <a:pPr marL="0" indent="0" algn="ctr">
              <a:buNone/>
            </a:pPr>
            <a:r>
              <a:rPr lang="en-US" sz="1400" dirty="0">
                <a:solidFill>
                  <a:srgbClr val="FFFFFF"/>
                </a:solidFill>
              </a:rPr>
              <a:t>◆</a:t>
            </a:r>
            <a:endParaRPr lang="en-US" sz="1400" dirty="0"/>
          </a:p>
        </p:txBody>
      </p:sp>
      <p:sp>
        <p:nvSpPr>
          <p:cNvPr id="8" name="Text 6"/>
          <p:cNvSpPr/>
          <p:nvPr/>
        </p:nvSpPr>
        <p:spPr>
          <a:xfrm>
            <a:off x="1051560" y="1490472"/>
            <a:ext cx="7498080" cy="384048"/>
          </a:xfrm>
          <a:prstGeom prst="rect">
            <a:avLst/>
          </a:prstGeom>
          <a:noFill/>
          <a:ln/>
        </p:spPr>
        <p:txBody>
          <a:bodyPr wrap="square" rtlCol="0" anchor="ctr"/>
          <a:lstStyle/>
          <a:p>
            <a:pPr marL="0" indent="0">
              <a:buNone/>
            </a:pPr>
            <a:r>
              <a:rPr lang="en-US" sz="1350" dirty="0">
                <a:solidFill>
                  <a:srgbClr val="FFFFFF"/>
                </a:solidFill>
              </a:rPr>
              <a:t>Raw multi-table relational data transformed into 25+ meaningful customer behavioral features</a:t>
            </a:r>
            <a:endParaRPr lang="en-US" sz="1350" dirty="0"/>
          </a:p>
        </p:txBody>
      </p:sp>
      <p:sp>
        <p:nvSpPr>
          <p:cNvPr id="9" name="Shape 7"/>
          <p:cNvSpPr/>
          <p:nvPr/>
        </p:nvSpPr>
        <p:spPr>
          <a:xfrm>
            <a:off x="457200" y="2039112"/>
            <a:ext cx="8229600" cy="530352"/>
          </a:xfrm>
          <a:prstGeom prst="rect">
            <a:avLst/>
          </a:prstGeom>
          <a:solidFill>
            <a:srgbClr val="FFFFFF">
              <a:alpha val="8000"/>
            </a:srgbClr>
          </a:solidFill>
          <a:ln w="12700">
            <a:solidFill>
              <a:srgbClr val="FFFFFF">
                <a:alpha val="15000"/>
              </a:srgbClr>
            </a:solidFill>
            <a:prstDash val="solid"/>
          </a:ln>
        </p:spPr>
        <p:txBody>
          <a:bodyPr/>
          <a:lstStyle/>
          <a:p>
            <a:endParaRPr lang="en-US"/>
          </a:p>
        </p:txBody>
      </p:sp>
      <p:sp>
        <p:nvSpPr>
          <p:cNvPr id="10" name="Shape 8"/>
          <p:cNvSpPr/>
          <p:nvPr/>
        </p:nvSpPr>
        <p:spPr>
          <a:xfrm>
            <a:off x="457200" y="2039112"/>
            <a:ext cx="502920" cy="530352"/>
          </a:xfrm>
          <a:prstGeom prst="rect">
            <a:avLst/>
          </a:prstGeom>
          <a:solidFill>
            <a:srgbClr val="028090"/>
          </a:solidFill>
          <a:ln w="12700">
            <a:solidFill>
              <a:srgbClr val="028090"/>
            </a:solidFill>
            <a:prstDash val="solid"/>
          </a:ln>
        </p:spPr>
        <p:txBody>
          <a:bodyPr/>
          <a:lstStyle/>
          <a:p>
            <a:endParaRPr lang="en-US"/>
          </a:p>
        </p:txBody>
      </p:sp>
      <p:sp>
        <p:nvSpPr>
          <p:cNvPr id="11" name="Text 9"/>
          <p:cNvSpPr/>
          <p:nvPr/>
        </p:nvSpPr>
        <p:spPr>
          <a:xfrm>
            <a:off x="457200" y="2039112"/>
            <a:ext cx="502920" cy="530352"/>
          </a:xfrm>
          <a:prstGeom prst="rect">
            <a:avLst/>
          </a:prstGeom>
          <a:noFill/>
          <a:ln/>
        </p:spPr>
        <p:txBody>
          <a:bodyPr wrap="square" lIns="0" tIns="0" rIns="0" bIns="0" rtlCol="0" anchor="ctr"/>
          <a:lstStyle/>
          <a:p>
            <a:pPr marL="0" indent="0" algn="ctr">
              <a:buNone/>
            </a:pPr>
            <a:r>
              <a:rPr lang="en-US" sz="1400" dirty="0">
                <a:solidFill>
                  <a:srgbClr val="FFFFFF"/>
                </a:solidFill>
              </a:rPr>
              <a:t>◆</a:t>
            </a:r>
            <a:endParaRPr lang="en-US" sz="1400" dirty="0"/>
          </a:p>
        </p:txBody>
      </p:sp>
      <p:sp>
        <p:nvSpPr>
          <p:cNvPr id="12" name="Text 10"/>
          <p:cNvSpPr/>
          <p:nvPr/>
        </p:nvSpPr>
        <p:spPr>
          <a:xfrm>
            <a:off x="1051560" y="2112264"/>
            <a:ext cx="7498080" cy="384048"/>
          </a:xfrm>
          <a:prstGeom prst="rect">
            <a:avLst/>
          </a:prstGeom>
          <a:noFill/>
          <a:ln/>
        </p:spPr>
        <p:txBody>
          <a:bodyPr wrap="square" rtlCol="0" anchor="ctr"/>
          <a:lstStyle/>
          <a:p>
            <a:pPr marL="0" indent="0">
              <a:buNone/>
            </a:pPr>
            <a:r>
              <a:rPr lang="en-US" sz="1350" dirty="0">
                <a:solidFill>
                  <a:srgbClr val="FFFFFF"/>
                </a:solidFill>
              </a:rPr>
              <a:t>K-Means clustering discovers 3 natural discount sensitivity segments from 99K+ customers</a:t>
            </a:r>
            <a:endParaRPr lang="en-US" sz="1350" dirty="0"/>
          </a:p>
        </p:txBody>
      </p:sp>
      <p:sp>
        <p:nvSpPr>
          <p:cNvPr id="13" name="Shape 11"/>
          <p:cNvSpPr/>
          <p:nvPr/>
        </p:nvSpPr>
        <p:spPr>
          <a:xfrm>
            <a:off x="457200" y="2660904"/>
            <a:ext cx="8229600" cy="530352"/>
          </a:xfrm>
          <a:prstGeom prst="rect">
            <a:avLst/>
          </a:prstGeom>
          <a:solidFill>
            <a:srgbClr val="FFFFFF">
              <a:alpha val="8000"/>
            </a:srgbClr>
          </a:solidFill>
          <a:ln w="12700">
            <a:solidFill>
              <a:srgbClr val="FFFFFF">
                <a:alpha val="15000"/>
              </a:srgbClr>
            </a:solidFill>
            <a:prstDash val="solid"/>
          </a:ln>
        </p:spPr>
        <p:txBody>
          <a:bodyPr/>
          <a:lstStyle/>
          <a:p>
            <a:endParaRPr lang="en-US"/>
          </a:p>
        </p:txBody>
      </p:sp>
      <p:sp>
        <p:nvSpPr>
          <p:cNvPr id="14" name="Shape 12"/>
          <p:cNvSpPr/>
          <p:nvPr/>
        </p:nvSpPr>
        <p:spPr>
          <a:xfrm>
            <a:off x="457200" y="2660904"/>
            <a:ext cx="502920" cy="530352"/>
          </a:xfrm>
          <a:prstGeom prst="rect">
            <a:avLst/>
          </a:prstGeom>
          <a:solidFill>
            <a:srgbClr val="028090"/>
          </a:solidFill>
          <a:ln w="12700">
            <a:solidFill>
              <a:srgbClr val="028090"/>
            </a:solidFill>
            <a:prstDash val="solid"/>
          </a:ln>
        </p:spPr>
        <p:txBody>
          <a:bodyPr/>
          <a:lstStyle/>
          <a:p>
            <a:endParaRPr lang="en-US"/>
          </a:p>
        </p:txBody>
      </p:sp>
      <p:sp>
        <p:nvSpPr>
          <p:cNvPr id="15" name="Text 13"/>
          <p:cNvSpPr/>
          <p:nvPr/>
        </p:nvSpPr>
        <p:spPr>
          <a:xfrm>
            <a:off x="457200" y="2660904"/>
            <a:ext cx="502920" cy="530352"/>
          </a:xfrm>
          <a:prstGeom prst="rect">
            <a:avLst/>
          </a:prstGeom>
          <a:noFill/>
          <a:ln/>
        </p:spPr>
        <p:txBody>
          <a:bodyPr wrap="square" lIns="0" tIns="0" rIns="0" bIns="0" rtlCol="0" anchor="ctr"/>
          <a:lstStyle/>
          <a:p>
            <a:pPr marL="0" indent="0" algn="ctr">
              <a:buNone/>
            </a:pPr>
            <a:r>
              <a:rPr lang="en-US" sz="1400" dirty="0">
                <a:solidFill>
                  <a:srgbClr val="FFFFFF"/>
                </a:solidFill>
              </a:rPr>
              <a:t>◆</a:t>
            </a:r>
            <a:endParaRPr lang="en-US" sz="1400" dirty="0"/>
          </a:p>
        </p:txBody>
      </p:sp>
      <p:sp>
        <p:nvSpPr>
          <p:cNvPr id="16" name="Text 14"/>
          <p:cNvSpPr/>
          <p:nvPr/>
        </p:nvSpPr>
        <p:spPr>
          <a:xfrm>
            <a:off x="1051560" y="2734056"/>
            <a:ext cx="7498080" cy="384048"/>
          </a:xfrm>
          <a:prstGeom prst="rect">
            <a:avLst/>
          </a:prstGeom>
          <a:noFill/>
          <a:ln/>
        </p:spPr>
        <p:txBody>
          <a:bodyPr wrap="square" rtlCol="0" anchor="ctr"/>
          <a:lstStyle/>
          <a:p>
            <a:pPr marL="0" indent="0">
              <a:buNone/>
            </a:pPr>
            <a:r>
              <a:rPr lang="en-US" sz="1350" dirty="0">
                <a:solidFill>
                  <a:srgbClr val="FFFFFF"/>
                </a:solidFill>
              </a:rPr>
              <a:t>Decision Tree classifier assigns new customers to actionable discount tiers in real time</a:t>
            </a:r>
            <a:endParaRPr lang="en-US" sz="1350" dirty="0"/>
          </a:p>
        </p:txBody>
      </p:sp>
      <p:sp>
        <p:nvSpPr>
          <p:cNvPr id="17" name="Shape 15"/>
          <p:cNvSpPr/>
          <p:nvPr/>
        </p:nvSpPr>
        <p:spPr>
          <a:xfrm>
            <a:off x="457200" y="3282696"/>
            <a:ext cx="8229600" cy="530352"/>
          </a:xfrm>
          <a:prstGeom prst="rect">
            <a:avLst/>
          </a:prstGeom>
          <a:solidFill>
            <a:srgbClr val="FFFFFF">
              <a:alpha val="8000"/>
            </a:srgbClr>
          </a:solidFill>
          <a:ln w="12700">
            <a:solidFill>
              <a:srgbClr val="FFFFFF">
                <a:alpha val="15000"/>
              </a:srgbClr>
            </a:solidFill>
            <a:prstDash val="solid"/>
          </a:ln>
        </p:spPr>
        <p:txBody>
          <a:bodyPr/>
          <a:lstStyle/>
          <a:p>
            <a:endParaRPr lang="en-US"/>
          </a:p>
        </p:txBody>
      </p:sp>
      <p:sp>
        <p:nvSpPr>
          <p:cNvPr id="18" name="Shape 16"/>
          <p:cNvSpPr/>
          <p:nvPr/>
        </p:nvSpPr>
        <p:spPr>
          <a:xfrm>
            <a:off x="457200" y="3282696"/>
            <a:ext cx="502920" cy="530352"/>
          </a:xfrm>
          <a:prstGeom prst="rect">
            <a:avLst/>
          </a:prstGeom>
          <a:solidFill>
            <a:srgbClr val="028090"/>
          </a:solidFill>
          <a:ln w="12700">
            <a:solidFill>
              <a:srgbClr val="028090"/>
            </a:solidFill>
            <a:prstDash val="solid"/>
          </a:ln>
        </p:spPr>
        <p:txBody>
          <a:bodyPr/>
          <a:lstStyle/>
          <a:p>
            <a:endParaRPr lang="en-US"/>
          </a:p>
        </p:txBody>
      </p:sp>
      <p:sp>
        <p:nvSpPr>
          <p:cNvPr id="19" name="Text 17"/>
          <p:cNvSpPr/>
          <p:nvPr/>
        </p:nvSpPr>
        <p:spPr>
          <a:xfrm>
            <a:off x="457200" y="3282696"/>
            <a:ext cx="502920" cy="530352"/>
          </a:xfrm>
          <a:prstGeom prst="rect">
            <a:avLst/>
          </a:prstGeom>
          <a:noFill/>
          <a:ln/>
        </p:spPr>
        <p:txBody>
          <a:bodyPr wrap="square" lIns="0" tIns="0" rIns="0" bIns="0" rtlCol="0" anchor="ctr"/>
          <a:lstStyle/>
          <a:p>
            <a:pPr marL="0" indent="0" algn="ctr">
              <a:buNone/>
            </a:pPr>
            <a:r>
              <a:rPr lang="en-US" sz="1400" dirty="0">
                <a:solidFill>
                  <a:srgbClr val="FFFFFF"/>
                </a:solidFill>
              </a:rPr>
              <a:t>◆</a:t>
            </a:r>
            <a:endParaRPr lang="en-US" sz="1400" dirty="0"/>
          </a:p>
        </p:txBody>
      </p:sp>
      <p:sp>
        <p:nvSpPr>
          <p:cNvPr id="20" name="Text 18"/>
          <p:cNvSpPr/>
          <p:nvPr/>
        </p:nvSpPr>
        <p:spPr>
          <a:xfrm>
            <a:off x="1051560" y="3355848"/>
            <a:ext cx="7498080" cy="384048"/>
          </a:xfrm>
          <a:prstGeom prst="rect">
            <a:avLst/>
          </a:prstGeom>
          <a:noFill/>
          <a:ln/>
        </p:spPr>
        <p:txBody>
          <a:bodyPr wrap="square" rtlCol="0" anchor="ctr"/>
          <a:lstStyle/>
          <a:p>
            <a:pPr marL="0" indent="0">
              <a:buNone/>
            </a:pPr>
            <a:r>
              <a:rPr lang="en-US" sz="1350" dirty="0">
                <a:solidFill>
                  <a:srgbClr val="FFFFFF"/>
                </a:solidFill>
              </a:rPr>
              <a:t>Association rule mining confirms category-focused campaigns over cross-category bundling</a:t>
            </a:r>
            <a:endParaRPr lang="en-US" sz="1350" dirty="0"/>
          </a:p>
        </p:txBody>
      </p:sp>
      <p:sp>
        <p:nvSpPr>
          <p:cNvPr id="21" name="Shape 19"/>
          <p:cNvSpPr/>
          <p:nvPr/>
        </p:nvSpPr>
        <p:spPr>
          <a:xfrm>
            <a:off x="457200" y="3904488"/>
            <a:ext cx="8229600" cy="530352"/>
          </a:xfrm>
          <a:prstGeom prst="rect">
            <a:avLst/>
          </a:prstGeom>
          <a:solidFill>
            <a:srgbClr val="FFFFFF">
              <a:alpha val="8000"/>
            </a:srgbClr>
          </a:solidFill>
          <a:ln w="12700">
            <a:solidFill>
              <a:srgbClr val="FFFFFF">
                <a:alpha val="15000"/>
              </a:srgbClr>
            </a:solidFill>
            <a:prstDash val="solid"/>
          </a:ln>
        </p:spPr>
        <p:txBody>
          <a:bodyPr/>
          <a:lstStyle/>
          <a:p>
            <a:endParaRPr lang="en-US"/>
          </a:p>
        </p:txBody>
      </p:sp>
      <p:sp>
        <p:nvSpPr>
          <p:cNvPr id="22" name="Shape 20"/>
          <p:cNvSpPr/>
          <p:nvPr/>
        </p:nvSpPr>
        <p:spPr>
          <a:xfrm>
            <a:off x="457200" y="3904488"/>
            <a:ext cx="502920" cy="530352"/>
          </a:xfrm>
          <a:prstGeom prst="rect">
            <a:avLst/>
          </a:prstGeom>
          <a:solidFill>
            <a:srgbClr val="028090"/>
          </a:solidFill>
          <a:ln w="12700">
            <a:solidFill>
              <a:srgbClr val="028090"/>
            </a:solidFill>
            <a:prstDash val="solid"/>
          </a:ln>
        </p:spPr>
        <p:txBody>
          <a:bodyPr/>
          <a:lstStyle/>
          <a:p>
            <a:endParaRPr lang="en-US"/>
          </a:p>
        </p:txBody>
      </p:sp>
      <p:sp>
        <p:nvSpPr>
          <p:cNvPr id="23" name="Text 21"/>
          <p:cNvSpPr/>
          <p:nvPr/>
        </p:nvSpPr>
        <p:spPr>
          <a:xfrm>
            <a:off x="457200" y="3904488"/>
            <a:ext cx="502920" cy="530352"/>
          </a:xfrm>
          <a:prstGeom prst="rect">
            <a:avLst/>
          </a:prstGeom>
          <a:noFill/>
          <a:ln/>
        </p:spPr>
        <p:txBody>
          <a:bodyPr wrap="square" lIns="0" tIns="0" rIns="0" bIns="0" rtlCol="0" anchor="ctr"/>
          <a:lstStyle/>
          <a:p>
            <a:pPr marL="0" indent="0" algn="ctr">
              <a:buNone/>
            </a:pPr>
            <a:r>
              <a:rPr lang="en-US" sz="1400" dirty="0">
                <a:solidFill>
                  <a:srgbClr val="FFFFFF"/>
                </a:solidFill>
              </a:rPr>
              <a:t>◆</a:t>
            </a:r>
            <a:endParaRPr lang="en-US" sz="1400" dirty="0"/>
          </a:p>
        </p:txBody>
      </p:sp>
      <p:sp>
        <p:nvSpPr>
          <p:cNvPr id="24" name="Text 22"/>
          <p:cNvSpPr/>
          <p:nvPr/>
        </p:nvSpPr>
        <p:spPr>
          <a:xfrm>
            <a:off x="1051560" y="3977640"/>
            <a:ext cx="7498080" cy="384048"/>
          </a:xfrm>
          <a:prstGeom prst="rect">
            <a:avLst/>
          </a:prstGeom>
          <a:noFill/>
          <a:ln/>
        </p:spPr>
        <p:txBody>
          <a:bodyPr wrap="square" rtlCol="0" anchor="ctr"/>
          <a:lstStyle/>
          <a:p>
            <a:pPr marL="0" indent="0">
              <a:buNone/>
            </a:pPr>
            <a:r>
              <a:rPr lang="en-US" sz="1350" dirty="0">
                <a:solidFill>
                  <a:srgbClr val="FFFFFF"/>
                </a:solidFill>
              </a:rPr>
              <a:t>Streamlit dashboard bridges analysis and deployment for business-ready predictions</a:t>
            </a:r>
            <a:endParaRPr lang="en-US" sz="1350" dirty="0"/>
          </a:p>
        </p:txBody>
      </p:sp>
      <p:sp>
        <p:nvSpPr>
          <p:cNvPr id="25" name="Shape 23"/>
          <p:cNvSpPr/>
          <p:nvPr/>
        </p:nvSpPr>
        <p:spPr>
          <a:xfrm>
            <a:off x="457200" y="4526280"/>
            <a:ext cx="8229600" cy="182880"/>
          </a:xfrm>
          <a:prstGeom prst="rect">
            <a:avLst/>
          </a:prstGeom>
          <a:solidFill>
            <a:srgbClr val="028090">
              <a:alpha val="60000"/>
            </a:srgbClr>
          </a:solidFill>
          <a:ln w="12700">
            <a:solidFill>
              <a:srgbClr val="028090">
                <a:alpha val="60000"/>
              </a:srgbClr>
            </a:solidFill>
            <a:prstDash val="solid"/>
          </a:ln>
        </p:spPr>
        <p:txBody>
          <a:bodyPr/>
          <a:lstStyle/>
          <a:p>
            <a:endParaRPr lang="en-US"/>
          </a:p>
        </p:txBody>
      </p:sp>
      <p:sp>
        <p:nvSpPr>
          <p:cNvPr id="27" name="Shape 25"/>
          <p:cNvSpPr/>
          <p:nvPr/>
        </p:nvSpPr>
        <p:spPr>
          <a:xfrm>
            <a:off x="0" y="4869180"/>
            <a:ext cx="9144000" cy="274320"/>
          </a:xfrm>
          <a:prstGeom prst="rect">
            <a:avLst/>
          </a:prstGeom>
          <a:solidFill>
            <a:srgbClr val="243380"/>
          </a:solidFill>
          <a:ln w="12700">
            <a:solidFill>
              <a:srgbClr val="243380"/>
            </a:solidFill>
            <a:prstDash val="solid"/>
          </a:ln>
        </p:spPr>
        <p:txBody>
          <a:bodyPr/>
          <a:lstStyle/>
          <a:p>
            <a:endParaRPr lang="en-US"/>
          </a:p>
        </p:txBody>
      </p:sp>
      <p:sp>
        <p:nvSpPr>
          <p:cNvPr id="28" name="Text 26"/>
          <p:cNvSpPr/>
          <p:nvPr/>
        </p:nvSpPr>
        <p:spPr>
          <a:xfrm>
            <a:off x="0" y="4869180"/>
            <a:ext cx="9144000" cy="274320"/>
          </a:xfrm>
          <a:prstGeom prst="rect">
            <a:avLst/>
          </a:prstGeom>
          <a:noFill/>
          <a:ln/>
        </p:spPr>
        <p:txBody>
          <a:bodyPr wrap="square" lIns="0" tIns="0" rIns="0" bIns="0" rtlCol="0" anchor="ctr"/>
          <a:lstStyle/>
          <a:p>
            <a:pPr marL="0" indent="0" algn="ctr">
              <a:buNone/>
            </a:pPr>
            <a:r>
              <a:rPr lang="en-US" sz="900" dirty="0">
                <a:solidFill>
                  <a:srgbClr val="CADCFC"/>
                </a:solidFill>
              </a:rPr>
              <a:t>Smart Discount Targeting System  |  NUCES CS3005  |  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28090"/>
          </a:solidFill>
          <a:ln w="12700">
            <a:solidFill>
              <a:srgbClr val="028090"/>
            </a:solidFill>
            <a:prstDash val="solid"/>
          </a:ln>
        </p:spPr>
        <p:txBody>
          <a:bodyPr/>
          <a:lstStyle/>
          <a:p>
            <a:endParaRPr lang="en-US"/>
          </a:p>
        </p:txBody>
      </p:sp>
      <p:sp>
        <p:nvSpPr>
          <p:cNvPr id="3" name="Text 1"/>
          <p:cNvSpPr/>
          <p:nvPr/>
        </p:nvSpPr>
        <p:spPr>
          <a:xfrm>
            <a:off x="457200" y="182880"/>
            <a:ext cx="8229600" cy="566928"/>
          </a:xfrm>
          <a:prstGeom prst="rect">
            <a:avLst/>
          </a:prstGeom>
          <a:noFill/>
          <a:ln/>
        </p:spPr>
        <p:txBody>
          <a:bodyPr wrap="square" rtlCol="0" anchor="ctr"/>
          <a:lstStyle/>
          <a:p>
            <a:pPr marL="0" indent="0">
              <a:buNone/>
            </a:pPr>
            <a:r>
              <a:rPr lang="en-US" sz="3200" b="1" dirty="0">
                <a:solidFill>
                  <a:srgbClr val="1E2761"/>
                </a:solidFill>
              </a:rPr>
              <a:t>Affidavit</a:t>
            </a:r>
            <a:endParaRPr lang="en-US" sz="3200" dirty="0"/>
          </a:p>
        </p:txBody>
      </p:sp>
      <p:sp>
        <p:nvSpPr>
          <p:cNvPr id="4" name="Text 2"/>
          <p:cNvSpPr/>
          <p:nvPr/>
        </p:nvSpPr>
        <p:spPr>
          <a:xfrm>
            <a:off x="457200" y="713232"/>
            <a:ext cx="8229600" cy="274320"/>
          </a:xfrm>
          <a:prstGeom prst="rect">
            <a:avLst/>
          </a:prstGeom>
          <a:noFill/>
          <a:ln/>
        </p:spPr>
        <p:txBody>
          <a:bodyPr wrap="square" rtlCol="0" anchor="ctr"/>
          <a:lstStyle/>
          <a:p>
            <a:pPr marL="0" indent="0">
              <a:buNone/>
            </a:pPr>
            <a:r>
              <a:rPr lang="en-US" sz="1400" i="1" dirty="0">
                <a:solidFill>
                  <a:srgbClr val="028090"/>
                </a:solidFill>
              </a:rPr>
              <a:t>Academic Integrity Declaration</a:t>
            </a:r>
            <a:endParaRPr lang="en-US" sz="1400" dirty="0"/>
          </a:p>
        </p:txBody>
      </p:sp>
      <p:sp>
        <p:nvSpPr>
          <p:cNvPr id="5" name="Shape 3"/>
          <p:cNvSpPr/>
          <p:nvPr/>
        </p:nvSpPr>
        <p:spPr>
          <a:xfrm>
            <a:off x="731520" y="1078992"/>
            <a:ext cx="7680960" cy="2971800"/>
          </a:xfrm>
          <a:prstGeom prst="rect">
            <a:avLst/>
          </a:prstGeom>
          <a:solidFill>
            <a:srgbClr val="FFFFFF"/>
          </a:solidFill>
          <a:ln w="12700">
            <a:solidFill>
              <a:srgbClr val="1E2761"/>
            </a:solidFill>
            <a:prstDash val="solid"/>
          </a:ln>
          <a:effectLst>
            <a:outerShdw blurRad="101600" dist="38100" dir="8100000" algn="bl" rotWithShape="0">
              <a:srgbClr val="1E2761">
                <a:alpha val="15000"/>
              </a:srgbClr>
            </a:outerShdw>
          </a:effectLst>
        </p:spPr>
        <p:txBody>
          <a:bodyPr/>
          <a:lstStyle/>
          <a:p>
            <a:endParaRPr lang="en-US"/>
          </a:p>
        </p:txBody>
      </p:sp>
      <p:sp>
        <p:nvSpPr>
          <p:cNvPr id="6" name="Shape 4"/>
          <p:cNvSpPr/>
          <p:nvPr/>
        </p:nvSpPr>
        <p:spPr>
          <a:xfrm>
            <a:off x="731520" y="1078992"/>
            <a:ext cx="7680960" cy="457200"/>
          </a:xfrm>
          <a:prstGeom prst="rect">
            <a:avLst/>
          </a:prstGeom>
          <a:solidFill>
            <a:srgbClr val="1E2761"/>
          </a:solidFill>
          <a:ln w="12700">
            <a:solidFill>
              <a:srgbClr val="1E2761"/>
            </a:solidFill>
            <a:prstDash val="solid"/>
          </a:ln>
        </p:spPr>
        <p:txBody>
          <a:bodyPr/>
          <a:lstStyle/>
          <a:p>
            <a:endParaRPr lang="en-US"/>
          </a:p>
        </p:txBody>
      </p:sp>
      <p:sp>
        <p:nvSpPr>
          <p:cNvPr id="7" name="Text 5"/>
          <p:cNvSpPr/>
          <p:nvPr/>
        </p:nvSpPr>
        <p:spPr>
          <a:xfrm>
            <a:off x="731520" y="1078992"/>
            <a:ext cx="7680960" cy="457200"/>
          </a:xfrm>
          <a:prstGeom prst="rect">
            <a:avLst/>
          </a:prstGeom>
          <a:noFill/>
          <a:ln/>
        </p:spPr>
        <p:txBody>
          <a:bodyPr wrap="square" lIns="0" tIns="0" rIns="0" bIns="0" rtlCol="0" anchor="ctr"/>
          <a:lstStyle/>
          <a:p>
            <a:pPr marL="0" indent="0" algn="ctr">
              <a:buNone/>
            </a:pPr>
            <a:r>
              <a:rPr lang="en-US" sz="1400" b="1" kern="0" spc="200" dirty="0">
                <a:solidFill>
                  <a:srgbClr val="FFFFFF"/>
                </a:solidFill>
              </a:rPr>
              <a:t>ACADEMIC INTEGRITY AFFIDAVIT</a:t>
            </a:r>
            <a:endParaRPr lang="en-US" sz="1400" dirty="0"/>
          </a:p>
        </p:txBody>
      </p:sp>
      <p:sp>
        <p:nvSpPr>
          <p:cNvPr id="8" name="Text 6"/>
          <p:cNvSpPr/>
          <p:nvPr/>
        </p:nvSpPr>
        <p:spPr>
          <a:xfrm>
            <a:off x="914400" y="1691640"/>
            <a:ext cx="7315200" cy="1783080"/>
          </a:xfrm>
          <a:prstGeom prst="rect">
            <a:avLst/>
          </a:prstGeom>
          <a:noFill/>
          <a:ln/>
        </p:spPr>
        <p:txBody>
          <a:bodyPr wrap="square" rtlCol="0" anchor="ctr"/>
          <a:lstStyle/>
          <a:p>
            <a:pPr marL="0" indent="0" algn="just">
              <a:buNone/>
            </a:pPr>
            <a:r>
              <a:rPr lang="en-US" sz="1200" dirty="0">
                <a:solidFill>
                  <a:srgbClr val="334155"/>
                </a:solidFill>
              </a:rPr>
              <a:t>We, the undersigned members of Group L232554, hereby certify and solemnly pledge that this term project — Smart Discount Targeting System — has been developed solely for the purpose of fulfilling the requirements of CS3005: Data Mining at the National University of Computer and Emerging Sciences (NUCES), Lahore Campus.</a:t>
            </a:r>
            <a:endParaRPr lang="en-US" sz="1200" dirty="0"/>
          </a:p>
          <a:p>
            <a:pPr marL="0" indent="0" algn="just">
              <a:buNone/>
            </a:pPr>
            <a:endParaRPr lang="en-US" sz="1200" dirty="0"/>
          </a:p>
          <a:p>
            <a:pPr marL="0" indent="0" algn="just">
              <a:buNone/>
            </a:pPr>
            <a:r>
              <a:rPr lang="en-US" sz="1200" dirty="0">
                <a:solidFill>
                  <a:srgbClr val="334155"/>
                </a:solidFill>
              </a:rPr>
              <a:t>We further confirm that this project has not been submitted, presented, or used in any other course, subject, or academic program, either in whole or in part, at any time. All work presented herein is our own original contribution. Any external sources, libraries, datasets, or references have been appropriately acknowledged within the report.</a:t>
            </a:r>
            <a:endParaRPr lang="en-US" sz="1200" dirty="0"/>
          </a:p>
          <a:p>
            <a:pPr marL="0" indent="0" algn="just">
              <a:buNone/>
            </a:pPr>
            <a:endParaRPr lang="en-US" sz="1200" dirty="0"/>
          </a:p>
          <a:p>
            <a:pPr marL="0" indent="0" algn="just">
              <a:buNone/>
            </a:pPr>
            <a:r>
              <a:rPr lang="en-US" sz="1200" dirty="0">
                <a:solidFill>
                  <a:srgbClr val="334155"/>
                </a:solidFill>
              </a:rPr>
              <a:t>We understand that any violation of academic integrity policies may result in disciplinary action as per university regulations.</a:t>
            </a:r>
            <a:endParaRPr lang="en-US" sz="1200" dirty="0"/>
          </a:p>
        </p:txBody>
      </p:sp>
      <p:sp>
        <p:nvSpPr>
          <p:cNvPr id="9" name="Shape 7"/>
          <p:cNvSpPr/>
          <p:nvPr/>
        </p:nvSpPr>
        <p:spPr>
          <a:xfrm>
            <a:off x="731520" y="4069080"/>
            <a:ext cx="2468880" cy="640080"/>
          </a:xfrm>
          <a:prstGeom prst="rect">
            <a:avLst/>
          </a:prstGeom>
          <a:solidFill>
            <a:srgbClr val="FFFFFF"/>
          </a:solidFill>
          <a:ln w="12700">
            <a:solidFill>
              <a:srgbClr val="1E2761"/>
            </a:solidFill>
            <a:prstDash val="solid"/>
          </a:ln>
        </p:spPr>
        <p:txBody>
          <a:bodyPr/>
          <a:lstStyle/>
          <a:p>
            <a:endParaRPr lang="en-US"/>
          </a:p>
        </p:txBody>
      </p:sp>
      <p:sp>
        <p:nvSpPr>
          <p:cNvPr id="10" name="Text 8"/>
          <p:cNvSpPr/>
          <p:nvPr/>
        </p:nvSpPr>
        <p:spPr>
          <a:xfrm>
            <a:off x="731520" y="4096512"/>
            <a:ext cx="2468880" cy="292608"/>
          </a:xfrm>
          <a:prstGeom prst="rect">
            <a:avLst/>
          </a:prstGeom>
          <a:noFill/>
          <a:ln/>
        </p:spPr>
        <p:txBody>
          <a:bodyPr wrap="square" rtlCol="0" anchor="ctr"/>
          <a:lstStyle/>
          <a:p>
            <a:pPr marL="0" indent="0" algn="ctr">
              <a:buNone/>
            </a:pPr>
            <a:r>
              <a:rPr lang="en-US" sz="1300" b="1" dirty="0">
                <a:solidFill>
                  <a:srgbClr val="1E2761"/>
                </a:solidFill>
              </a:rPr>
              <a:t>Rabbi Awan</a:t>
            </a:r>
            <a:endParaRPr lang="en-US" sz="1300" dirty="0"/>
          </a:p>
        </p:txBody>
      </p:sp>
      <p:sp>
        <p:nvSpPr>
          <p:cNvPr id="11" name="Text 9"/>
          <p:cNvSpPr/>
          <p:nvPr/>
        </p:nvSpPr>
        <p:spPr>
          <a:xfrm>
            <a:off x="731520" y="4389120"/>
            <a:ext cx="2468880" cy="256032"/>
          </a:xfrm>
          <a:prstGeom prst="rect">
            <a:avLst/>
          </a:prstGeom>
          <a:noFill/>
          <a:ln/>
        </p:spPr>
        <p:txBody>
          <a:bodyPr wrap="square" rtlCol="0" anchor="ctr"/>
          <a:lstStyle/>
          <a:p>
            <a:pPr marL="0" indent="0" algn="ctr">
              <a:buNone/>
            </a:pPr>
            <a:r>
              <a:rPr lang="en-US" sz="1200" dirty="0">
                <a:solidFill>
                  <a:srgbClr val="028090"/>
                </a:solidFill>
              </a:rPr>
              <a:t>23L-2554</a:t>
            </a:r>
            <a:endParaRPr lang="en-US" sz="1200" dirty="0"/>
          </a:p>
        </p:txBody>
      </p:sp>
      <p:sp>
        <p:nvSpPr>
          <p:cNvPr id="12" name="Shape 10"/>
          <p:cNvSpPr/>
          <p:nvPr/>
        </p:nvSpPr>
        <p:spPr>
          <a:xfrm>
            <a:off x="3520440" y="4069080"/>
            <a:ext cx="2468880" cy="640080"/>
          </a:xfrm>
          <a:prstGeom prst="rect">
            <a:avLst/>
          </a:prstGeom>
          <a:solidFill>
            <a:srgbClr val="FFFFFF"/>
          </a:solidFill>
          <a:ln w="12700">
            <a:solidFill>
              <a:srgbClr val="1E2761"/>
            </a:solidFill>
            <a:prstDash val="solid"/>
          </a:ln>
        </p:spPr>
        <p:txBody>
          <a:bodyPr/>
          <a:lstStyle/>
          <a:p>
            <a:endParaRPr lang="en-US"/>
          </a:p>
        </p:txBody>
      </p:sp>
      <p:sp>
        <p:nvSpPr>
          <p:cNvPr id="13" name="Text 11"/>
          <p:cNvSpPr/>
          <p:nvPr/>
        </p:nvSpPr>
        <p:spPr>
          <a:xfrm>
            <a:off x="3520440" y="4096512"/>
            <a:ext cx="2468880" cy="292608"/>
          </a:xfrm>
          <a:prstGeom prst="rect">
            <a:avLst/>
          </a:prstGeom>
          <a:noFill/>
          <a:ln/>
        </p:spPr>
        <p:txBody>
          <a:bodyPr wrap="square" rtlCol="0" anchor="ctr"/>
          <a:lstStyle/>
          <a:p>
            <a:pPr marL="0" indent="0" algn="ctr">
              <a:buNone/>
            </a:pPr>
            <a:r>
              <a:rPr lang="en-US" sz="1300" b="1" dirty="0">
                <a:solidFill>
                  <a:srgbClr val="1E2761"/>
                </a:solidFill>
              </a:rPr>
              <a:t>Emad Rafique</a:t>
            </a:r>
            <a:endParaRPr lang="en-US" sz="1300" dirty="0"/>
          </a:p>
        </p:txBody>
      </p:sp>
      <p:sp>
        <p:nvSpPr>
          <p:cNvPr id="14" name="Text 12"/>
          <p:cNvSpPr/>
          <p:nvPr/>
        </p:nvSpPr>
        <p:spPr>
          <a:xfrm>
            <a:off x="3520440" y="4389120"/>
            <a:ext cx="2468880" cy="256032"/>
          </a:xfrm>
          <a:prstGeom prst="rect">
            <a:avLst/>
          </a:prstGeom>
          <a:noFill/>
          <a:ln/>
        </p:spPr>
        <p:txBody>
          <a:bodyPr wrap="square" rtlCol="0" anchor="ctr"/>
          <a:lstStyle/>
          <a:p>
            <a:pPr marL="0" indent="0" algn="ctr">
              <a:buNone/>
            </a:pPr>
            <a:r>
              <a:rPr lang="en-US" sz="1200" dirty="0">
                <a:solidFill>
                  <a:srgbClr val="028090"/>
                </a:solidFill>
              </a:rPr>
              <a:t>23L-2604</a:t>
            </a:r>
            <a:endParaRPr lang="en-US" sz="1200" dirty="0"/>
          </a:p>
        </p:txBody>
      </p:sp>
      <p:sp>
        <p:nvSpPr>
          <p:cNvPr id="15" name="Shape 13"/>
          <p:cNvSpPr/>
          <p:nvPr/>
        </p:nvSpPr>
        <p:spPr>
          <a:xfrm>
            <a:off x="6309360" y="4069080"/>
            <a:ext cx="2468880" cy="640080"/>
          </a:xfrm>
          <a:prstGeom prst="rect">
            <a:avLst/>
          </a:prstGeom>
          <a:solidFill>
            <a:srgbClr val="FFFFFF"/>
          </a:solidFill>
          <a:ln w="12700">
            <a:solidFill>
              <a:srgbClr val="1E2761"/>
            </a:solidFill>
            <a:prstDash val="solid"/>
          </a:ln>
        </p:spPr>
        <p:txBody>
          <a:bodyPr/>
          <a:lstStyle/>
          <a:p>
            <a:endParaRPr lang="en-US"/>
          </a:p>
        </p:txBody>
      </p:sp>
      <p:sp>
        <p:nvSpPr>
          <p:cNvPr id="16" name="Text 14"/>
          <p:cNvSpPr/>
          <p:nvPr/>
        </p:nvSpPr>
        <p:spPr>
          <a:xfrm>
            <a:off x="6309360" y="4096512"/>
            <a:ext cx="2468880" cy="292608"/>
          </a:xfrm>
          <a:prstGeom prst="rect">
            <a:avLst/>
          </a:prstGeom>
          <a:noFill/>
          <a:ln/>
        </p:spPr>
        <p:txBody>
          <a:bodyPr wrap="square" rtlCol="0" anchor="ctr"/>
          <a:lstStyle/>
          <a:p>
            <a:pPr marL="0" indent="0" algn="ctr">
              <a:buNone/>
            </a:pPr>
            <a:r>
              <a:rPr lang="en-US" sz="1300" b="1" dirty="0">
                <a:solidFill>
                  <a:srgbClr val="1E2761"/>
                </a:solidFill>
              </a:rPr>
              <a:t>Usaid Chaudhry</a:t>
            </a:r>
            <a:endParaRPr lang="en-US" sz="1300" dirty="0"/>
          </a:p>
        </p:txBody>
      </p:sp>
      <p:sp>
        <p:nvSpPr>
          <p:cNvPr id="17" name="Text 15"/>
          <p:cNvSpPr/>
          <p:nvPr/>
        </p:nvSpPr>
        <p:spPr>
          <a:xfrm>
            <a:off x="6309360" y="4389120"/>
            <a:ext cx="2468880" cy="256032"/>
          </a:xfrm>
          <a:prstGeom prst="rect">
            <a:avLst/>
          </a:prstGeom>
          <a:noFill/>
          <a:ln/>
        </p:spPr>
        <p:txBody>
          <a:bodyPr wrap="square" rtlCol="0" anchor="ctr"/>
          <a:lstStyle/>
          <a:p>
            <a:pPr marL="0" indent="0" algn="ctr">
              <a:buNone/>
            </a:pPr>
            <a:r>
              <a:rPr lang="en-US" sz="1200" dirty="0">
                <a:solidFill>
                  <a:srgbClr val="028090"/>
                </a:solidFill>
              </a:rPr>
              <a:t>23L-2538</a:t>
            </a:r>
            <a:endParaRPr lang="en-US" sz="1200" dirty="0"/>
          </a:p>
        </p:txBody>
      </p:sp>
      <p:sp>
        <p:nvSpPr>
          <p:cNvPr id="18" name="Text 16"/>
          <p:cNvSpPr/>
          <p:nvPr/>
        </p:nvSpPr>
        <p:spPr>
          <a:xfrm>
            <a:off x="457200" y="4663440"/>
            <a:ext cx="8229600" cy="201168"/>
          </a:xfrm>
          <a:prstGeom prst="rect">
            <a:avLst/>
          </a:prstGeom>
          <a:noFill/>
          <a:ln/>
        </p:spPr>
        <p:txBody>
          <a:bodyPr wrap="square" rtlCol="0" anchor="ctr"/>
          <a:lstStyle/>
          <a:p>
            <a:pPr marL="0" indent="0" algn="ctr">
              <a:buNone/>
            </a:pPr>
            <a:r>
              <a:rPr lang="en-US" sz="1100" dirty="0">
                <a:solidFill>
                  <a:srgbClr val="64748B"/>
                </a:solidFill>
              </a:rPr>
              <a:t>April 2026  •  NUCES — CS3005: Data Mining</a:t>
            </a:r>
            <a:endParaRPr lang="en-US" sz="1100" dirty="0"/>
          </a:p>
        </p:txBody>
      </p:sp>
      <p:sp>
        <p:nvSpPr>
          <p:cNvPr id="19" name="Shape 17"/>
          <p:cNvSpPr/>
          <p:nvPr/>
        </p:nvSpPr>
        <p:spPr>
          <a:xfrm>
            <a:off x="0" y="4869180"/>
            <a:ext cx="9144000" cy="274320"/>
          </a:xfrm>
          <a:prstGeom prst="rect">
            <a:avLst/>
          </a:prstGeom>
          <a:solidFill>
            <a:srgbClr val="1E2761"/>
          </a:solidFill>
          <a:ln w="12700">
            <a:solidFill>
              <a:srgbClr val="1E2761"/>
            </a:solidFill>
            <a:prstDash val="solid"/>
          </a:ln>
        </p:spPr>
        <p:txBody>
          <a:bodyPr/>
          <a:lstStyle/>
          <a:p>
            <a:endParaRPr lang="en-US"/>
          </a:p>
        </p:txBody>
      </p:sp>
      <p:sp>
        <p:nvSpPr>
          <p:cNvPr id="20" name="Text 18"/>
          <p:cNvSpPr/>
          <p:nvPr/>
        </p:nvSpPr>
        <p:spPr>
          <a:xfrm>
            <a:off x="0" y="4869180"/>
            <a:ext cx="9144000" cy="274320"/>
          </a:xfrm>
          <a:prstGeom prst="rect">
            <a:avLst/>
          </a:prstGeom>
          <a:noFill/>
          <a:ln/>
        </p:spPr>
        <p:txBody>
          <a:bodyPr wrap="square" lIns="0" tIns="0" rIns="0" bIns="0" rtlCol="0" anchor="ctr"/>
          <a:lstStyle/>
          <a:p>
            <a:pPr marL="0" indent="0" algn="ctr">
              <a:buNone/>
            </a:pPr>
            <a:r>
              <a:rPr lang="en-US" sz="900" dirty="0">
                <a:solidFill>
                  <a:srgbClr val="CADCFC"/>
                </a:solidFill>
              </a:rPr>
              <a:t>Smart Discount Targeting System  |  NUCES CS3005  |  20</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76</TotalTime>
  <Words>1957</Words>
  <Application>Microsoft Office PowerPoint</Application>
  <PresentationFormat>On-screen Show (16:9)</PresentationFormat>
  <Paragraphs>373</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Smart Discount Targeting System</dc:title>
  <dc:subject>PptxGenJS Presentation</dc:subject>
  <dc:creator>NUCES CS3005 Data Mining</dc:creator>
  <cp:lastModifiedBy>Rabbi Awan BS(DS)</cp:lastModifiedBy>
  <cp:revision>2</cp:revision>
  <dcterms:created xsi:type="dcterms:W3CDTF">2026-05-02T17:58:26Z</dcterms:created>
  <dcterms:modified xsi:type="dcterms:W3CDTF">2026-05-02T21:29:00Z</dcterms:modified>
</cp:coreProperties>
</file>