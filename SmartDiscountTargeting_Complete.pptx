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Silhouette Scores (k=2 to k=8)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B5C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5A7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A92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A92A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A92A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A92A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k=2</c:v>
                  </c:pt>
                  <c:pt idx="1">
                    <c:v>k=3</c:v>
                  </c:pt>
                  <c:pt idx="2">
                    <c:v>k=4</c:v>
                  </c:pt>
                  <c:pt idx="3">
                    <c:v>k=5</c:v>
                  </c:pt>
                  <c:pt idx="4">
                    <c:v>k=6</c:v>
                  </c:pt>
                  <c:pt idx="5">
                    <c:v>k=7</c:v>
                  </c:pt>
                  <c:pt idx="6">
                    <c:v>k=8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0.373</c:v>
                </c:pt>
                <c:pt idx="1">
                  <c:v>0.35</c:v>
                </c:pt>
                <c:pt idx="2">
                  <c:v>0.31</c:v>
                </c:pt>
                <c:pt idx="3">
                  <c:v>0.245</c:v>
                </c:pt>
                <c:pt idx="4">
                  <c:v>0.22</c:v>
                </c:pt>
                <c:pt idx="5">
                  <c:v>0.198</c:v>
                </c:pt>
                <c:pt idx="6">
                  <c:v>0.181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Top 10 Product Categories by Order Volume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bed_bath_table</c:v>
                  </c:pt>
                  <c:pt idx="1">
                    <c:v>health_beauty</c:v>
                  </c:pt>
                  <c:pt idx="2">
                    <c:v>sports_leisure</c:v>
                  </c:pt>
                  <c:pt idx="3">
                    <c:v>furniture_decor</c:v>
                  </c:pt>
                  <c:pt idx="4">
                    <c:v>computers_accessories</c:v>
                  </c:pt>
                  <c:pt idx="5">
                    <c:v>housewares</c:v>
                  </c:pt>
                  <c:pt idx="6">
                    <c:v>watches_gifts</c:v>
                  </c:pt>
                  <c:pt idx="7">
                    <c:v>telephony</c:v>
                  </c:pt>
                  <c:pt idx="8">
                    <c:v>auto</c:v>
                  </c:pt>
                  <c:pt idx="9">
                    <c:v>toys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11115</c:v>
                </c:pt>
                <c:pt idx="1">
                  <c:v>9670</c:v>
                </c:pt>
                <c:pt idx="2">
                  <c:v>8641</c:v>
                </c:pt>
                <c:pt idx="3">
                  <c:v>8334</c:v>
                </c:pt>
                <c:pt idx="4">
                  <c:v>7827</c:v>
                </c:pt>
                <c:pt idx="5">
                  <c:v>6964</c:v>
                </c:pt>
                <c:pt idx="6">
                  <c:v>5991</c:v>
                </c:pt>
                <c:pt idx="7">
                  <c:v>4545</c:v>
                </c:pt>
                <c:pt idx="8">
                  <c:v>4345</c:v>
                </c:pt>
                <c:pt idx="9">
                  <c:v>3922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Top 5 Feature Importances (Random Forest)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B5C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D5A7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A92A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Recency (inverted)</c:v>
                  </c:pt>
                  <c:pt idx="1">
                    <c:v>High Installment Ratio</c:v>
                  </c:pt>
                  <c:pt idx="2">
                    <c:v>Promo Month Ratio</c:v>
                  </c:pt>
                  <c:pt idx="3">
                    <c:v>Avg Installments</c:v>
                  </c:pt>
                  <c:pt idx="4">
                    <c:v>Avg Order Value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0.38</c:v>
                </c:pt>
                <c:pt idx="1">
                  <c:v>0.27</c:v>
                </c:pt>
                <c:pt idx="2">
                  <c:v>0.19</c:v>
                </c:pt>
                <c:pt idx="3">
                  <c:v>0.1</c:v>
                </c:pt>
                <c:pt idx="4">
                  <c:v>0.06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Customer Distribution Across Discount Tiers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6F51"/>
              </a:solidFill>
              <a:effectLst/>
            </c:spPr>
          </c:dPt>
          <c:dPt>
            <c:idx val="1"/>
            <c:bubble3D val="0"/>
            <c:spPr>
              <a:solidFill>
                <a:srgbClr val="F2A900"/>
              </a:solidFill>
              <a:effectLst/>
            </c:spPr>
          </c:dPt>
          <c:dPt>
            <c:idx val="2"/>
            <c:bubble3D val="0"/>
            <c:spPr>
              <a:solidFill>
                <a:srgbClr val="2A9D8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High Discount (Cluster 1)</c:v>
                </c:pt>
                <c:pt idx="1">
                  <c:v>Medium Discount (Cluster 0)</c:v>
                </c:pt>
                <c:pt idx="2">
                  <c:v>Low Discount (Cluster 2)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79.5</c:v>
                </c:pt>
                <c:pt idx="1">
                  <c:v>17.3</c:v>
                </c:pt>
                <c:pt idx="2">
                  <c:v>3.1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D5A7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C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UNIVERSITY OF COMPUTER AND EMERGING SCIENCES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286000" y="566928"/>
            <a:ext cx="457200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3152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Discount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5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System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Mining Project for Customer Discount Sensitivity Analysis in E-Commerce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286000" y="3246120"/>
            <a:ext cx="4572000" cy="2743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64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CS3005 — Data Mining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 Awan (23L-2554)  •  Emad Rafique (23L-2604)  •  Usaid Chaudhry (23L-2538)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0292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7899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8961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26187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Motivation, research question, objectives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47088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47088"/>
            <a:ext cx="50292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10312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19202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2860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— 5 tables, 99,441 customers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871216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71216"/>
            <a:ext cx="50292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12724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29443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Pipeline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31012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→ Feature Engineering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895344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95344"/>
            <a:ext cx="50292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15137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396849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Customer Segmentation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433425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analysis and discount tier mapping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82296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822960"/>
            <a:ext cx="50292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107899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03520" y="8961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Mining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126187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algorithm and category insights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1847088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1847088"/>
            <a:ext cx="50292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210312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03520" y="19202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22860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scoring, Decision Tree classifier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2871216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871216"/>
            <a:ext cx="50292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312724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03520" y="29443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Findings &amp; Limitations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03520" y="331012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future directions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895344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895344"/>
            <a:ext cx="50292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2" name="Text 40"/>
          <p:cNvSpPr/>
          <p:nvPr/>
        </p:nvSpPr>
        <p:spPr>
          <a:xfrm>
            <a:off x="4709160" y="415137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03520" y="396849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Technology Stack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03520" y="433425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summary and tools used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16459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961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discounts applied to all customers erode profit margins without proportional value. Price-sensitive customers already respond to offers — others purchase regardless. A smarter, targeted approach is needed.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578608"/>
            <a:ext cx="4114800" cy="868680"/>
          </a:xfrm>
          <a:prstGeom prst="rect">
            <a:avLst/>
          </a:prstGeom>
          <a:solidFill>
            <a:srgbClr val="0E7C8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651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9077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data mining techniques identify customer discount sensitivity and recommend suitable discount tiers based on purchasing behaviour?"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17720" y="8229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4206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36592" y="1207008"/>
            <a:ext cx="3977640" cy="2267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8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purchasing behaviour from multi-table transactional e-commerce data</a:t>
            </a:r>
            <a:endParaRPr lang="en-US" sz="1100" dirty="0"/>
          </a:p>
          <a:p>
            <a:pPr marL="342900" indent="-342900">
              <a:lnSpc>
                <a:spcPct val="138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25+ customer-level behavioral features across 5 dimensions</a:t>
            </a:r>
            <a:endParaRPr lang="en-US" sz="1100" dirty="0"/>
          </a:p>
          <a:p>
            <a:pPr marL="342900" indent="-342900">
              <a:lnSpc>
                <a:spcPct val="138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into discount sensitivity groups using K-Means clustering</a:t>
            </a:r>
            <a:endParaRPr lang="en-US" sz="1100" dirty="0"/>
          </a:p>
          <a:p>
            <a:pPr marL="342900" indent="-342900">
              <a:lnSpc>
                <a:spcPct val="138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Apriori to discover product co-purchase patterns across categories</a:t>
            </a:r>
            <a:endParaRPr lang="en-US" sz="1100" dirty="0"/>
          </a:p>
          <a:p>
            <a:pPr marL="342900" indent="-342900">
              <a:lnSpc>
                <a:spcPct val="138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Decision Tree classifier to assign new customers to discount tiers</a:t>
            </a:r>
            <a:endParaRPr lang="en-US" sz="1100" dirty="0"/>
          </a:p>
          <a:p>
            <a:pPr marL="342900" indent="-342900">
              <a:lnSpc>
                <a:spcPct val="138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Streamlit dashboard for real-time discount tier prediction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8595360" cy="50292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3566160"/>
            <a:ext cx="45720" cy="5029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359359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Targeted discounts preserve margins, increase conversion, and reward price-sensitive customers — while avoiding unnecessary promotions to loyal buyers.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4224528"/>
            <a:ext cx="859536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427024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Move from blanket discounts → data-driven, personalized promotional strategies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Olist Brazilian E-Commerce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1600200" cy="1005840"/>
          </a:xfrm>
          <a:prstGeom prst="rect">
            <a:avLst/>
          </a:prstGeom>
          <a:solidFill>
            <a:srgbClr val="0E7C8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5953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99,441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33502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804672"/>
            <a:ext cx="1600200" cy="10058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85953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99,441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11680" y="133502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804672"/>
            <a:ext cx="1600200" cy="1005840"/>
          </a:xfrm>
          <a:prstGeom prst="rect">
            <a:avLst/>
          </a:prstGeom>
          <a:solidFill>
            <a:srgbClr val="2A9D8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85953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112,650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49040" y="133502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804672"/>
            <a:ext cx="1600200" cy="1005840"/>
          </a:xfrm>
          <a:prstGeom prst="rect">
            <a:avLst/>
          </a:prstGeom>
          <a:solidFill>
            <a:srgbClr val="F2A90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85953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32,951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0" y="133502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804672"/>
            <a:ext cx="1600200" cy="1005840"/>
          </a:xfrm>
          <a:prstGeom prst="rect">
            <a:avLst/>
          </a:prstGeom>
          <a:solidFill>
            <a:srgbClr val="6C63A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859536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103,886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223760" y="1335024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1920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Relational Tables — Merged via customer_id · order_id · product_id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31136"/>
          <a:ext cx="8595360" cy="178308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530352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IDs, state/city location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status, purchase &amp; delivery timestamps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112,650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Product-level unit price, freight value, quantity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name (Portuguese + English translation)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103,886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type, number of installments, transaction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274320" y="4133088"/>
            <a:ext cx="8595360" cy="68580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418795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2016–2018  |  Source: Kaggle (Public)  |  Geography: Brazil  |  Only DELIVERED orders retained for clean transaction records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73736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Pipeline &amp; Methodology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→  Feature Engineering  →  Clustering  →  Rules  →  Classification  → 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Mining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1097280" cy="148132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69164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5176" y="2286000"/>
            <a:ext cx="10241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 merged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join keys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25880" y="2157984"/>
            <a:ext cx="16764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2352" y="2039112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93520" y="1417320"/>
            <a:ext cx="1097280" cy="1481328"/>
          </a:xfrm>
          <a:prstGeom prst="rect">
            <a:avLst/>
          </a:prstGeom>
          <a:solidFill>
            <a:srgbClr val="0E7C8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9352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93520" y="169164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530096" y="2286000"/>
            <a:ext cx="10241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filtering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orders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90800" y="2157984"/>
            <a:ext cx="16764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57272" y="2039112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58440" y="1417320"/>
            <a:ext cx="1097280" cy="1481328"/>
          </a:xfrm>
          <a:prstGeom prst="rect">
            <a:avLst/>
          </a:prstGeom>
          <a:solidFill>
            <a:srgbClr val="2A9D8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5844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58440" y="169164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95016" y="2286000"/>
            <a:ext cx="10241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behavioral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(5 groups)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55720" y="2157984"/>
            <a:ext cx="16764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22192" y="2039112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23360" y="1417320"/>
            <a:ext cx="1097280" cy="1481328"/>
          </a:xfrm>
          <a:prstGeom prst="rect">
            <a:avLst/>
          </a:prstGeom>
          <a:solidFill>
            <a:srgbClr val="6C63A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02336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23360" y="169164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059936" y="2286000"/>
            <a:ext cx="10241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segments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20640" y="2157984"/>
            <a:ext cx="16764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87112" y="2039112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88280" y="1417320"/>
            <a:ext cx="1097280" cy="1481328"/>
          </a:xfrm>
          <a:prstGeom prst="rect">
            <a:avLst/>
          </a:prstGeom>
          <a:solidFill>
            <a:srgbClr val="F2A90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28828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88280" y="169164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Mining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324856" y="2286000"/>
            <a:ext cx="10241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baskets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85560" y="2157984"/>
            <a:ext cx="16764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2032" y="2039112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53200" y="1417320"/>
            <a:ext cx="1097280" cy="1481328"/>
          </a:xfrm>
          <a:prstGeom prst="rect">
            <a:avLst/>
          </a:prstGeom>
          <a:solidFill>
            <a:srgbClr val="E76F5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5320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53200" y="169164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589776" y="2286000"/>
            <a:ext cx="10241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feature selection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650480" y="2157984"/>
            <a:ext cx="167640" cy="0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16952" y="2039112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818120" y="1417320"/>
            <a:ext cx="1097280" cy="1481328"/>
          </a:xfrm>
          <a:prstGeom prst="rect">
            <a:avLst/>
          </a:prstGeom>
          <a:solidFill>
            <a:srgbClr val="15B5C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81812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818120" y="169164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854696" y="2286000"/>
            <a:ext cx="10241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UI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3063240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7200" y="314553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51560" y="3145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multi-table relational data (Olist CSV files)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37760" y="314553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577840" y="31455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tier predictions + Streamlit dashboard for real-time use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46320" y="3154680"/>
            <a:ext cx="0" cy="685800"/>
          </a:xfrm>
          <a:prstGeom prst="line">
            <a:avLst/>
          </a:prstGeom>
          <a:noFill/>
          <a:ln w="12700">
            <a:solidFill>
              <a:srgbClr val="D0E4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347472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produces a cleaned intermediate dataset consumed by the next — forming a reproducible, end-to-end pipeline.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4224528"/>
            <a:ext cx="859536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3" name="Text 51"/>
          <p:cNvSpPr/>
          <p:nvPr/>
        </p:nvSpPr>
        <p:spPr>
          <a:xfrm>
            <a:off x="411480" y="427024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combines unsupervised segmentation + rule mining + supervised classification for maximum business insight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 Engineering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02336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88720"/>
            <a:ext cx="3794760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5 relational tables via customer_id, order_id, product_id</a:t>
            </a:r>
            <a:endParaRPr lang="en-US" sz="11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only delivered orders for completed transaction records</a:t>
            </a:r>
            <a:endParaRPr lang="en-US" sz="11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all timestamp columns to datetime format</a:t>
            </a:r>
            <a:endParaRPr lang="en-US" sz="11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product category names with placeholder 'unknown'</a:t>
            </a:r>
            <a:endParaRPr lang="en-US" sz="11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records and rows with missing payment data</a:t>
            </a:r>
            <a:endParaRPr lang="en-US" sz="11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remaining numerical missing values with column medians</a:t>
            </a:r>
            <a:endParaRPr lang="en-US" sz="11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cleaned dataset as intermediate CSV for downstream stages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804672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Engineered Features — 5 Dimensions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115568"/>
            <a:ext cx="42519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115568"/>
            <a:ext cx="64008" cy="457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1612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/ Frequency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09160" y="1362456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(days), total_orders, orders_per_month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1609344"/>
            <a:ext cx="42519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609344"/>
            <a:ext cx="64008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65506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09160" y="1856232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total_spent, avg_order_value, avg_item_price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2103120"/>
            <a:ext cx="42519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103120"/>
            <a:ext cx="64008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214884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Sensitivity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09160" y="235000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cheap_order_ratio, avg_installments, high_installment_ratio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2596896"/>
            <a:ext cx="42519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2596896"/>
            <a:ext cx="64008" cy="4572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264261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Behavior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09160" y="284378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promo_month_order_ratio (Nov/Dec peak seasons)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3090672"/>
            <a:ext cx="42519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3090672"/>
            <a:ext cx="64008" cy="4572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313639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Preferences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09160" y="333756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preferred_payment_type — one-hot encoded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224528"/>
            <a:ext cx="859536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27024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transaction-level dataset was aggregated to one row per customer — capturing their full behavioral fingerprint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73736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 ·  Elbow Method  ·  Silhouette Analysis  ·  Discount Tier Mapping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Customer Segmentation — Cluster Selection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standardized with StandardScaler before clustering. Optimal k determined by Elbow Method + Silhouette Scores.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24128"/>
          <a:ext cx="39319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730752"/>
            <a:ext cx="3931920" cy="475488"/>
          </a:xfrm>
          <a:prstGeom prst="rect">
            <a:avLst/>
          </a:prstGeom>
          <a:solidFill>
            <a:srgbClr val="0E7C86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84048" y="3758184"/>
            <a:ext cx="37124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has highest score (0.373) but k=3 selected — best balance between statistical quality and business interpretability (3 actionable tiers).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434840" y="1024128"/>
            <a:ext cx="4434840" cy="886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1024128"/>
            <a:ext cx="64008" cy="88696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8"/>
          <p:cNvSpPr/>
          <p:nvPr/>
        </p:nvSpPr>
        <p:spPr>
          <a:xfrm>
            <a:off x="4590288" y="10789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 →  HIGH Discount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90288" y="13258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79.5%  (74,308 customers)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90288" y="152704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average spend per order  ·  Frequent budget purchases  ·  High cheap_order_ratio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34840" y="1984248"/>
            <a:ext cx="4434840" cy="886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34840" y="1984248"/>
            <a:ext cx="64008" cy="88696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6" name="Text 13"/>
          <p:cNvSpPr/>
          <p:nvPr/>
        </p:nvSpPr>
        <p:spPr>
          <a:xfrm>
            <a:off x="4590288" y="20391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 →  MEDIUM Discount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90288" y="22860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  (16,172 customers)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90288" y="248716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spenders  ·  Mixed payment methods  ·  Occasional installment usage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434840" y="2944368"/>
            <a:ext cx="4434840" cy="886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434840" y="2944368"/>
            <a:ext cx="64008" cy="8869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8"/>
          <p:cNvSpPr/>
          <p:nvPr/>
        </p:nvSpPr>
        <p:spPr>
          <a:xfrm>
            <a:off x="4590288" y="29992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 →  LOW Discount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90288" y="32461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  (2,855 customers)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90288" y="344728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premium buyers  ·  Low promo dependency  ·  Prefer credit card lump payments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74320" y="4224528"/>
            <a:ext cx="859536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427024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79.5% of customers fall in the HIGH Discount tier — confirming targeted discounting is essential to preserve margins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Profiles — Discount Tier Characteristics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229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Visualization: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822960"/>
            <a:ext cx="7086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 reduced 25+ features to 2 components for visual inspection. The PCA scatter plot confirms clear cluster separation — validating that engineered features capture meaningful behavioral differences.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28346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98448"/>
            <a:ext cx="2834640" cy="47548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3502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Discount  — Cluster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55448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79.5%  |  74,308 customers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87452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103120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cheap_order_ratio: HIGH — budget items dominate baskets</a:t>
            </a:r>
            <a:endParaRPr lang="en-US" sz="9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promo_month_order_ratio: HIGH — responsive to Nov/Dec deals</a:t>
            </a:r>
            <a:endParaRPr lang="en-US" sz="9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avg_installments: HIGH — spread payments, financially sensitive</a:t>
            </a:r>
            <a:endParaRPr lang="en-US" sz="9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recency: MIXED — both active and lapsed</a:t>
            </a:r>
            <a:endParaRPr lang="en-US" sz="9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avg_order_value: LOW — small, frequent purchases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447288"/>
            <a:ext cx="2606040" cy="0"/>
          </a:xfrm>
          <a:prstGeom prst="line">
            <a:avLst/>
          </a:prstGeom>
          <a:noFill/>
          <a:ln w="9525">
            <a:solidFill>
              <a:srgbClr val="D0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930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70332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target for discount campaigns. Offer tiered percentage discounts, flash sale alerts, and seasonal promotions. Highest ROI per promotion spend.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64408" y="1298448"/>
            <a:ext cx="28346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4408" y="1298448"/>
            <a:ext cx="2834640" cy="47548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7"/>
          <p:cNvSpPr/>
          <p:nvPr/>
        </p:nvSpPr>
        <p:spPr>
          <a:xfrm>
            <a:off x="3355848" y="133502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Discount  — Cluster 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5848" y="155448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  |  16,172 customers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55848" y="187452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55848" y="2103120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cheap_order_ratio: MODERATE</a:t>
            </a:r>
            <a:endParaRPr lang="en-US" sz="9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promo_month_order_ratio: MODERATE — occasionally responsive</a:t>
            </a:r>
            <a:endParaRPr lang="en-US" sz="9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avg_installments: MODERATE</a:t>
            </a:r>
            <a:endParaRPr lang="en-US" sz="9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avg_order_value: MODERATE — balanced spending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55848" y="3447288"/>
            <a:ext cx="2606040" cy="0"/>
          </a:xfrm>
          <a:prstGeom prst="line">
            <a:avLst/>
          </a:prstGeom>
          <a:noFill/>
          <a:ln w="9525">
            <a:solidFill>
              <a:srgbClr val="D0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34930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55848" y="370332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discounting recommended. Use personalized offers based on purchase category and recency. Loyalty perks more effective than blanket discounts.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54496" y="1298448"/>
            <a:ext cx="28346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54496" y="1298448"/>
            <a:ext cx="2834640" cy="47548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6345936" y="133502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Discount  — Cluster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45936" y="155448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  |  2,855 customers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45936" y="187452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45936" y="2103120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cheap_order_ratio: LOW — premium product preference</a:t>
            </a:r>
            <a:endParaRPr lang="en-US" sz="9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promo_month_order_ratio: LOW — not seasonal</a:t>
            </a:r>
            <a:endParaRPr lang="en-US" sz="9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avg_installments: LOW — pays in full</a:t>
            </a:r>
            <a:endParaRPr lang="en-US" sz="9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avg_order_value: HIGH — premium, infrequent purchases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45936" y="3447288"/>
            <a:ext cx="2606040" cy="0"/>
          </a:xfrm>
          <a:prstGeom prst="line">
            <a:avLst/>
          </a:prstGeom>
          <a:noFill/>
          <a:ln w="9525">
            <a:solidFill>
              <a:srgbClr val="D0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45936" y="34930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45936" y="370332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unnecessary discounts — they do not need incentives to purchase. Focus retention via loyalty rewards, premium experience, and exclusive product access.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Mining — Apriori Algorithm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690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64008" cy="21031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8778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188720"/>
            <a:ext cx="3794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Apriori algorithm to an order-category basket matrix</a:t>
            </a:r>
            <a:endParaRPr lang="en-US" sz="11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one order; each column = one product category</a:t>
            </a:r>
            <a:endParaRPr lang="en-US" sz="11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translated from Portuguese using official mapping table</a:t>
            </a:r>
            <a:endParaRPr lang="en-US" sz="11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for frequent itemsets and multi-category co-purchase rules</a:t>
            </a:r>
            <a:endParaRPr lang="en-US" sz="11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support and confidence thresholds applied iteratively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999232"/>
            <a:ext cx="4069080" cy="960120"/>
          </a:xfrm>
          <a:prstGeom prst="rect">
            <a:avLst/>
          </a:prstGeom>
          <a:solidFill>
            <a:srgbClr val="E76F5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307238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346704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98% of orders contained products from a single category — basket data too sparse for meaningful multi-category rules. No cross-category bundling opportunities exist.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0" y="804672"/>
          <a:ext cx="4297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572000" y="4078224"/>
            <a:ext cx="4297680" cy="502920"/>
          </a:xfrm>
          <a:prstGeom prst="rect">
            <a:avLst/>
          </a:prstGeom>
          <a:solidFill>
            <a:srgbClr val="F4F8FB"/>
          </a:solidFill>
          <a:ln/>
        </p:spPr>
      </p:sp>
      <p:sp>
        <p:nvSpPr>
          <p:cNvPr id="14" name="Text 11"/>
          <p:cNvSpPr/>
          <p:nvPr/>
        </p:nvSpPr>
        <p:spPr>
          <a:xfrm>
            <a:off x="4663440" y="411480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single-category itemsets: bed_bath_table · health_beauty · sports_leisure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4224528"/>
            <a:ext cx="8595360" cy="5943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" name="Text 13"/>
          <p:cNvSpPr/>
          <p:nvPr/>
        </p:nvSpPr>
        <p:spPr>
          <a:xfrm>
            <a:off x="411480" y="427024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Strategic Insight:  Cross-category bundling not viable. Focus discount campaigns on individual high-demand categories.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 — Behavior-Based Discount Sensitivity Score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Behavior-Based Composite Score  (Weighted Sum of 5 Behavioral Indicators)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1920240"/>
        </p:xfrm>
        <a:graphic>
          <a:graphicData uri="http://schemas.openxmlformats.org/drawingml/2006/table">
            <a:tbl>
              <a:tblPr/>
              <a:tblGrid>
                <a:gridCol w="3200400"/>
                <a:gridCol w="914400"/>
                <a:gridCol w="4480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Promotional month order ratio (Nov/Dec)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direct signal of price responsiveness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installment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for financial price sensitivity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installments per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Reflects payment flexibility preference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Recency (inverted — lower = better)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 customers more likely to need discount incentive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order value (inverted)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AOV correlates with price-conscious behavior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127248"/>
            <a:ext cx="2084832" cy="14173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32004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Tier Labels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3493008"/>
            <a:ext cx="1920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divided into Low/Medium/High tiers using quantile thresholds on composite score — creating a balanced 3-class target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50592" y="3127248"/>
            <a:ext cx="2084832" cy="1417320"/>
          </a:xfrm>
          <a:prstGeom prst="rect">
            <a:avLst/>
          </a:prstGeom>
          <a:solidFill>
            <a:srgbClr val="0E7C8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42032" y="32004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Feature Selection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542032" y="3493008"/>
            <a:ext cx="1920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feature importance used to identify and retain top 5 most predictive features out of 25+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26864" y="3127248"/>
            <a:ext cx="2084832" cy="1417320"/>
          </a:xfrm>
          <a:prstGeom prst="rect">
            <a:avLst/>
          </a:prstGeom>
          <a:solidFill>
            <a:srgbClr val="2A9D8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18304" y="32004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Classification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18304" y="3493008"/>
            <a:ext cx="1920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(max_depth=5) trained on 80/20 stratified split using top 5 features — fast, interpretable, deployable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803136" y="3127248"/>
            <a:ext cx="2084832" cy="1417320"/>
          </a:xfrm>
          <a:prstGeom prst="rect">
            <a:avLst/>
          </a:prstGeom>
          <a:solidFill>
            <a:srgbClr val="6C63A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94576" y="32004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Evaluation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94576" y="3493008"/>
            <a:ext cx="1920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+ classification report. Adjacent-tier errors (Medium↔High) expected from continuous sensitivity spectrum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" y="4224528"/>
            <a:ext cx="859536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427024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emerged as the single most important predictor — re-engagement campaigns are the primary use case for discount targeting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Decision Tree Classifier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04672"/>
          <a:ext cx="45720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0" y="804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Summary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115568"/>
          <a:ext cx="3840480" cy="146304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D5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0" y="2606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Actual  |  Columns = Predicted  |  Adjacent-tier confusion expected from continuous sensitivity spectrum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74320" y="3291840"/>
            <a:ext cx="2057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74320" y="3291840"/>
            <a:ext cx="2057400" cy="640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7"/>
          <p:cNvSpPr/>
          <p:nvPr/>
        </p:nvSpPr>
        <p:spPr>
          <a:xfrm>
            <a:off x="347472" y="340156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47472" y="363931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22960" y="3639312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via full classification report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450592" y="3291840"/>
            <a:ext cx="2057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450592" y="3291840"/>
            <a:ext cx="2057400" cy="64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" name="Text 12"/>
          <p:cNvSpPr/>
          <p:nvPr/>
        </p:nvSpPr>
        <p:spPr>
          <a:xfrm>
            <a:off x="2523744" y="340156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Discount Tier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523744" y="363931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999232" y="3639312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precision, minimal misclassifications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626864" y="3291840"/>
            <a:ext cx="2057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26864" y="3291840"/>
            <a:ext cx="2057400" cy="6400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1" name="Text 17"/>
          <p:cNvSpPr/>
          <p:nvPr/>
        </p:nvSpPr>
        <p:spPr>
          <a:xfrm>
            <a:off x="4700016" y="340156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Discount Tier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700016" y="363931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175504" y="3639312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overlap with Medium tier boundary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803136" y="3291840"/>
            <a:ext cx="2057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03136" y="3291840"/>
            <a:ext cx="2057400" cy="6400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6" name="Text 22"/>
          <p:cNvSpPr/>
          <p:nvPr/>
        </p:nvSpPr>
        <p:spPr>
          <a:xfrm>
            <a:off x="6876288" y="340156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Discount Tier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876288" y="363931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7351776" y="3639312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boundary confusion with adjacent tiers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274320" y="42245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errors occur primarily between adjacent tiers — acceptable because discount sensitivity is inherently a continuous spectrum, not discrete categories.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274320" y="4224528"/>
            <a:ext cx="859536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Text 27"/>
          <p:cNvSpPr/>
          <p:nvPr/>
        </p:nvSpPr>
        <p:spPr>
          <a:xfrm>
            <a:off x="411480" y="427024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alone is insufficient to characterize discount sensitivity — behavioral patterns (recency + installments) are far more predictive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Findings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057400" cy="1115568"/>
          </a:xfrm>
          <a:prstGeom prst="rect">
            <a:avLst/>
          </a:prstGeom>
          <a:solidFill>
            <a:srgbClr val="E76F5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22960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335024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HIGH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Sensitive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777240"/>
            <a:ext cx="2057400" cy="1115568"/>
          </a:xfrm>
          <a:prstGeom prst="rect">
            <a:avLst/>
          </a:prstGeom>
          <a:solidFill>
            <a:srgbClr val="0E7C8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822960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50592" y="1335024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Customer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Clusters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26864" y="777240"/>
            <a:ext cx="2057400" cy="111556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822960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26864" y="1335024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(k=3 clusters)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03136" y="777240"/>
            <a:ext cx="2057400" cy="1115568"/>
          </a:xfrm>
          <a:prstGeom prst="rect">
            <a:avLst/>
          </a:prstGeom>
          <a:solidFill>
            <a:srgbClr val="2A9D8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822960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03136" y="1335024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Weight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2011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2340864"/>
            <a:ext cx="3822192" cy="1993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03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79.5% of customers are high discount sensitivity — targeted discounting is essential</a:t>
            </a:r>
            <a:endParaRPr lang="en-US" sz="103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03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is the single most powerful predictor of discount sensitivity</a:t>
            </a:r>
            <a:endParaRPr lang="en-US" sz="103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03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 usage is the second-most reliable proxy for price sensitivity</a:t>
            </a:r>
            <a:endParaRPr lang="en-US" sz="103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03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promotional behavior (Nov–Dec) is a meaningful segmentation signal</a:t>
            </a:r>
            <a:endParaRPr lang="en-US" sz="103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03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bundling is NOT viable — single-category campaigns recommended</a:t>
            </a:r>
            <a:endParaRPr lang="en-US" sz="103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US" sz="103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alone is insufficient — behavioral patterns are far more predictive</a:t>
            </a:r>
            <a:endParaRPr lang="en-US" sz="103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0" y="2011680"/>
          <a:ext cx="429768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274320" y="4224528"/>
            <a:ext cx="8595360" cy="5943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2" name="Text 19"/>
          <p:cNvSpPr/>
          <p:nvPr/>
        </p:nvSpPr>
        <p:spPr>
          <a:xfrm>
            <a:off x="411480" y="427024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successfully captures behavioral differences — validating the data mining approach for real-world e-commerce discount targeting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Directions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14800" cy="1993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64008" cy="199339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1795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463040"/>
            <a:ext cx="3840480" cy="1581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tiers derived from behavioral proxies — not actual campaign response data (click-through, coupon redemption)</a:t>
            </a:r>
            <a:endParaRPr lang="en-US" sz="10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A/B test ground truth available for supervised validation of tier assignments</a:t>
            </a:r>
            <a:endParaRPr lang="en-US" sz="10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dataset is Brazil-specific (2016–2018) — limited generalizability to other geographies or eras</a:t>
            </a:r>
            <a:endParaRPr lang="en-US" sz="10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basket data prevented meaningful multi-category association rules from emerging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3218688"/>
            <a:ext cx="4114800" cy="1581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3218688"/>
            <a:ext cx="64008" cy="158191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32826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Limitations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" y="3566160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Adjacent-tier misclassification inevitable given continuous sensitivity spectrum</a:t>
            </a:r>
            <a:endParaRPr lang="en-US" sz="10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may overfit without regular retraining as customer behavior evolves</a:t>
            </a:r>
            <a:endParaRPr lang="en-US" sz="10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model — does not adapt to real-time behavioral shifts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80467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17720" y="1115568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115568"/>
            <a:ext cx="457200" cy="8229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3716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11704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Campaign Data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66360" y="14173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A/B test results, coupon redemption rates and click-through data for ground-truth-based supervised model training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617720" y="2029968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029968"/>
            <a:ext cx="457200" cy="8229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22860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66360" y="20848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Pipeline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166360" y="23317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Streamlit dashboard with live customer data ingestion for real-time automated discount recommendations at scale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617720" y="2944368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2944368"/>
            <a:ext cx="457200" cy="822960"/>
          </a:xfrm>
          <a:prstGeom prst="rect">
            <a:avLst/>
          </a:prstGeom>
          <a:solidFill>
            <a:srgbClr val="6C63A6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2004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66360" y="29992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Embeddings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166360" y="32461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customer embeddings (e.g., neural collaborative filtering) to capture latent behavioral patterns beyond handcrafted features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4617720" y="3858768"/>
            <a:ext cx="4206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3858768"/>
            <a:ext cx="4572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4617720" y="41148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66360" y="39136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Analysis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166360" y="41605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individual customer discount sensitivity evolves across their lifecycle — enabling dynamic tier re-assignment over time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274320" y="4224528"/>
            <a:ext cx="859536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427024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 campaign response data, this system could become a fully automated, adaptive discount recommendation engine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1234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12161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NumPy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merging, cleaning, feature aggregation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76272"/>
            <a:ext cx="64008" cy="1234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677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25694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 ·  XGBoost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86207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KMeans, PCA, DecisionTree, RandomForestClassifier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529584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529584"/>
            <a:ext cx="64008" cy="1234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2102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Mining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39227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mlxtend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21538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algorithm, association_rules generation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822960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822960"/>
            <a:ext cx="64008" cy="12344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9144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92040" y="12161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 ·  Seaborn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150876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plots, PCA scatter, feature importance charts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176272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176272"/>
            <a:ext cx="64008" cy="12344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2677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892040" y="25694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286207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real-time discount tier prediction UI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529584"/>
            <a:ext cx="4251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529584"/>
            <a:ext cx="64008" cy="1234440"/>
          </a:xfrm>
          <a:prstGeom prst="rect">
            <a:avLst/>
          </a:prstGeom>
          <a:solidFill>
            <a:srgbClr val="6C63A6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62102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C6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892040" y="39227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92040" y="421538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public dataset — 2016–2018, 5 relational tables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686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delivers a complete end-to-end data mining pipeline for Smart Discount Targeting applied to real-world e-commerce data — from raw multi-table relational data to a deployable interactive dashboard.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8412480" cy="2148840"/>
          </a:xfrm>
          <a:prstGeom prst="rect">
            <a:avLst/>
          </a:prstGeom>
          <a:solidFill>
            <a:srgbClr val="12223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81912"/>
            <a:ext cx="8183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identifies 3 actionable discount sensitivity tiers from 93,335 customers</a:t>
            </a:r>
            <a:endParaRPr lang="en-US" sz="1200" dirty="0"/>
          </a:p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Behavior-based composite scoring provides a novel, interpretable target variable without labeled data</a:t>
            </a:r>
            <a:endParaRPr lang="en-US" sz="1200" dirty="0"/>
          </a:p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classifier enables real-time classification of new customers into discount tiers</a:t>
            </a:r>
            <a:endParaRPr lang="en-US" sz="1200" dirty="0"/>
          </a:p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mining confirms that individual high-demand category discounts are the best strategy</a:t>
            </a:r>
            <a:endParaRPr lang="en-US" sz="1200" dirty="0"/>
          </a:p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bridges the gap between analysis and deployment for business use</a:t>
            </a:r>
            <a:endParaRPr lang="en-US" sz="1200" dirty="0"/>
          </a:p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combination of unsupervised + rule-based + supervised techniques outperforms any single approach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749040"/>
            <a:ext cx="8412480" cy="3657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82219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system enables businesses to move from wasteful blanket discount campaigns toward precision-targeted promotions — directing offers to customers most likely to respond, while preserving margins for loyal, price-insensitive buyers."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44622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NUCES  |  CS3005 Data Mining  |  Rabbi Awan  ·  Emad Rafique  ·  Usaid Chaudhry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5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0" y="2395728"/>
            <a:ext cx="457200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578608"/>
            <a:ext cx="2377440" cy="960120"/>
          </a:xfrm>
          <a:prstGeom prst="rect">
            <a:avLst/>
          </a:prstGeom>
          <a:solidFill>
            <a:srgbClr val="12223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6700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 Awan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9626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23L-2554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2578608"/>
            <a:ext cx="2377440" cy="960120"/>
          </a:xfrm>
          <a:prstGeom prst="rect">
            <a:avLst/>
          </a:prstGeom>
          <a:solidFill>
            <a:srgbClr val="12223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26700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Emad Rafique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29626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23L-2604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2578608"/>
            <a:ext cx="2377440" cy="960120"/>
          </a:xfrm>
          <a:prstGeom prst="rect">
            <a:avLst/>
          </a:prstGeom>
          <a:solidFill>
            <a:srgbClr val="12223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26700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Usaid Chaudhry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29626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23L-2538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703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CS3005 — Data Mining  |  NATIONAL UNIVERSITY OF COMPUTER AND EMERGING SCIENCES  |  April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069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Discount Targeting System — Data-Driven Personalized Promotional Strategies for E-Commerce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Discount Targeting System</dc:title>
  <dc:subject>PptxGenJS Presentation</dc:subject>
  <dc:creator>PptxGenJS</dc:creator>
  <cp:lastModifiedBy>PptxGenJS</cp:lastModifiedBy>
  <cp:revision>1</cp:revision>
  <dcterms:created xsi:type="dcterms:W3CDTF">2026-05-02T14:16:13Z</dcterms:created>
  <dcterms:modified xsi:type="dcterms:W3CDTF">2026-05-02T14:16:13Z</dcterms:modified>
</cp:coreProperties>
</file>