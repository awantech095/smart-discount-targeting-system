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
  </p:notesMasterIdLst>
  <p:sldIdLst>
    <p:sldId id="276" r:id="rId3"/>
    <p:sldId id="275"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8FFBC0-8EF7-41CE-9F59-2E310E660361}"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7EF9B7-C156-4590-8756-512033A340A3}" type="slidenum">
              <a:rPr lang="en-US" smtClean="0"/>
              <a:t>‹#›</a:t>
            </a:fld>
            <a:endParaRPr lang="en-US"/>
          </a:p>
        </p:txBody>
      </p:sp>
    </p:spTree>
    <p:extLst>
      <p:ext uri="{BB962C8B-B14F-4D97-AF65-F5344CB8AC3E}">
        <p14:creationId xmlns:p14="http://schemas.microsoft.com/office/powerpoint/2010/main" val="342350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8F4E9-B56F-FB17-B461-D505CD62D6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0BA6DD-40BD-8E57-45F1-59AB90AFCC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6DACCC-D420-2106-F139-90D3D9ED2D54}"/>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5" name="Footer Placeholder 4">
            <a:extLst>
              <a:ext uri="{FF2B5EF4-FFF2-40B4-BE49-F238E27FC236}">
                <a16:creationId xmlns:a16="http://schemas.microsoft.com/office/drawing/2014/main" id="{EFF69C9D-9745-EF9B-539A-B69C1C7A82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21BAA-62F8-608F-E7A3-326C54CFFFE6}"/>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703959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8427-A508-86B1-1594-DEC0C6821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65D069-CAC7-A234-981B-C1091D1E74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17B1B8-3305-E4C2-B19E-DE7D5391A290}"/>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5" name="Footer Placeholder 4">
            <a:extLst>
              <a:ext uri="{FF2B5EF4-FFF2-40B4-BE49-F238E27FC236}">
                <a16:creationId xmlns:a16="http://schemas.microsoft.com/office/drawing/2014/main" id="{A42620E6-CD5B-CA97-5565-FD2A75D47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BBAAD-6790-3C6D-30F3-E98108B7ACB0}"/>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425967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CCF3F-D805-A6FA-21E2-080B5CAD6E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1596F3-F95C-BCF2-0D4A-3426B68652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0F7ABA-0DBE-94A9-1936-B52C35365ACC}"/>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5" name="Footer Placeholder 4">
            <a:extLst>
              <a:ext uri="{FF2B5EF4-FFF2-40B4-BE49-F238E27FC236}">
                <a16:creationId xmlns:a16="http://schemas.microsoft.com/office/drawing/2014/main" id="{5942677F-86FE-BC92-E558-E77DE12E05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3BC12-FB8E-69E3-BF89-6E2F11C61E2E}"/>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24722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A0D1-ED9E-46CA-3255-937A50D99D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CD7476-D5EF-C53B-C8CA-1EDCFEAE88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822CCD-FCBE-A291-1602-21FD70F407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E37790-A52A-7294-3C01-C3047628E047}"/>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6" name="Footer Placeholder 5">
            <a:extLst>
              <a:ext uri="{FF2B5EF4-FFF2-40B4-BE49-F238E27FC236}">
                <a16:creationId xmlns:a16="http://schemas.microsoft.com/office/drawing/2014/main" id="{2EF3FE1F-F314-5D97-626B-E0793537C1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15EDDB-0EEA-FF35-063D-B0416FDDB111}"/>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2733836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AAA5F-9567-2BA7-D56A-A2D3810A02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442D74-B1F5-6C56-BB6F-7B51BBD427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0A6BC1-2AAD-6A67-D129-C442C8B699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0E5EA6-9A57-49F1-2A18-23BA849EE9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768943-9371-5294-B384-0C6CF43068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EEC902-C8B1-A673-63C4-68A0C1B66198}"/>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8" name="Footer Placeholder 7">
            <a:extLst>
              <a:ext uri="{FF2B5EF4-FFF2-40B4-BE49-F238E27FC236}">
                <a16:creationId xmlns:a16="http://schemas.microsoft.com/office/drawing/2014/main" id="{E7974838-DF6C-5C84-F9F0-34E52E80EB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8B67F3-B543-15D5-D8CB-F96CA28CD46D}"/>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365481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EC45-649D-46B6-4B3F-955D3DFFE0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73E3DA-47BF-97F3-0872-43E9F0229D9D}"/>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4" name="Footer Placeholder 3">
            <a:extLst>
              <a:ext uri="{FF2B5EF4-FFF2-40B4-BE49-F238E27FC236}">
                <a16:creationId xmlns:a16="http://schemas.microsoft.com/office/drawing/2014/main" id="{5896080D-B69B-E6CA-FE12-C1D1FC8371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2A9EA5-343D-A6AD-27A1-07BFDED1E353}"/>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443023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DCA45-3A3B-4C56-4A8C-A5377E535E19}"/>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3" name="Footer Placeholder 2">
            <a:extLst>
              <a:ext uri="{FF2B5EF4-FFF2-40B4-BE49-F238E27FC236}">
                <a16:creationId xmlns:a16="http://schemas.microsoft.com/office/drawing/2014/main" id="{5E6480B5-6CDC-F5D3-C8F5-8D43E89F3A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B5F63B-A57D-EA0D-C594-9C804BC6F992}"/>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4190816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6085-56F6-8437-B99B-C508766865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079FBC-4098-1936-77E5-6D192108E8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A0707A-A16D-D9A6-50EA-604CBED26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95831D-7A9E-98A1-3702-7167D132F8FC}"/>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6" name="Footer Placeholder 5">
            <a:extLst>
              <a:ext uri="{FF2B5EF4-FFF2-40B4-BE49-F238E27FC236}">
                <a16:creationId xmlns:a16="http://schemas.microsoft.com/office/drawing/2014/main" id="{AEDDB412-5009-CBB6-0CFF-18B21B0D3E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2F1C00-5A75-97B8-34AD-D9EB31D28DAA}"/>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110294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A218D-A3DB-4512-BFB6-111AB3467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29859E-457C-B848-0856-1B1BC1F358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E95CA6-30EE-649F-5017-770F869951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C2DDE-885F-482B-E814-043E35703DD2}"/>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6" name="Footer Placeholder 5">
            <a:extLst>
              <a:ext uri="{FF2B5EF4-FFF2-40B4-BE49-F238E27FC236}">
                <a16:creationId xmlns:a16="http://schemas.microsoft.com/office/drawing/2014/main" id="{2DE8779B-FDAA-226F-171C-3AACF06BCF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FB9450-8BE9-A95C-722A-3D89E46C3AB8}"/>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4219034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04F4-85AB-94BD-6F00-DA08D1313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75E66D-B16B-2AC7-58EB-AF5F172C14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F6D18-7E4B-D831-AC3B-A5690497FEC3}"/>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5" name="Footer Placeholder 4">
            <a:extLst>
              <a:ext uri="{FF2B5EF4-FFF2-40B4-BE49-F238E27FC236}">
                <a16:creationId xmlns:a16="http://schemas.microsoft.com/office/drawing/2014/main" id="{610E7F94-FA4C-244F-3CE3-62C476C0D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52633-E1D7-49D9-8F07-F33B23BC706B}"/>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3488064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6FD01-B9A6-EC93-BCD8-8BD4F3D36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BED86A-DF84-D55F-4232-1D9C2FEE75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C4619-9DFC-6545-038B-1E8CD5FD1758}"/>
              </a:ext>
            </a:extLst>
          </p:cNvPr>
          <p:cNvSpPr>
            <a:spLocks noGrp="1"/>
          </p:cNvSpPr>
          <p:nvPr>
            <p:ph type="dt" sz="half" idx="10"/>
          </p:nvPr>
        </p:nvSpPr>
        <p:spPr/>
        <p:txBody>
          <a:bodyPr/>
          <a:lstStyle/>
          <a:p>
            <a:fld id="{C881E724-48DF-435B-9F90-38CB2EC0F176}" type="datetimeFigureOut">
              <a:rPr lang="en-US" smtClean="0"/>
              <a:t>5/6/2026</a:t>
            </a:fld>
            <a:endParaRPr lang="en-US"/>
          </a:p>
        </p:txBody>
      </p:sp>
      <p:sp>
        <p:nvSpPr>
          <p:cNvPr id="5" name="Footer Placeholder 4">
            <a:extLst>
              <a:ext uri="{FF2B5EF4-FFF2-40B4-BE49-F238E27FC236}">
                <a16:creationId xmlns:a16="http://schemas.microsoft.com/office/drawing/2014/main" id="{1E0C7C84-534C-2AD2-6F8C-14331B61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65265-A3CC-2319-9BD2-F7FE4227FABE}"/>
              </a:ext>
            </a:extLst>
          </p:cNvPr>
          <p:cNvSpPr>
            <a:spLocks noGrp="1"/>
          </p:cNvSpPr>
          <p:nvPr>
            <p:ph type="sldNum" sz="quarter" idx="12"/>
          </p:nvPr>
        </p:nvSpPr>
        <p:spPr/>
        <p:txBody>
          <a:bodyPr/>
          <a:lstStyle/>
          <a:p>
            <a:fld id="{DDF12A0B-9CFA-4AFD-B049-4A102E1A1871}" type="slidenum">
              <a:rPr lang="en-US" smtClean="0"/>
              <a:t>‹#›</a:t>
            </a:fld>
            <a:endParaRPr lang="en-US"/>
          </a:p>
        </p:txBody>
      </p:sp>
    </p:spTree>
    <p:extLst>
      <p:ext uri="{BB962C8B-B14F-4D97-AF65-F5344CB8AC3E}">
        <p14:creationId xmlns:p14="http://schemas.microsoft.com/office/powerpoint/2010/main" val="3170989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714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337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657DAA-371F-4517-B2B4-C6E2E17E9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568FC0-7B7A-0F82-5394-0750DBD94B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509A14-7BBC-AAF3-B3B7-7A557FC596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81E724-48DF-435B-9F90-38CB2EC0F176}" type="datetimeFigureOut">
              <a:rPr lang="en-US" smtClean="0"/>
              <a:t>5/6/2026</a:t>
            </a:fld>
            <a:endParaRPr lang="en-US"/>
          </a:p>
        </p:txBody>
      </p:sp>
      <p:sp>
        <p:nvSpPr>
          <p:cNvPr id="5" name="Footer Placeholder 4">
            <a:extLst>
              <a:ext uri="{FF2B5EF4-FFF2-40B4-BE49-F238E27FC236}">
                <a16:creationId xmlns:a16="http://schemas.microsoft.com/office/drawing/2014/main" id="{C473B719-80D3-773C-DC87-A8237A91F2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D31351-FF06-12FE-C5C9-8ABFDE3376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F12A0B-9CFA-4AFD-B049-4A102E1A1871}" type="slidenum">
              <a:rPr lang="en-US" smtClean="0"/>
              <a:t>‹#›</a:t>
            </a:fld>
            <a:endParaRPr lang="en-US"/>
          </a:p>
        </p:txBody>
      </p:sp>
    </p:spTree>
    <p:extLst>
      <p:ext uri="{BB962C8B-B14F-4D97-AF65-F5344CB8AC3E}">
        <p14:creationId xmlns:p14="http://schemas.microsoft.com/office/powerpoint/2010/main" val="1364937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3135612"/>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02C39A"/>
          </a:solidFill>
          <a:ln w="12700">
            <a:solidFill>
              <a:srgbClr val="02C39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0" y="97536"/>
            <a:ext cx="670560" cy="6760464"/>
          </a:xfrm>
          <a:prstGeom prst="rect">
            <a:avLst/>
          </a:prstGeom>
          <a:solidFill>
            <a:srgbClr val="028090"/>
          </a:solidFill>
          <a:ln w="12700">
            <a:solidFill>
              <a:srgbClr val="028090"/>
            </a:solidFill>
            <a:prstDash val="solid"/>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914400" y="365760"/>
            <a:ext cx="10728960" cy="426720"/>
          </a:xfrm>
          <a:prstGeom prst="rect">
            <a:avLst/>
          </a:prstGeom>
          <a:noFill/>
          <a:ln/>
        </p:spPr>
        <p:txBody>
          <a:bodyPr wrap="square" rtlCol="0" anchor="ctr"/>
          <a:lstStyle/>
          <a:p>
            <a:pPr defTabSz="1219170"/>
            <a:r>
              <a:rPr lang="en-US" sz="1333" b="1" kern="0" spc="267" dirty="0">
                <a:solidFill>
                  <a:srgbClr val="CADCFC"/>
                </a:solidFill>
                <a:latin typeface="Calibri" panose="020F0502020204030204"/>
              </a:rPr>
              <a:t>NATIONAL UNIVERSITY OF COMPUTER AND EMERGING SCIENCES</a:t>
            </a:r>
            <a:endParaRPr lang="en-US" sz="1333" dirty="0">
              <a:solidFill>
                <a:prstClr val="black"/>
              </a:solidFill>
              <a:latin typeface="Calibri" panose="020F0502020204030204"/>
            </a:endParaRPr>
          </a:p>
        </p:txBody>
      </p:sp>
      <p:sp>
        <p:nvSpPr>
          <p:cNvPr id="5" name="Shape 3"/>
          <p:cNvSpPr/>
          <p:nvPr/>
        </p:nvSpPr>
        <p:spPr>
          <a:xfrm>
            <a:off x="914400" y="914400"/>
            <a:ext cx="1950720" cy="512064"/>
          </a:xfrm>
          <a:prstGeom prst="roundRect">
            <a:avLst>
              <a:gd name="adj" fmla="val 14286"/>
            </a:avLst>
          </a:prstGeom>
          <a:solidFill>
            <a:srgbClr val="02C39A"/>
          </a:solidFill>
          <a:ln w="12700">
            <a:solidFill>
              <a:srgbClr val="02C39A"/>
            </a:solidFill>
            <a:prstDash val="solid"/>
          </a:ln>
        </p:spPr>
        <p:txBody>
          <a:bodyPr/>
          <a:lstStyle/>
          <a:p>
            <a:pPr defTabSz="1219170"/>
            <a:endParaRPr lang="en-US" sz="2400">
              <a:solidFill>
                <a:prstClr val="black"/>
              </a:solidFill>
              <a:latin typeface="Calibri" panose="020F0502020204030204"/>
            </a:endParaRPr>
          </a:p>
        </p:txBody>
      </p:sp>
      <p:sp>
        <p:nvSpPr>
          <p:cNvPr id="6" name="Text 4"/>
          <p:cNvSpPr/>
          <p:nvPr/>
        </p:nvSpPr>
        <p:spPr>
          <a:xfrm>
            <a:off x="914400" y="914400"/>
            <a:ext cx="1950720" cy="512064"/>
          </a:xfrm>
          <a:prstGeom prst="rect">
            <a:avLst/>
          </a:prstGeom>
          <a:noFill/>
          <a:ln/>
        </p:spPr>
        <p:txBody>
          <a:bodyPr wrap="square" lIns="0" tIns="0" rIns="0" bIns="0" rtlCol="0" anchor="ctr"/>
          <a:lstStyle/>
          <a:p>
            <a:pPr algn="ctr" defTabSz="1219170"/>
            <a:r>
              <a:rPr lang="en-US" sz="1333" b="1" dirty="0">
                <a:solidFill>
                  <a:srgbClr val="1E2761"/>
                </a:solidFill>
                <a:latin typeface="Calibri" panose="020F0502020204030204"/>
              </a:rPr>
              <a:t>CS3005 — Data Mining</a:t>
            </a:r>
            <a:endParaRPr lang="en-US" sz="1333" dirty="0">
              <a:solidFill>
                <a:prstClr val="black"/>
              </a:solidFill>
              <a:latin typeface="Calibri" panose="020F0502020204030204"/>
            </a:endParaRPr>
          </a:p>
        </p:txBody>
      </p:sp>
      <p:sp>
        <p:nvSpPr>
          <p:cNvPr id="7" name="Text 5"/>
          <p:cNvSpPr/>
          <p:nvPr/>
        </p:nvSpPr>
        <p:spPr>
          <a:xfrm>
            <a:off x="914400" y="1584960"/>
            <a:ext cx="10972800" cy="1158240"/>
          </a:xfrm>
          <a:prstGeom prst="rect">
            <a:avLst/>
          </a:prstGeom>
          <a:noFill/>
          <a:ln/>
        </p:spPr>
        <p:txBody>
          <a:bodyPr wrap="square" rtlCol="0" anchor="ctr"/>
          <a:lstStyle/>
          <a:p>
            <a:pPr defTabSz="1219170"/>
            <a:r>
              <a:rPr lang="en-US" sz="7200" b="1" dirty="0">
                <a:solidFill>
                  <a:srgbClr val="FFFFFF"/>
                </a:solidFill>
                <a:latin typeface="Calibri" panose="020F0502020204030204"/>
              </a:rPr>
              <a:t>Smart Discount</a:t>
            </a:r>
            <a:endParaRPr lang="en-US" sz="7200" dirty="0">
              <a:solidFill>
                <a:prstClr val="black"/>
              </a:solidFill>
              <a:latin typeface="Calibri" panose="020F0502020204030204"/>
            </a:endParaRPr>
          </a:p>
        </p:txBody>
      </p:sp>
      <p:sp>
        <p:nvSpPr>
          <p:cNvPr id="8" name="Text 6"/>
          <p:cNvSpPr/>
          <p:nvPr/>
        </p:nvSpPr>
        <p:spPr>
          <a:xfrm>
            <a:off x="914400" y="2560320"/>
            <a:ext cx="10972800" cy="1158240"/>
          </a:xfrm>
          <a:prstGeom prst="rect">
            <a:avLst/>
          </a:prstGeom>
          <a:noFill/>
          <a:ln/>
        </p:spPr>
        <p:txBody>
          <a:bodyPr wrap="square" rtlCol="0" anchor="ctr"/>
          <a:lstStyle/>
          <a:p>
            <a:pPr defTabSz="1219170"/>
            <a:r>
              <a:rPr lang="en-US" sz="7200" b="1" dirty="0">
                <a:solidFill>
                  <a:srgbClr val="02C39A"/>
                </a:solidFill>
                <a:latin typeface="Calibri" panose="020F0502020204030204"/>
              </a:rPr>
              <a:t>Targeting System</a:t>
            </a:r>
            <a:endParaRPr lang="en-US" sz="7200" dirty="0">
              <a:solidFill>
                <a:prstClr val="black"/>
              </a:solidFill>
              <a:latin typeface="Calibri" panose="020F0502020204030204"/>
            </a:endParaRPr>
          </a:p>
        </p:txBody>
      </p:sp>
      <p:sp>
        <p:nvSpPr>
          <p:cNvPr id="9" name="Text 7"/>
          <p:cNvSpPr/>
          <p:nvPr/>
        </p:nvSpPr>
        <p:spPr>
          <a:xfrm>
            <a:off x="914400" y="3779520"/>
            <a:ext cx="9144000" cy="670560"/>
          </a:xfrm>
          <a:prstGeom prst="rect">
            <a:avLst/>
          </a:prstGeom>
          <a:noFill/>
          <a:ln/>
        </p:spPr>
        <p:txBody>
          <a:bodyPr wrap="square" rtlCol="0" anchor="ctr"/>
          <a:lstStyle/>
          <a:p>
            <a:pPr defTabSz="1219170"/>
            <a:r>
              <a:rPr lang="en-US" sz="1867" i="1" dirty="0">
                <a:solidFill>
                  <a:srgbClr val="CADCFC"/>
                </a:solidFill>
                <a:latin typeface="Calibri" panose="020F0502020204030204"/>
              </a:rPr>
              <a:t>A Data Mining Project for Customer Discount Sensitivity Analysis in E-Commerce</a:t>
            </a:r>
            <a:endParaRPr lang="en-US" sz="1867" dirty="0">
              <a:solidFill>
                <a:prstClr val="black"/>
              </a:solidFill>
              <a:latin typeface="Calibri" panose="020F0502020204030204"/>
            </a:endParaRPr>
          </a:p>
        </p:txBody>
      </p:sp>
      <p:sp>
        <p:nvSpPr>
          <p:cNvPr id="10" name="Shape 8"/>
          <p:cNvSpPr/>
          <p:nvPr/>
        </p:nvSpPr>
        <p:spPr>
          <a:xfrm>
            <a:off x="914400" y="4535424"/>
            <a:ext cx="7924800" cy="48768"/>
          </a:xfrm>
          <a:prstGeom prst="rect">
            <a:avLst/>
          </a:prstGeom>
          <a:solidFill>
            <a:srgbClr val="028090"/>
          </a:solidFill>
          <a:ln w="12700">
            <a:solidFill>
              <a:srgbClr val="028090"/>
            </a:solidFill>
            <a:prstDash val="solid"/>
          </a:ln>
        </p:spPr>
        <p:txBody>
          <a:bodyPr/>
          <a:lstStyle/>
          <a:p>
            <a:pPr defTabSz="1219170"/>
            <a:endParaRPr lang="en-US" sz="2400">
              <a:solidFill>
                <a:prstClr val="black"/>
              </a:solidFill>
              <a:latin typeface="Calibri" panose="020F0502020204030204"/>
            </a:endParaRPr>
          </a:p>
        </p:txBody>
      </p:sp>
      <p:sp>
        <p:nvSpPr>
          <p:cNvPr id="11" name="Text 9"/>
          <p:cNvSpPr/>
          <p:nvPr/>
        </p:nvSpPr>
        <p:spPr>
          <a:xfrm>
            <a:off x="914400" y="4693920"/>
            <a:ext cx="10972800" cy="548640"/>
          </a:xfrm>
          <a:prstGeom prst="rect">
            <a:avLst/>
          </a:prstGeom>
          <a:noFill/>
          <a:ln/>
        </p:spPr>
        <p:txBody>
          <a:bodyPr wrap="square" rtlCol="0" anchor="ctr"/>
          <a:lstStyle/>
          <a:p>
            <a:pPr defTabSz="1219170"/>
            <a:r>
              <a:rPr lang="en-US" sz="1733" b="1" dirty="0">
                <a:solidFill>
                  <a:srgbClr val="FFFFFF"/>
                </a:solidFill>
                <a:latin typeface="Calibri" panose="020F0502020204030204"/>
              </a:rPr>
              <a:t>Rabbi Awan</a:t>
            </a:r>
            <a:r>
              <a:rPr lang="en-US" sz="1733" dirty="0">
                <a:solidFill>
                  <a:srgbClr val="CADCFC"/>
                </a:solidFill>
                <a:latin typeface="Calibri" panose="020F0502020204030204"/>
              </a:rPr>
              <a:t>  23L-2554     </a:t>
            </a:r>
            <a:r>
              <a:rPr lang="en-US" sz="1733" b="1" dirty="0">
                <a:solidFill>
                  <a:srgbClr val="FFFFFF"/>
                </a:solidFill>
                <a:latin typeface="Calibri" panose="020F0502020204030204"/>
              </a:rPr>
              <a:t>Emad Rafique</a:t>
            </a:r>
            <a:r>
              <a:rPr lang="en-US" sz="1733" dirty="0">
                <a:solidFill>
                  <a:srgbClr val="CADCFC"/>
                </a:solidFill>
                <a:latin typeface="Calibri" panose="020F0502020204030204"/>
              </a:rPr>
              <a:t>  23L-2604     </a:t>
            </a:r>
            <a:r>
              <a:rPr lang="en-US" sz="1733" b="1" dirty="0">
                <a:solidFill>
                  <a:srgbClr val="FFFFFF"/>
                </a:solidFill>
                <a:latin typeface="Calibri" panose="020F0502020204030204"/>
              </a:rPr>
              <a:t>Usaid Chaudhry</a:t>
            </a:r>
            <a:r>
              <a:rPr lang="en-US" sz="1733" dirty="0">
                <a:solidFill>
                  <a:srgbClr val="CADCFC"/>
                </a:solidFill>
                <a:latin typeface="Calibri" panose="020F0502020204030204"/>
              </a:rPr>
              <a:t>  23L-2538</a:t>
            </a:r>
            <a:endParaRPr lang="en-US" sz="1733" dirty="0">
              <a:solidFill>
                <a:prstClr val="black"/>
              </a:solidFill>
              <a:latin typeface="Calibri" panose="020F0502020204030204"/>
            </a:endParaRPr>
          </a:p>
        </p:txBody>
      </p:sp>
      <p:sp>
        <p:nvSpPr>
          <p:cNvPr id="12" name="Text 10"/>
          <p:cNvSpPr/>
          <p:nvPr/>
        </p:nvSpPr>
        <p:spPr>
          <a:xfrm>
            <a:off x="914400" y="5486400"/>
            <a:ext cx="3657600" cy="365760"/>
          </a:xfrm>
          <a:prstGeom prst="rect">
            <a:avLst/>
          </a:prstGeom>
          <a:noFill/>
          <a:ln/>
        </p:spPr>
        <p:txBody>
          <a:bodyPr wrap="square" rtlCol="0" anchor="ctr"/>
          <a:lstStyle/>
          <a:p>
            <a:pPr defTabSz="1219170"/>
            <a:r>
              <a:rPr lang="en-US" sz="1600" dirty="0">
                <a:solidFill>
                  <a:srgbClr val="64748B"/>
                </a:solidFill>
                <a:latin typeface="Calibri" panose="020F0502020204030204"/>
              </a:rPr>
              <a:t>May 2026</a:t>
            </a:r>
            <a:endParaRPr lang="en-US" sz="1600" dirty="0">
              <a:solidFill>
                <a:prstClr val="black"/>
              </a:solidFill>
              <a:latin typeface="Calibri" panose="020F0502020204030204"/>
            </a:endParaRPr>
          </a:p>
        </p:txBody>
      </p:sp>
      <p:sp>
        <p:nvSpPr>
          <p:cNvPr id="13" name="Shape 11"/>
          <p:cNvSpPr/>
          <p:nvPr/>
        </p:nvSpPr>
        <p:spPr>
          <a:xfrm>
            <a:off x="0" y="6492240"/>
            <a:ext cx="12192000" cy="365760"/>
          </a:xfrm>
          <a:prstGeom prst="rect">
            <a:avLst/>
          </a:prstGeom>
          <a:solidFill>
            <a:srgbClr val="243380"/>
          </a:solidFill>
          <a:ln w="12700">
            <a:solidFill>
              <a:srgbClr val="243380"/>
            </a:solidFill>
            <a:prstDash val="solid"/>
          </a:ln>
        </p:spPr>
        <p:txBody>
          <a:bodyPr/>
          <a:lstStyle/>
          <a:p>
            <a:pPr defTabSz="1219170"/>
            <a:endParaRPr lang="en-US" sz="2400">
              <a:solidFill>
                <a:prstClr val="black"/>
              </a:solidFill>
              <a:latin typeface="Calibri" panose="020F0502020204030204"/>
            </a:endParaRPr>
          </a:p>
        </p:txBody>
      </p:sp>
      <p:sp>
        <p:nvSpPr>
          <p:cNvPr id="14" name="Text 12"/>
          <p:cNvSpPr/>
          <p:nvPr/>
        </p:nvSpPr>
        <p:spPr>
          <a:xfrm>
            <a:off x="0" y="6492240"/>
            <a:ext cx="12192000" cy="365760"/>
          </a:xfrm>
          <a:prstGeom prst="rect">
            <a:avLst/>
          </a:prstGeom>
          <a:noFill/>
          <a:ln/>
        </p:spPr>
        <p:txBody>
          <a:bodyPr wrap="square" lIns="0" tIns="0" rIns="0" bIns="0" rtlCol="0" anchor="ctr"/>
          <a:lstStyle/>
          <a:p>
            <a:pPr algn="ctr" defTabSz="1219170"/>
            <a:r>
              <a:rPr lang="en-US" sz="1200" dirty="0">
                <a:solidFill>
                  <a:srgbClr val="CADCFC"/>
                </a:solidFill>
                <a:latin typeface="Calibri" panose="020F0502020204030204"/>
              </a:rPr>
              <a:t>NUCES Data Mining Project  •  May 2026</a:t>
            </a:r>
            <a:endParaRPr lang="en-US" sz="1200"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609600" y="170688"/>
            <a:ext cx="10972800" cy="755904"/>
          </a:xfrm>
          <a:prstGeom prst="rect">
            <a:avLst/>
          </a:prstGeom>
          <a:noFill/>
          <a:ln/>
        </p:spPr>
        <p:txBody>
          <a:bodyPr wrap="square" rtlCol="0" anchor="ctr"/>
          <a:lstStyle/>
          <a:p>
            <a:r>
              <a:rPr lang="en-US" sz="4267" b="1" dirty="0">
                <a:solidFill>
                  <a:srgbClr val="1E2761"/>
                </a:solidFill>
              </a:rPr>
              <a:t>Affidavit</a:t>
            </a:r>
            <a:endParaRPr lang="en-US" sz="4267" dirty="0"/>
          </a:p>
        </p:txBody>
      </p:sp>
      <p:sp>
        <p:nvSpPr>
          <p:cNvPr id="4" name="Text 2"/>
          <p:cNvSpPr/>
          <p:nvPr/>
        </p:nvSpPr>
        <p:spPr>
          <a:xfrm>
            <a:off x="609600" y="886968"/>
            <a:ext cx="10972800" cy="365760"/>
          </a:xfrm>
          <a:prstGeom prst="rect">
            <a:avLst/>
          </a:prstGeom>
          <a:noFill/>
          <a:ln/>
        </p:spPr>
        <p:txBody>
          <a:bodyPr wrap="square" rtlCol="0" anchor="ctr"/>
          <a:lstStyle/>
          <a:p>
            <a:r>
              <a:rPr lang="en-US" sz="1867" i="1" dirty="0">
                <a:solidFill>
                  <a:srgbClr val="028090"/>
                </a:solidFill>
              </a:rPr>
              <a:t>Academic Integrity Declaration</a:t>
            </a:r>
            <a:endParaRPr lang="en-US" sz="1867" dirty="0"/>
          </a:p>
        </p:txBody>
      </p:sp>
      <p:sp>
        <p:nvSpPr>
          <p:cNvPr id="5" name="Shape 3"/>
          <p:cNvSpPr/>
          <p:nvPr/>
        </p:nvSpPr>
        <p:spPr>
          <a:xfrm>
            <a:off x="975360" y="1969008"/>
            <a:ext cx="10241280" cy="3962400"/>
          </a:xfrm>
          <a:prstGeom prst="rect">
            <a:avLst/>
          </a:prstGeom>
          <a:solidFill>
            <a:srgbClr val="FFFFFF"/>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sz="2400"/>
          </a:p>
        </p:txBody>
      </p:sp>
      <p:sp>
        <p:nvSpPr>
          <p:cNvPr id="6" name="Shape 4"/>
          <p:cNvSpPr/>
          <p:nvPr/>
        </p:nvSpPr>
        <p:spPr>
          <a:xfrm>
            <a:off x="975360" y="1438656"/>
            <a:ext cx="10241280" cy="609600"/>
          </a:xfrm>
          <a:prstGeom prst="rect">
            <a:avLst/>
          </a:prstGeom>
          <a:solidFill>
            <a:srgbClr val="1E2761"/>
          </a:solidFill>
          <a:ln w="12700">
            <a:solidFill>
              <a:srgbClr val="1E2761"/>
            </a:solidFill>
            <a:prstDash val="solid"/>
          </a:ln>
        </p:spPr>
        <p:txBody>
          <a:bodyPr/>
          <a:lstStyle/>
          <a:p>
            <a:endParaRPr lang="en-US" sz="2400"/>
          </a:p>
        </p:txBody>
      </p:sp>
      <p:sp>
        <p:nvSpPr>
          <p:cNvPr id="7" name="Text 5"/>
          <p:cNvSpPr/>
          <p:nvPr/>
        </p:nvSpPr>
        <p:spPr>
          <a:xfrm>
            <a:off x="975360" y="1438656"/>
            <a:ext cx="10241280" cy="609600"/>
          </a:xfrm>
          <a:prstGeom prst="rect">
            <a:avLst/>
          </a:prstGeom>
          <a:noFill/>
          <a:ln/>
        </p:spPr>
        <p:txBody>
          <a:bodyPr wrap="square" lIns="0" tIns="0" rIns="0" bIns="0" rtlCol="0" anchor="ctr"/>
          <a:lstStyle/>
          <a:p>
            <a:pPr algn="ctr"/>
            <a:r>
              <a:rPr lang="en-US" sz="1867" b="1" kern="0" spc="267" dirty="0">
                <a:solidFill>
                  <a:srgbClr val="FFFFFF"/>
                </a:solidFill>
              </a:rPr>
              <a:t>ACADEMIC INTEGRITY AFFIDAVIT</a:t>
            </a:r>
            <a:endParaRPr lang="en-US" sz="1867" dirty="0"/>
          </a:p>
        </p:txBody>
      </p:sp>
      <p:sp>
        <p:nvSpPr>
          <p:cNvPr id="8" name="Text 6"/>
          <p:cNvSpPr/>
          <p:nvPr/>
        </p:nvSpPr>
        <p:spPr>
          <a:xfrm>
            <a:off x="1219200" y="2255520"/>
            <a:ext cx="9753600" cy="3268643"/>
          </a:xfrm>
          <a:prstGeom prst="rect">
            <a:avLst/>
          </a:prstGeom>
          <a:noFill/>
          <a:ln/>
        </p:spPr>
        <p:txBody>
          <a:bodyPr wrap="square" rtlCol="0" anchor="ctr"/>
          <a:lstStyle/>
          <a:p>
            <a:pPr algn="just"/>
            <a:r>
              <a:rPr lang="en-US" sz="1600" dirty="0">
                <a:solidFill>
                  <a:srgbClr val="334155"/>
                </a:solidFill>
              </a:rPr>
              <a:t>We, as the undersigned members, hereby certify and solemnly pledge that this term project — Smart Discount Targeting System — has been developed solely for the purpose of fulfilling the requirements of CS3005: Data Mining at the National University of Computer and Emerging Sciences (NUCES), Lahore Campus.</a:t>
            </a:r>
            <a:endParaRPr lang="en-US" sz="1600" dirty="0"/>
          </a:p>
          <a:p>
            <a:pPr algn="just"/>
            <a:endParaRPr lang="en-US" sz="1600" dirty="0"/>
          </a:p>
          <a:p>
            <a:pPr algn="just"/>
            <a:r>
              <a:rPr lang="en-US" sz="1600" dirty="0">
                <a:solidFill>
                  <a:srgbClr val="334155"/>
                </a:solidFill>
              </a:rPr>
              <a:t>We further confirm that this project has not been submitted, presented, or used in any other course, subject, or academic program, either in whole or in part, at any time. All work presented herein is our own original contribution. Any external sources, libraries, datasets, or references have been appropriately acknowledged within the report.</a:t>
            </a:r>
            <a:endParaRPr lang="en-US" sz="1600" dirty="0"/>
          </a:p>
          <a:p>
            <a:pPr algn="just"/>
            <a:endParaRPr lang="en-US" sz="1600" dirty="0"/>
          </a:p>
          <a:p>
            <a:pPr algn="just"/>
            <a:r>
              <a:rPr lang="en-US" sz="1600" dirty="0">
                <a:solidFill>
                  <a:srgbClr val="334155"/>
                </a:solidFill>
              </a:rPr>
              <a:t>We understand that any violation of academic integrity policies may result in disciplinary action as per university regulations.</a:t>
            </a:r>
            <a:endParaRPr lang="en-US" sz="1600" dirty="0"/>
          </a:p>
        </p:txBody>
      </p:sp>
      <p:sp>
        <p:nvSpPr>
          <p:cNvPr id="18" name="Text 16"/>
          <p:cNvSpPr/>
          <p:nvPr/>
        </p:nvSpPr>
        <p:spPr>
          <a:xfrm>
            <a:off x="609600" y="6083808"/>
            <a:ext cx="10972800" cy="268224"/>
          </a:xfrm>
          <a:prstGeom prst="rect">
            <a:avLst/>
          </a:prstGeom>
          <a:noFill/>
          <a:ln/>
        </p:spPr>
        <p:txBody>
          <a:bodyPr wrap="square" rtlCol="0" anchor="ctr"/>
          <a:lstStyle/>
          <a:p>
            <a:pPr algn="ctr"/>
            <a:r>
              <a:rPr lang="en-US" sz="1467" dirty="0">
                <a:solidFill>
                  <a:srgbClr val="64748B"/>
                </a:solidFill>
              </a:rPr>
              <a:t>May 2026  •  NUCES — CS3005: Data Mining</a:t>
            </a:r>
            <a:endParaRPr lang="en-US" sz="1467" dirty="0"/>
          </a:p>
        </p:txBody>
      </p:sp>
      <p:sp>
        <p:nvSpPr>
          <p:cNvPr id="19" name="Shape 17"/>
          <p:cNvSpPr/>
          <p:nvPr/>
        </p:nvSpPr>
        <p:spPr>
          <a:xfrm>
            <a:off x="0" y="6492240"/>
            <a:ext cx="12192000" cy="365760"/>
          </a:xfrm>
          <a:prstGeom prst="rect">
            <a:avLst/>
          </a:prstGeom>
          <a:solidFill>
            <a:srgbClr val="1E2761"/>
          </a:solidFill>
          <a:ln w="12700">
            <a:solidFill>
              <a:srgbClr val="1E2761"/>
            </a:solidFill>
            <a:prstDash val="solid"/>
          </a:ln>
        </p:spPr>
        <p:txBody>
          <a:bodyPr/>
          <a:lstStyle/>
          <a:p>
            <a:endParaRPr lang="en-US" sz="2400"/>
          </a:p>
        </p:txBody>
      </p:sp>
      <p:sp>
        <p:nvSpPr>
          <p:cNvPr id="20" name="Text 18"/>
          <p:cNvSpPr/>
          <p:nvPr/>
        </p:nvSpPr>
        <p:spPr>
          <a:xfrm>
            <a:off x="0" y="6492240"/>
            <a:ext cx="12192000" cy="365760"/>
          </a:xfrm>
          <a:prstGeom prst="rect">
            <a:avLst/>
          </a:prstGeom>
          <a:noFill/>
          <a:ln/>
        </p:spPr>
        <p:txBody>
          <a:bodyPr wrap="square" lIns="0" tIns="0" rIns="0" bIns="0" rtlCol="0" anchor="ctr"/>
          <a:lstStyle/>
          <a:p>
            <a:pPr algn="ctr"/>
            <a:r>
              <a:rPr lang="en-US" sz="1200" dirty="0">
                <a:solidFill>
                  <a:srgbClr val="CADCFC"/>
                </a:solidFill>
              </a:rPr>
              <a:t>Smart Discount Targeting System  |  NUCES CS3005  |  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208</Words>
  <Application>Microsoft Office PowerPoint</Application>
  <PresentationFormat>Widescreen</PresentationFormat>
  <Paragraphs>20</Paragraphs>
  <Slides>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vt:i4>
      </vt:variant>
    </vt:vector>
  </HeadingPairs>
  <TitlesOfParts>
    <vt:vector size="8" baseType="lpstr">
      <vt:lpstr>Aptos</vt:lpstr>
      <vt:lpstr>Aptos Display</vt:lpstr>
      <vt:lpstr>Arial</vt:lpstr>
      <vt:lpstr>Calibri</vt:lpstr>
      <vt:lpstr>Office Theme</vt:lpstr>
      <vt:lpstr>1_Office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Rabbi Awan BS(DS)</dc:creator>
  <cp:lastModifiedBy>Rabbi Awan BS(DS)</cp:lastModifiedBy>
  <cp:revision>1</cp:revision>
  <dcterms:created xsi:type="dcterms:W3CDTF">2026-05-06T16:35:58Z</dcterms:created>
  <dcterms:modified xsi:type="dcterms:W3CDTF">2026-05-06T16:36:59Z</dcterms:modified>
</cp:coreProperties>
</file>